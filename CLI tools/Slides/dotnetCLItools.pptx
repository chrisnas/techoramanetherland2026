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9" r:id="rId1"/>
    <p:sldMasterId id="2147483691" r:id="rId2"/>
  </p:sldMasterIdLst>
  <p:notesMasterIdLst>
    <p:notesMasterId r:id="rId51"/>
  </p:notesMasterIdLst>
  <p:handoutMasterIdLst>
    <p:handoutMasterId r:id="rId52"/>
  </p:handoutMasterIdLst>
  <p:sldIdLst>
    <p:sldId id="377" r:id="rId3"/>
    <p:sldId id="369" r:id="rId4"/>
    <p:sldId id="447" r:id="rId5"/>
    <p:sldId id="471" r:id="rId6"/>
    <p:sldId id="472" r:id="rId7"/>
    <p:sldId id="478" r:id="rId8"/>
    <p:sldId id="480" r:id="rId9"/>
    <p:sldId id="473" r:id="rId10"/>
    <p:sldId id="481" r:id="rId11"/>
    <p:sldId id="484" r:id="rId12"/>
    <p:sldId id="482" r:id="rId13"/>
    <p:sldId id="502" r:id="rId14"/>
    <p:sldId id="516" r:id="rId15"/>
    <p:sldId id="517" r:id="rId16"/>
    <p:sldId id="518" r:id="rId17"/>
    <p:sldId id="504" r:id="rId18"/>
    <p:sldId id="520" r:id="rId19"/>
    <p:sldId id="519" r:id="rId20"/>
    <p:sldId id="522" r:id="rId21"/>
    <p:sldId id="521" r:id="rId22"/>
    <p:sldId id="503" r:id="rId23"/>
    <p:sldId id="505" r:id="rId24"/>
    <p:sldId id="506" r:id="rId25"/>
    <p:sldId id="507" r:id="rId26"/>
    <p:sldId id="508" r:id="rId27"/>
    <p:sldId id="513" r:id="rId28"/>
    <p:sldId id="485" r:id="rId29"/>
    <p:sldId id="515" r:id="rId30"/>
    <p:sldId id="487" r:id="rId31"/>
    <p:sldId id="488" r:id="rId32"/>
    <p:sldId id="489" r:id="rId33"/>
    <p:sldId id="497" r:id="rId34"/>
    <p:sldId id="494" r:id="rId35"/>
    <p:sldId id="491" r:id="rId36"/>
    <p:sldId id="496" r:id="rId37"/>
    <p:sldId id="493" r:id="rId38"/>
    <p:sldId id="495" r:id="rId39"/>
    <p:sldId id="492" r:id="rId40"/>
    <p:sldId id="498" r:id="rId41"/>
    <p:sldId id="514" r:id="rId42"/>
    <p:sldId id="490" r:id="rId43"/>
    <p:sldId id="486" r:id="rId44"/>
    <p:sldId id="499" r:id="rId45"/>
    <p:sldId id="510" r:id="rId46"/>
    <p:sldId id="511" r:id="rId47"/>
    <p:sldId id="512" r:id="rId48"/>
    <p:sldId id="509" r:id="rId49"/>
    <p:sldId id="452" r:id="rId50"/>
  </p:sldIdLst>
  <p:sldSz cx="12192000" cy="6858000"/>
  <p:notesSz cx="6858000" cy="9144000"/>
  <p:embeddedFontLst>
    <p:embeddedFont>
      <p:font typeface="Alegreya Black" panose="020B0604020202020204" charset="0"/>
      <p:bold r:id="rId53"/>
      <p:italic r:id="rId54"/>
      <p:boldItalic r:id="rId55"/>
    </p:embeddedFont>
    <p:embeddedFont>
      <p:font typeface="Alegreya Medium" panose="020B0604020202020204" charset="0"/>
      <p:regular r:id="rId56"/>
      <p:italic r:id="rId57"/>
    </p:embeddedFont>
    <p:embeddedFont>
      <p:font typeface="Consolas" panose="020B0609020204030204" pitchFamily="49" charset="0"/>
      <p:regular r:id="rId58"/>
      <p:bold r:id="rId59"/>
      <p:italic r:id="rId60"/>
      <p:boldItalic r:id="rId61"/>
    </p:embeddedFont>
    <p:embeddedFont>
      <p:font typeface="DS Wallau" panose="020B0604020202020204" charset="0"/>
      <p:regular r:id="rId62"/>
    </p:embeddedFont>
    <p:embeddedFont>
      <p:font typeface="Open Sans" panose="020B0606030504020204" pitchFamily="34" charset="0"/>
      <p:regular r:id="rId63"/>
      <p:bold r:id="rId64"/>
      <p:italic r:id="rId65"/>
      <p:boldItalic r:id="rId66"/>
    </p:embeddedFont>
    <p:embeddedFont>
      <p:font typeface="Roboto" panose="02000000000000000000" pitchFamily="2" charset="0"/>
      <p:regular r:id="rId67"/>
      <p:bold r:id="rId68"/>
      <p:italic r:id="rId69"/>
      <p:boldItalic r:id="rId70"/>
    </p:embeddedFont>
    <p:embeddedFont>
      <p:font typeface="Segoe UI" panose="020B0502040204020203" pitchFamily="34" charset="0"/>
      <p:regular r:id="rId71"/>
      <p:bold r:id="rId72"/>
      <p:italic r:id="rId73"/>
      <p:boldItalic r:id="rId74"/>
    </p:embeddedFont>
    <p:embeddedFont>
      <p:font typeface="Wingdings 3" panose="05040102010807070707" pitchFamily="18" charset="2"/>
      <p:regular r:id="rId7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Introduction" id="{6AA8BC52-1404-4B37-AEEF-770C348C1BF0}">
          <p14:sldIdLst>
            <p14:sldId id="377"/>
            <p14:sldId id="369"/>
            <p14:sldId id="447"/>
            <p14:sldId id="471"/>
          </p14:sldIdLst>
        </p14:section>
        <p14:section name="What is a .NET CLI tools?" id="{18351072-FD66-4586-8073-B46108D4401A}">
          <p14:sldIdLst>
            <p14:sldId id="472"/>
            <p14:sldId id="478"/>
            <p14:sldId id="480"/>
          </p14:sldIdLst>
        </p14:section>
        <p14:section name="Authoring your first .NET tool" id="{F567D80D-93EB-4C49-B93D-A7347FAE81CB}">
          <p14:sldIdLst>
            <p14:sldId id="473"/>
            <p14:sldId id="481"/>
            <p14:sldId id="484"/>
            <p14:sldId id="482"/>
          </p14:sldIdLst>
        </p14:section>
        <p14:section name=".NET internals" id="{C61DA000-A89A-4539-9224-AF418C866300}">
          <p14:sldIdLst>
            <p14:sldId id="502"/>
            <p14:sldId id="516"/>
            <p14:sldId id="517"/>
            <p14:sldId id="518"/>
            <p14:sldId id="504"/>
            <p14:sldId id="520"/>
            <p14:sldId id="519"/>
            <p14:sldId id="522"/>
            <p14:sldId id="521"/>
            <p14:sldId id="503"/>
            <p14:sldId id="505"/>
            <p14:sldId id="506"/>
            <p14:sldId id="507"/>
            <p14:sldId id="508"/>
            <p14:sldId id="513"/>
          </p14:sldIdLst>
        </p14:section>
        <p14:section name="AI &amp; CLI" id="{BAC82630-577E-4A45-9C78-E5541B39E435}">
          <p14:sldIdLst>
            <p14:sldId id="485"/>
            <p14:sldId id="515"/>
            <p14:sldId id="487"/>
            <p14:sldId id="488"/>
            <p14:sldId id="489"/>
            <p14:sldId id="497"/>
            <p14:sldId id="494"/>
            <p14:sldId id="491"/>
            <p14:sldId id="496"/>
            <p14:sldId id="493"/>
            <p14:sldId id="495"/>
            <p14:sldId id="492"/>
            <p14:sldId id="498"/>
            <p14:sldId id="514"/>
            <p14:sldId id="490"/>
            <p14:sldId id="486"/>
            <p14:sldId id="499"/>
            <p14:sldId id="510"/>
            <p14:sldId id="511"/>
            <p14:sldId id="512"/>
            <p14:sldId id="509"/>
          </p14:sldIdLst>
        </p14:section>
        <p14:section name="Conclusion" id="{C72A4FD0-FD46-46B3-81FC-F10E2CE58D92}">
          <p14:sldIdLst>
            <p14:sldId id="452"/>
          </p14:sldIdLst>
        </p14:section>
      </p14:sectionLst>
    </p:ex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CEB4036-E068-49FF-90CB-9F51F9A7A9DA}">
  <a:tblStyle styleId="{DCEB4036-E068-49FF-90CB-9F51F9A7A9D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C5903A8A-4631-4A15-9A3A-1629FCADFC7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EA215D3-60E4-4A5B-9D1A-B26946DF7701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09" autoAdjust="0"/>
    <p:restoredTop sz="83691" autoAdjust="0"/>
  </p:normalViewPr>
  <p:slideViewPr>
    <p:cSldViewPr snapToGrid="0">
      <p:cViewPr>
        <p:scale>
          <a:sx n="75" d="100"/>
          <a:sy n="75" d="100"/>
        </p:scale>
        <p:origin x="1984" y="880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2" d="100"/>
          <a:sy n="102" d="100"/>
        </p:scale>
        <p:origin x="3520" y="8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font" Target="fonts/font11.fntdata"/><Relationship Id="rId68" Type="http://schemas.openxmlformats.org/officeDocument/2006/relationships/font" Target="fonts/font16.fntdata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font" Target="fonts/font1.fntdata"/><Relationship Id="rId58" Type="http://schemas.openxmlformats.org/officeDocument/2006/relationships/font" Target="fonts/font6.fntdata"/><Relationship Id="rId66" Type="http://schemas.openxmlformats.org/officeDocument/2006/relationships/font" Target="fonts/font14.fntdata"/><Relationship Id="rId74" Type="http://schemas.openxmlformats.org/officeDocument/2006/relationships/font" Target="fonts/font22.fntdata"/><Relationship Id="rId79" Type="http://schemas.openxmlformats.org/officeDocument/2006/relationships/tableStyles" Target="tableStyles.xml"/><Relationship Id="rId5" Type="http://schemas.openxmlformats.org/officeDocument/2006/relationships/slide" Target="slides/slide3.xml"/><Relationship Id="rId61" Type="http://schemas.openxmlformats.org/officeDocument/2006/relationships/font" Target="fonts/font9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font" Target="fonts/font4.fntdata"/><Relationship Id="rId64" Type="http://schemas.openxmlformats.org/officeDocument/2006/relationships/font" Target="fonts/font12.fntdata"/><Relationship Id="rId69" Type="http://schemas.openxmlformats.org/officeDocument/2006/relationships/font" Target="fonts/font17.fntdata"/><Relationship Id="rId77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notesMaster" Target="notesMasters/notesMaster1.xml"/><Relationship Id="rId72" Type="http://schemas.openxmlformats.org/officeDocument/2006/relationships/font" Target="fonts/font20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font" Target="fonts/font7.fntdata"/><Relationship Id="rId67" Type="http://schemas.openxmlformats.org/officeDocument/2006/relationships/font" Target="fonts/font15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font" Target="fonts/font2.fntdata"/><Relationship Id="rId62" Type="http://schemas.openxmlformats.org/officeDocument/2006/relationships/font" Target="fonts/font10.fntdata"/><Relationship Id="rId70" Type="http://schemas.openxmlformats.org/officeDocument/2006/relationships/font" Target="fonts/font18.fntdata"/><Relationship Id="rId75" Type="http://schemas.openxmlformats.org/officeDocument/2006/relationships/font" Target="fonts/font2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font" Target="fonts/font5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handoutMaster" Target="handoutMasters/handoutMaster1.xml"/><Relationship Id="rId60" Type="http://schemas.openxmlformats.org/officeDocument/2006/relationships/font" Target="fonts/font8.fntdata"/><Relationship Id="rId65" Type="http://schemas.openxmlformats.org/officeDocument/2006/relationships/font" Target="fonts/font13.fntdata"/><Relationship Id="rId73" Type="http://schemas.openxmlformats.org/officeDocument/2006/relationships/font" Target="fonts/font21.fntdata"/><Relationship Id="rId78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font" Target="fonts/font3.fntdata"/><Relationship Id="rId76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font" Target="fonts/font19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20F42B0-3AD7-5A2A-A349-46216F3F0A0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D90A9F-FC02-E136-EB1F-FF29E449CCE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A25B95-6418-45ED-97B8-00B6E684EB6A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460FCC-7829-3F7F-25A9-14CAEFBEFD8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717595-D185-41DE-E042-5024ACAA73D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294013-DD52-4E9F-9F3F-708433BB5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826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6">
          <a:extLst>
            <a:ext uri="{FF2B5EF4-FFF2-40B4-BE49-F238E27FC236}">
              <a16:creationId xmlns:a16="http://schemas.microsoft.com/office/drawing/2014/main" id="{85D8019E-F148-0C5E-CA38-748AC8FAE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7" name="Google Shape;3247;p166:notes">
            <a:extLst>
              <a:ext uri="{FF2B5EF4-FFF2-40B4-BE49-F238E27FC236}">
                <a16:creationId xmlns:a16="http://schemas.microsoft.com/office/drawing/2014/main" id="{D7D035C0-846F-826E-C949-030531522F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SETUP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Tx/>
              <a:buChar char="-"/>
            </a:pPr>
            <a:r>
              <a:rPr lang="fr-FR" dirty="0"/>
              <a:t>Open prompt in </a:t>
            </a:r>
            <a:r>
              <a:rPr lang="fr-FR" b="1" dirty="0"/>
              <a:t>C:\Conferences\2026_CLItools\dumps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  <a:tabLst/>
              <a:defRPr/>
            </a:pPr>
            <a:r>
              <a:rPr lang="fr-FR" dirty="0"/>
              <a:t>Open prompt in 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C:\Conferences\2026_CLItools\Code\GuidGen</a:t>
            </a:r>
            <a:endParaRPr lang="fr-FR" dirty="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Tx/>
              <a:buChar char="-"/>
            </a:pPr>
            <a:r>
              <a:rPr lang="fr-FR" dirty="0"/>
              <a:t>Open Windows explorer in C:\Users\Christophe Nasarre\.</a:t>
            </a:r>
            <a:r>
              <a:rPr lang="fr-FR" dirty="0" err="1"/>
              <a:t>nuget</a:t>
            </a:r>
            <a:r>
              <a:rPr lang="fr-FR" dirty="0"/>
              <a:t>\packages for </a:t>
            </a:r>
            <a:r>
              <a:rPr lang="fr-FR" dirty="0" err="1"/>
              <a:t>dnx</a:t>
            </a:r>
            <a:endParaRPr lang="fr-FR" dirty="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Tx/>
              <a:buChar char="-"/>
            </a:pPr>
            <a:r>
              <a:rPr lang="fr-FR" dirty="0"/>
              <a:t>Open Process Explorer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Tx/>
              <a:buChar char="-"/>
            </a:pPr>
            <a:r>
              <a:rPr lang="fr-FR" dirty="0"/>
              <a:t>Open VS 2026</a:t>
            </a:r>
          </a:p>
          <a:p>
            <a:pPr marL="628650" lvl="1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Tx/>
              <a:buChar char="-"/>
            </a:pPr>
            <a:r>
              <a:rPr lang="fr-FR" dirty="0" err="1"/>
              <a:t>load</a:t>
            </a:r>
            <a:r>
              <a:rPr lang="fr-FR" dirty="0"/>
              <a:t> C:\github\chrisnas\BucharestSoftwareArchitectureSummit2026\Code\CLITools.slnx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  <a:tabLst/>
              <a:defRPr/>
            </a:pPr>
            <a:r>
              <a:rPr lang="fr-FR" b="0" dirty="0"/>
              <a:t>Open VS 2022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  <a:tabLst/>
              <a:defRPr/>
            </a:pPr>
            <a:r>
              <a:rPr lang="fr-FR" b="0" dirty="0" err="1"/>
              <a:t>load</a:t>
            </a:r>
            <a:r>
              <a:rPr lang="fr-FR" b="0" dirty="0"/>
              <a:t> C:\github\chrisnas\DebuggingExtensions\src\DebuggingExtensions.sln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  <a:tabLst/>
              <a:defRPr/>
            </a:pPr>
            <a:r>
              <a:rPr lang="fr-FR" b="0" dirty="0"/>
              <a:t>Open </a:t>
            </a:r>
            <a:r>
              <a:rPr lang="fr-FR" b="1" dirty="0" err="1"/>
              <a:t>DuplicatedStringsTool.cs</a:t>
            </a:r>
            <a:endParaRPr lang="fr-FR" b="1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  <a:tabLst/>
              <a:defRPr/>
            </a:pPr>
            <a:r>
              <a:rPr lang="fr-FR" b="0" dirty="0"/>
              <a:t>Open</a:t>
            </a:r>
            <a:r>
              <a:rPr lang="fr-FR" b="1" dirty="0"/>
              <a:t> </a:t>
            </a:r>
            <a:r>
              <a:rPr lang="fr-FR" b="1" dirty="0" err="1"/>
              <a:t>Program.cs</a:t>
            </a:r>
            <a:endParaRPr lang="fr-FR" b="0" dirty="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Tx/>
              <a:buChar char="-"/>
            </a:pPr>
            <a:r>
              <a:rPr lang="fr-FR" dirty="0"/>
              <a:t>Open VS 2022</a:t>
            </a:r>
          </a:p>
          <a:p>
            <a:pPr marL="628650" lvl="1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Tx/>
              <a:buChar char="-"/>
            </a:pPr>
            <a:r>
              <a:rPr lang="fr-FR" dirty="0" err="1"/>
              <a:t>Load</a:t>
            </a:r>
            <a:r>
              <a:rPr lang="fr-FR" dirty="0"/>
              <a:t> C:\github\chrisnas\GCStats\GCStats\GCStats.sln</a:t>
            </a:r>
          </a:p>
          <a:p>
            <a:pPr marL="628650" lvl="1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Tx/>
              <a:buChar char="-"/>
            </a:pPr>
            <a:r>
              <a:rPr lang="fr-FR" dirty="0"/>
              <a:t>Open </a:t>
            </a:r>
            <a:r>
              <a:rPr lang="fr-FR" dirty="0" err="1"/>
              <a:t>dotnet-fullgc</a:t>
            </a:r>
            <a:r>
              <a:rPr lang="fr-FR" dirty="0"/>
              <a:t>\</a:t>
            </a:r>
            <a:r>
              <a:rPr lang="fr-FR" dirty="0" err="1"/>
              <a:t>Program.cs</a:t>
            </a:r>
            <a:endParaRPr lang="fr-FR" dirty="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Tx/>
              <a:buChar char="-"/>
            </a:pPr>
            <a:r>
              <a:rPr lang="fr-FR" dirty="0"/>
              <a:t>Open 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https://www.nuget.org/ 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Tx/>
              <a:buChar char="-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C:\Users\Christophe Nasarre\.cursor\skills\dotnet-memory-analysis\SKILL.md</a:t>
            </a:r>
          </a:p>
          <a:p>
            <a:endParaRPr lang="en-US" dirty="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Tx/>
              <a:buChar char="-"/>
            </a:pPr>
            <a:endParaRPr dirty="0"/>
          </a:p>
        </p:txBody>
      </p:sp>
      <p:sp>
        <p:nvSpPr>
          <p:cNvPr id="3248" name="Google Shape;3248;p166:notes">
            <a:extLst>
              <a:ext uri="{FF2B5EF4-FFF2-40B4-BE49-F238E27FC236}">
                <a16:creationId xmlns:a16="http://schemas.microsoft.com/office/drawing/2014/main" id="{5DF57FB7-378F-FE3F-CBDA-A4EC9911EE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9528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14AAB182-21F6-99AA-6546-D44EB13B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>
            <a:extLst>
              <a:ext uri="{FF2B5EF4-FFF2-40B4-BE49-F238E27FC236}">
                <a16:creationId xmlns:a16="http://schemas.microsoft.com/office/drawing/2014/main" id="{DF66EA5D-9520-40FD-8309-9B2B88697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fr-FR" dirty="0"/>
          </a:p>
        </p:txBody>
      </p:sp>
      <p:sp>
        <p:nvSpPr>
          <p:cNvPr id="371" name="Google Shape;371;p8:notes">
            <a:extLst>
              <a:ext uri="{FF2B5EF4-FFF2-40B4-BE49-F238E27FC236}">
                <a16:creationId xmlns:a16="http://schemas.microsoft.com/office/drawing/2014/main" id="{E3237A18-7E2B-CB06-341B-F12601DCE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48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14AAB182-21F6-99AA-6546-D44EB13B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>
            <a:extLst>
              <a:ext uri="{FF2B5EF4-FFF2-40B4-BE49-F238E27FC236}">
                <a16:creationId xmlns:a16="http://schemas.microsoft.com/office/drawing/2014/main" id="{DF66EA5D-9520-40FD-8309-9B2B88697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8:notes">
            <a:extLst>
              <a:ext uri="{FF2B5EF4-FFF2-40B4-BE49-F238E27FC236}">
                <a16:creationId xmlns:a16="http://schemas.microsoft.com/office/drawing/2014/main" id="{E3237A18-7E2B-CB06-341B-F12601DCE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6300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14AAB182-21F6-99AA-6546-D44EB13B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>
            <a:extLst>
              <a:ext uri="{FF2B5EF4-FFF2-40B4-BE49-F238E27FC236}">
                <a16:creationId xmlns:a16="http://schemas.microsoft.com/office/drawing/2014/main" id="{DF66EA5D-9520-40FD-8309-9B2B88697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71" name="Google Shape;371;p8:notes">
            <a:extLst>
              <a:ext uri="{FF2B5EF4-FFF2-40B4-BE49-F238E27FC236}">
                <a16:creationId xmlns:a16="http://schemas.microsoft.com/office/drawing/2014/main" id="{E3237A18-7E2B-CB06-341B-F12601DCE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8972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14AAB182-21F6-99AA-6546-D44EB13B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>
            <a:extLst>
              <a:ext uri="{FF2B5EF4-FFF2-40B4-BE49-F238E27FC236}">
                <a16:creationId xmlns:a16="http://schemas.microsoft.com/office/drawing/2014/main" id="{DF66EA5D-9520-40FD-8309-9B2B88697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0">
              <a:buFont typeface="Wingdings" panose="05000000000000000000" pitchFamily="2" charset="2"/>
              <a:buNone/>
            </a:pP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8:notes">
            <a:extLst>
              <a:ext uri="{FF2B5EF4-FFF2-40B4-BE49-F238E27FC236}">
                <a16:creationId xmlns:a16="http://schemas.microsoft.com/office/drawing/2014/main" id="{E3237A18-7E2B-CB06-341B-F12601DCE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5314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14AAB182-21F6-99AA-6546-D44EB13B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>
            <a:extLst>
              <a:ext uri="{FF2B5EF4-FFF2-40B4-BE49-F238E27FC236}">
                <a16:creationId xmlns:a16="http://schemas.microsoft.com/office/drawing/2014/main" id="{DF66EA5D-9520-40FD-8309-9B2B88697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71" name="Google Shape;371;p8:notes">
            <a:extLst>
              <a:ext uri="{FF2B5EF4-FFF2-40B4-BE49-F238E27FC236}">
                <a16:creationId xmlns:a16="http://schemas.microsoft.com/office/drawing/2014/main" id="{E3237A18-7E2B-CB06-341B-F12601DCE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8946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14AAB182-21F6-99AA-6546-D44EB13B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>
            <a:extLst>
              <a:ext uri="{FF2B5EF4-FFF2-40B4-BE49-F238E27FC236}">
                <a16:creationId xmlns:a16="http://schemas.microsoft.com/office/drawing/2014/main" id="{DF66EA5D-9520-40FD-8309-9B2B88697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71" name="Google Shape;371;p8:notes">
            <a:extLst>
              <a:ext uri="{FF2B5EF4-FFF2-40B4-BE49-F238E27FC236}">
                <a16:creationId xmlns:a16="http://schemas.microsoft.com/office/drawing/2014/main" id="{E3237A18-7E2B-CB06-341B-F12601DCE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6015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14AAB182-21F6-99AA-6546-D44EB13B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>
            <a:extLst>
              <a:ext uri="{FF2B5EF4-FFF2-40B4-BE49-F238E27FC236}">
                <a16:creationId xmlns:a16="http://schemas.microsoft.com/office/drawing/2014/main" id="{DF66EA5D-9520-40FD-8309-9B2B88697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71" name="Google Shape;371;p8:notes">
            <a:extLst>
              <a:ext uri="{FF2B5EF4-FFF2-40B4-BE49-F238E27FC236}">
                <a16:creationId xmlns:a16="http://schemas.microsoft.com/office/drawing/2014/main" id="{E3237A18-7E2B-CB06-341B-F12601DCE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7427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14AAB182-21F6-99AA-6546-D44EB13B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>
            <a:extLst>
              <a:ext uri="{FF2B5EF4-FFF2-40B4-BE49-F238E27FC236}">
                <a16:creationId xmlns:a16="http://schemas.microsoft.com/office/drawing/2014/main" id="{DF66EA5D-9520-40FD-8309-9B2B88697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0">
              <a:buFontTx/>
              <a:buNone/>
            </a:pPr>
            <a:endParaRPr lang="en-US" b="0" dirty="0"/>
          </a:p>
        </p:txBody>
      </p:sp>
      <p:sp>
        <p:nvSpPr>
          <p:cNvPr id="371" name="Google Shape;371;p8:notes">
            <a:extLst>
              <a:ext uri="{FF2B5EF4-FFF2-40B4-BE49-F238E27FC236}">
                <a16:creationId xmlns:a16="http://schemas.microsoft.com/office/drawing/2014/main" id="{E3237A18-7E2B-CB06-341B-F12601DCE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6688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14AAB182-21F6-99AA-6546-D44EB13B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>
            <a:extLst>
              <a:ext uri="{FF2B5EF4-FFF2-40B4-BE49-F238E27FC236}">
                <a16:creationId xmlns:a16="http://schemas.microsoft.com/office/drawing/2014/main" id="{DF66EA5D-9520-40FD-8309-9B2B88697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0">
              <a:buFontTx/>
              <a:buNone/>
            </a:pPr>
            <a:endParaRPr lang="en-US" b="0" dirty="0"/>
          </a:p>
        </p:txBody>
      </p:sp>
      <p:sp>
        <p:nvSpPr>
          <p:cNvPr id="371" name="Google Shape;371;p8:notes">
            <a:extLst>
              <a:ext uri="{FF2B5EF4-FFF2-40B4-BE49-F238E27FC236}">
                <a16:creationId xmlns:a16="http://schemas.microsoft.com/office/drawing/2014/main" id="{E3237A18-7E2B-CB06-341B-F12601DCE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362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14AAB182-21F6-99AA-6546-D44EB13B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>
            <a:extLst>
              <a:ext uri="{FF2B5EF4-FFF2-40B4-BE49-F238E27FC236}">
                <a16:creationId xmlns:a16="http://schemas.microsoft.com/office/drawing/2014/main" id="{DF66EA5D-9520-40FD-8309-9B2B88697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0">
              <a:buFontTx/>
              <a:buNone/>
            </a:pPr>
            <a:endParaRPr lang="en-US" b="0" dirty="0"/>
          </a:p>
        </p:txBody>
      </p:sp>
      <p:sp>
        <p:nvSpPr>
          <p:cNvPr id="371" name="Google Shape;371;p8:notes">
            <a:extLst>
              <a:ext uri="{FF2B5EF4-FFF2-40B4-BE49-F238E27FC236}">
                <a16:creationId xmlns:a16="http://schemas.microsoft.com/office/drawing/2014/main" id="{E3237A18-7E2B-CB06-341B-F12601DCE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1128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14AAB182-21F6-99AA-6546-D44EB13B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>
            <a:extLst>
              <a:ext uri="{FF2B5EF4-FFF2-40B4-BE49-F238E27FC236}">
                <a16:creationId xmlns:a16="http://schemas.microsoft.com/office/drawing/2014/main" id="{DF66EA5D-9520-40FD-8309-9B2B88697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0">
              <a:buFontTx/>
              <a:buNone/>
            </a:pPr>
            <a:endParaRPr lang="en-US" b="0" dirty="0"/>
          </a:p>
        </p:txBody>
      </p:sp>
      <p:sp>
        <p:nvSpPr>
          <p:cNvPr id="371" name="Google Shape;371;p8:notes">
            <a:extLst>
              <a:ext uri="{FF2B5EF4-FFF2-40B4-BE49-F238E27FC236}">
                <a16:creationId xmlns:a16="http://schemas.microsoft.com/office/drawing/2014/main" id="{E3237A18-7E2B-CB06-341B-F12601DCE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2440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14AAB182-21F6-99AA-6546-D44EB13B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>
            <a:extLst>
              <a:ext uri="{FF2B5EF4-FFF2-40B4-BE49-F238E27FC236}">
                <a16:creationId xmlns:a16="http://schemas.microsoft.com/office/drawing/2014/main" id="{DF66EA5D-9520-40FD-8309-9B2B88697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0">
              <a:buFontTx/>
              <a:buNone/>
            </a:pPr>
            <a:endParaRPr lang="en-US" b="0" dirty="0"/>
          </a:p>
        </p:txBody>
      </p:sp>
      <p:sp>
        <p:nvSpPr>
          <p:cNvPr id="371" name="Google Shape;371;p8:notes">
            <a:extLst>
              <a:ext uri="{FF2B5EF4-FFF2-40B4-BE49-F238E27FC236}">
                <a16:creationId xmlns:a16="http://schemas.microsoft.com/office/drawing/2014/main" id="{E3237A18-7E2B-CB06-341B-F12601DCE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3551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14AAB182-21F6-99AA-6546-D44EB13B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>
            <a:extLst>
              <a:ext uri="{FF2B5EF4-FFF2-40B4-BE49-F238E27FC236}">
                <a16:creationId xmlns:a16="http://schemas.microsoft.com/office/drawing/2014/main" id="{DF66EA5D-9520-40FD-8309-9B2B88697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0">
              <a:buFontTx/>
              <a:buNone/>
            </a:pPr>
            <a:endParaRPr lang="en-US" b="0" dirty="0"/>
          </a:p>
        </p:txBody>
      </p:sp>
      <p:sp>
        <p:nvSpPr>
          <p:cNvPr id="371" name="Google Shape;371;p8:notes">
            <a:extLst>
              <a:ext uri="{FF2B5EF4-FFF2-40B4-BE49-F238E27FC236}">
                <a16:creationId xmlns:a16="http://schemas.microsoft.com/office/drawing/2014/main" id="{E3237A18-7E2B-CB06-341B-F12601DCE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3809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14AAB182-21F6-99AA-6546-D44EB13B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>
            <a:extLst>
              <a:ext uri="{FF2B5EF4-FFF2-40B4-BE49-F238E27FC236}">
                <a16:creationId xmlns:a16="http://schemas.microsoft.com/office/drawing/2014/main" id="{DF66EA5D-9520-40FD-8309-9B2B88697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0">
              <a:buFontTx/>
              <a:buNone/>
            </a:pPr>
            <a:endParaRPr lang="en-US" b="0" dirty="0"/>
          </a:p>
        </p:txBody>
      </p:sp>
      <p:sp>
        <p:nvSpPr>
          <p:cNvPr id="371" name="Google Shape;371;p8:notes">
            <a:extLst>
              <a:ext uri="{FF2B5EF4-FFF2-40B4-BE49-F238E27FC236}">
                <a16:creationId xmlns:a16="http://schemas.microsoft.com/office/drawing/2014/main" id="{E3237A18-7E2B-CB06-341B-F12601DCE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3263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14AAB182-21F6-99AA-6546-D44EB13B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>
            <a:extLst>
              <a:ext uri="{FF2B5EF4-FFF2-40B4-BE49-F238E27FC236}">
                <a16:creationId xmlns:a16="http://schemas.microsoft.com/office/drawing/2014/main" id="{DF66EA5D-9520-40FD-8309-9B2B88697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0">
              <a:buFontTx/>
              <a:buNone/>
            </a:pPr>
            <a:endParaRPr lang="en-US" b="0" dirty="0"/>
          </a:p>
        </p:txBody>
      </p:sp>
      <p:sp>
        <p:nvSpPr>
          <p:cNvPr id="371" name="Google Shape;371;p8:notes">
            <a:extLst>
              <a:ext uri="{FF2B5EF4-FFF2-40B4-BE49-F238E27FC236}">
                <a16:creationId xmlns:a16="http://schemas.microsoft.com/office/drawing/2014/main" id="{E3237A18-7E2B-CB06-341B-F12601DCE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6684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14AAB182-21F6-99AA-6546-D44EB13B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>
            <a:extLst>
              <a:ext uri="{FF2B5EF4-FFF2-40B4-BE49-F238E27FC236}">
                <a16:creationId xmlns:a16="http://schemas.microsoft.com/office/drawing/2014/main" id="{DF66EA5D-9520-40FD-8309-9B2B88697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0">
              <a:buFontTx/>
              <a:buNone/>
            </a:pPr>
            <a:endParaRPr lang="en-US" b="0" dirty="0"/>
          </a:p>
        </p:txBody>
      </p:sp>
      <p:sp>
        <p:nvSpPr>
          <p:cNvPr id="371" name="Google Shape;371;p8:notes">
            <a:extLst>
              <a:ext uri="{FF2B5EF4-FFF2-40B4-BE49-F238E27FC236}">
                <a16:creationId xmlns:a16="http://schemas.microsoft.com/office/drawing/2014/main" id="{E3237A18-7E2B-CB06-341B-F12601DCE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27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14AAB182-21F6-99AA-6546-D44EB13B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>
            <a:extLst>
              <a:ext uri="{FF2B5EF4-FFF2-40B4-BE49-F238E27FC236}">
                <a16:creationId xmlns:a16="http://schemas.microsoft.com/office/drawing/2014/main" id="{DF66EA5D-9520-40FD-8309-9B2B88697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0">
              <a:buFontTx/>
              <a:buNone/>
            </a:pPr>
            <a:endParaRPr lang="en-US" b="0" dirty="0"/>
          </a:p>
        </p:txBody>
      </p:sp>
      <p:sp>
        <p:nvSpPr>
          <p:cNvPr id="371" name="Google Shape;371;p8:notes">
            <a:extLst>
              <a:ext uri="{FF2B5EF4-FFF2-40B4-BE49-F238E27FC236}">
                <a16:creationId xmlns:a16="http://schemas.microsoft.com/office/drawing/2014/main" id="{E3237A18-7E2B-CB06-341B-F12601DCE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8886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14AAB182-21F6-99AA-6546-D44EB13B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>
            <a:extLst>
              <a:ext uri="{FF2B5EF4-FFF2-40B4-BE49-F238E27FC236}">
                <a16:creationId xmlns:a16="http://schemas.microsoft.com/office/drawing/2014/main" id="{DF66EA5D-9520-40FD-8309-9B2B88697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00050" indent="-171450">
              <a:buFontTx/>
              <a:buChar char="-"/>
            </a:pPr>
            <a:endParaRPr lang="en-US" b="0" dirty="0"/>
          </a:p>
        </p:txBody>
      </p:sp>
      <p:sp>
        <p:nvSpPr>
          <p:cNvPr id="371" name="Google Shape;371;p8:notes">
            <a:extLst>
              <a:ext uri="{FF2B5EF4-FFF2-40B4-BE49-F238E27FC236}">
                <a16:creationId xmlns:a16="http://schemas.microsoft.com/office/drawing/2014/main" id="{E3237A18-7E2B-CB06-341B-F12601DCE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0235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14AAB182-21F6-99AA-6546-D44EB13B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>
            <a:extLst>
              <a:ext uri="{FF2B5EF4-FFF2-40B4-BE49-F238E27FC236}">
                <a16:creationId xmlns:a16="http://schemas.microsoft.com/office/drawing/2014/main" id="{DF66EA5D-9520-40FD-8309-9B2B88697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0">
              <a:buFontTx/>
              <a:buNone/>
            </a:pPr>
            <a:endParaRPr lang="en-US" b="0" dirty="0"/>
          </a:p>
        </p:txBody>
      </p:sp>
      <p:sp>
        <p:nvSpPr>
          <p:cNvPr id="371" name="Google Shape;371;p8:notes">
            <a:extLst>
              <a:ext uri="{FF2B5EF4-FFF2-40B4-BE49-F238E27FC236}">
                <a16:creationId xmlns:a16="http://schemas.microsoft.com/office/drawing/2014/main" id="{E3237A18-7E2B-CB06-341B-F12601DCE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5600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14AAB182-21F6-99AA-6546-D44EB13B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>
            <a:extLst>
              <a:ext uri="{FF2B5EF4-FFF2-40B4-BE49-F238E27FC236}">
                <a16:creationId xmlns:a16="http://schemas.microsoft.com/office/drawing/2014/main" id="{DF66EA5D-9520-40FD-8309-9B2B88697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0">
              <a:buFontTx/>
              <a:buNone/>
            </a:pPr>
            <a:endParaRPr lang="en-US" b="0" dirty="0"/>
          </a:p>
        </p:txBody>
      </p:sp>
      <p:sp>
        <p:nvSpPr>
          <p:cNvPr id="371" name="Google Shape;371;p8:notes">
            <a:extLst>
              <a:ext uri="{FF2B5EF4-FFF2-40B4-BE49-F238E27FC236}">
                <a16:creationId xmlns:a16="http://schemas.microsoft.com/office/drawing/2014/main" id="{E3237A18-7E2B-CB06-341B-F12601DCE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3820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14AAB182-21F6-99AA-6546-D44EB13B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>
            <a:extLst>
              <a:ext uri="{FF2B5EF4-FFF2-40B4-BE49-F238E27FC236}">
                <a16:creationId xmlns:a16="http://schemas.microsoft.com/office/drawing/2014/main" id="{DF66EA5D-9520-40FD-8309-9B2B88697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0">
              <a:buFontTx/>
              <a:buNone/>
            </a:pPr>
            <a:endParaRPr lang="en-US" b="0" dirty="0"/>
          </a:p>
        </p:txBody>
      </p:sp>
      <p:sp>
        <p:nvSpPr>
          <p:cNvPr id="371" name="Google Shape;371;p8:notes">
            <a:extLst>
              <a:ext uri="{FF2B5EF4-FFF2-40B4-BE49-F238E27FC236}">
                <a16:creationId xmlns:a16="http://schemas.microsoft.com/office/drawing/2014/main" id="{E3237A18-7E2B-CB06-341B-F12601DCE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442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14AAB182-21F6-99AA-6546-D44EB13B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>
            <a:extLst>
              <a:ext uri="{FF2B5EF4-FFF2-40B4-BE49-F238E27FC236}">
                <a16:creationId xmlns:a16="http://schemas.microsoft.com/office/drawing/2014/main" id="{DF66EA5D-9520-40FD-8309-9B2B88697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0">
              <a:buFontTx/>
              <a:buNone/>
            </a:pPr>
            <a:endParaRPr lang="en-US" b="0" dirty="0"/>
          </a:p>
        </p:txBody>
      </p:sp>
      <p:sp>
        <p:nvSpPr>
          <p:cNvPr id="371" name="Google Shape;371;p8:notes">
            <a:extLst>
              <a:ext uri="{FF2B5EF4-FFF2-40B4-BE49-F238E27FC236}">
                <a16:creationId xmlns:a16="http://schemas.microsoft.com/office/drawing/2014/main" id="{E3237A18-7E2B-CB06-341B-F12601DCE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9075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14AAB182-21F6-99AA-6546-D44EB13B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>
            <a:extLst>
              <a:ext uri="{FF2B5EF4-FFF2-40B4-BE49-F238E27FC236}">
                <a16:creationId xmlns:a16="http://schemas.microsoft.com/office/drawing/2014/main" id="{DF66EA5D-9520-40FD-8309-9B2B88697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0">
              <a:buFontTx/>
              <a:buNone/>
            </a:pPr>
            <a:endParaRPr lang="en-US" b="0" dirty="0"/>
          </a:p>
        </p:txBody>
      </p:sp>
      <p:sp>
        <p:nvSpPr>
          <p:cNvPr id="371" name="Google Shape;371;p8:notes">
            <a:extLst>
              <a:ext uri="{FF2B5EF4-FFF2-40B4-BE49-F238E27FC236}">
                <a16:creationId xmlns:a16="http://schemas.microsoft.com/office/drawing/2014/main" id="{E3237A18-7E2B-CB06-341B-F12601DCE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2493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14AAB182-21F6-99AA-6546-D44EB13B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>
            <a:extLst>
              <a:ext uri="{FF2B5EF4-FFF2-40B4-BE49-F238E27FC236}">
                <a16:creationId xmlns:a16="http://schemas.microsoft.com/office/drawing/2014/main" id="{DF66EA5D-9520-40FD-8309-9B2B88697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1. The Conversation Loop</a:t>
            </a:r>
          </a:p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The harness manages the 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turn-based loop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 between user and model:</a:t>
            </a:r>
          </a:p>
          <a:p>
            <a:pPr lvl="1">
              <a:buFont typeface="+mj-lt"/>
              <a:buAutoNum type="arabicPeriod"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The user sends a message.</a:t>
            </a:r>
          </a:p>
          <a:p>
            <a:pPr lvl="1">
              <a:buFont typeface="+mj-lt"/>
              <a:buAutoNum type="arabicPeriod"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The harness 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enriches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 the message with context (open files, cursor position, linter errors, system rules, etc.) and sends it to the model.</a:t>
            </a:r>
          </a:p>
          <a:p>
            <a:pPr lvl="1">
              <a:buFont typeface="+mj-lt"/>
              <a:buAutoNum type="arabicPeriod"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The model responds — either with text for the user, or with 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tool calls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lvl="1">
              <a:buFont typeface="+mj-lt"/>
              <a:buAutoNum type="arabicPeriod"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If tool calls are present, the harness 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executes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 them, collects the results, and sends them back to the model.</a:t>
            </a:r>
          </a:p>
          <a:p>
            <a:pPr lvl="1">
              <a:buFont typeface="+mj-lt"/>
              <a:buAutoNum type="arabicPeriod"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Steps 3–4 repeat in a loop until the model produces a final text response with no tool calls.</a:t>
            </a:r>
          </a:p>
          <a:p>
            <a:pPr lvl="1">
              <a:buFont typeface="+mj-lt"/>
              <a:buAutoNum type="arabicPeriod"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The response is shown to the user, and the loop waits for the next user message.</a:t>
            </a:r>
          </a:p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This is the heartbeat of the agent. The model never talks directly to the user or directly to tools — the harness mediates everything.</a:t>
            </a:r>
          </a:p>
          <a:p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2. Context Assembler</a:t>
            </a:r>
          </a:p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Before each call to the model, the harness assembles the 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prompt context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. This includes: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System prompt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: The model's role, persona, rules, coding conventions (like the workspace rule from your CLAUDE.md saying "you are a very senior C++ developer").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Workspace rules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: Always-applied rules, file-specific rules, project conventions.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User state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: Open files, cursor position, recently viewed files, edit history, linter diagnostics.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Agent skills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: Descriptions of available skills the model can choose to invoke.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MCP server metadata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: Available MCP tools and resources.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Mode enforcement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: Whether the agent is in "Ask mode" (read-only) or "Agent mode" (read-write).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Conversation history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: Prior messages and tool results in the session.</a:t>
            </a:r>
          </a:p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The context assembler decides 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what the model sees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. The model cannot perceive anything the harness doesn't inject. This is why, for example, when a subagent is launched, the harness explicitly states: </a:t>
            </a:r>
            <a:r>
              <a:rPr lang="en-US" sz="1200" b="0" i="1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"the subagent invocation does not have access to the user's message or prior assistant steps"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 — the subagent gets a fresh context window.</a:t>
            </a:r>
          </a:p>
          <a:p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3. Tool Dispatcher</a:t>
            </a:r>
          </a:p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When the model emits tool calls (e.g., Read, Shell, Grep, 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StrReplace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), the harness: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Validates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 the call (correct parameters, file paths, etc.).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Enforces policies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 (e.g., in Ask mode, write tools are blocked).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Executes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 the tool against the real environment.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Captures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 the result (file contents, command output, search results).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Returns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 the result to the model for the next reasoning step.</a:t>
            </a:r>
          </a:p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The tool dispatcher is what gives the model "hands" — without it, the model can only produce text.</a:t>
            </a:r>
          </a:p>
          <a:p>
            <a:pPr marL="228600" indent="0">
              <a:buFontTx/>
              <a:buNone/>
            </a:pPr>
            <a:endParaRPr lang="en-US" b="0" dirty="0"/>
          </a:p>
          <a:p>
            <a:pPr marL="228600" indent="0">
              <a:buFontTx/>
              <a:buNone/>
            </a:pPr>
            <a:endParaRPr lang="en-US" b="0" dirty="0"/>
          </a:p>
        </p:txBody>
      </p:sp>
      <p:sp>
        <p:nvSpPr>
          <p:cNvPr id="371" name="Google Shape;371;p8:notes">
            <a:extLst>
              <a:ext uri="{FF2B5EF4-FFF2-40B4-BE49-F238E27FC236}">
                <a16:creationId xmlns:a16="http://schemas.microsoft.com/office/drawing/2014/main" id="{E3237A18-7E2B-CB06-341B-F12601DCE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2653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14AAB182-21F6-99AA-6546-D44EB13B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>
            <a:extLst>
              <a:ext uri="{FF2B5EF4-FFF2-40B4-BE49-F238E27FC236}">
                <a16:creationId xmlns:a16="http://schemas.microsoft.com/office/drawing/2014/main" id="{DF66EA5D-9520-40FD-8309-9B2B88697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0">
              <a:buFontTx/>
              <a:buNone/>
            </a:pPr>
            <a:endParaRPr lang="en-US" b="0" dirty="0"/>
          </a:p>
        </p:txBody>
      </p:sp>
      <p:sp>
        <p:nvSpPr>
          <p:cNvPr id="371" name="Google Shape;371;p8:notes">
            <a:extLst>
              <a:ext uri="{FF2B5EF4-FFF2-40B4-BE49-F238E27FC236}">
                <a16:creationId xmlns:a16="http://schemas.microsoft.com/office/drawing/2014/main" id="{E3237A18-7E2B-CB06-341B-F12601DCE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2146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14AAB182-21F6-99AA-6546-D44EB13B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>
            <a:extLst>
              <a:ext uri="{FF2B5EF4-FFF2-40B4-BE49-F238E27FC236}">
                <a16:creationId xmlns:a16="http://schemas.microsoft.com/office/drawing/2014/main" id="{DF66EA5D-9520-40FD-8309-9B2B88697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228600">
              <a:buFontTx/>
              <a:buAutoNum type="arabicPeriod"/>
            </a:pPr>
            <a:endParaRPr lang="en-US" b="0" dirty="0"/>
          </a:p>
        </p:txBody>
      </p:sp>
      <p:sp>
        <p:nvSpPr>
          <p:cNvPr id="371" name="Google Shape;371;p8:notes">
            <a:extLst>
              <a:ext uri="{FF2B5EF4-FFF2-40B4-BE49-F238E27FC236}">
                <a16:creationId xmlns:a16="http://schemas.microsoft.com/office/drawing/2014/main" id="{E3237A18-7E2B-CB06-341B-F12601DCE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5233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14AAB182-21F6-99AA-6546-D44EB13B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>
            <a:extLst>
              <a:ext uri="{FF2B5EF4-FFF2-40B4-BE49-F238E27FC236}">
                <a16:creationId xmlns:a16="http://schemas.microsoft.com/office/drawing/2014/main" id="{DF66EA5D-9520-40FD-8309-9B2B88697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0">
              <a:buFontTx/>
              <a:buNone/>
            </a:pPr>
            <a:endParaRPr lang="en-US" b="0" dirty="0"/>
          </a:p>
        </p:txBody>
      </p:sp>
      <p:sp>
        <p:nvSpPr>
          <p:cNvPr id="371" name="Google Shape;371;p8:notes">
            <a:extLst>
              <a:ext uri="{FF2B5EF4-FFF2-40B4-BE49-F238E27FC236}">
                <a16:creationId xmlns:a16="http://schemas.microsoft.com/office/drawing/2014/main" id="{E3237A18-7E2B-CB06-341B-F12601DCE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1633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14AAB182-21F6-99AA-6546-D44EB13B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>
            <a:extLst>
              <a:ext uri="{FF2B5EF4-FFF2-40B4-BE49-F238E27FC236}">
                <a16:creationId xmlns:a16="http://schemas.microsoft.com/office/drawing/2014/main" id="{DF66EA5D-9520-40FD-8309-9B2B88697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0">
              <a:buFontTx/>
              <a:buNone/>
            </a:pPr>
            <a:endParaRPr lang="en-US" b="0" dirty="0"/>
          </a:p>
        </p:txBody>
      </p:sp>
      <p:sp>
        <p:nvSpPr>
          <p:cNvPr id="371" name="Google Shape;371;p8:notes">
            <a:extLst>
              <a:ext uri="{FF2B5EF4-FFF2-40B4-BE49-F238E27FC236}">
                <a16:creationId xmlns:a16="http://schemas.microsoft.com/office/drawing/2014/main" id="{E3237A18-7E2B-CB06-341B-F12601DCE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89800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14AAB182-21F6-99AA-6546-D44EB13B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>
            <a:extLst>
              <a:ext uri="{FF2B5EF4-FFF2-40B4-BE49-F238E27FC236}">
                <a16:creationId xmlns:a16="http://schemas.microsoft.com/office/drawing/2014/main" id="{DF66EA5D-9520-40FD-8309-9B2B88697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0">
              <a:buFontTx/>
              <a:buNone/>
            </a:pPr>
            <a:endParaRPr lang="en-US" b="0" dirty="0"/>
          </a:p>
        </p:txBody>
      </p:sp>
      <p:sp>
        <p:nvSpPr>
          <p:cNvPr id="371" name="Google Shape;371;p8:notes">
            <a:extLst>
              <a:ext uri="{FF2B5EF4-FFF2-40B4-BE49-F238E27FC236}">
                <a16:creationId xmlns:a16="http://schemas.microsoft.com/office/drawing/2014/main" id="{E3237A18-7E2B-CB06-341B-F12601DCE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55393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14AAB182-21F6-99AA-6546-D44EB13B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>
            <a:extLst>
              <a:ext uri="{FF2B5EF4-FFF2-40B4-BE49-F238E27FC236}">
                <a16:creationId xmlns:a16="http://schemas.microsoft.com/office/drawing/2014/main" id="{DF66EA5D-9520-40FD-8309-9B2B88697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0">
              <a:buFontTx/>
              <a:buNone/>
            </a:pPr>
            <a:endParaRPr lang="en-US" b="0" dirty="0"/>
          </a:p>
        </p:txBody>
      </p:sp>
      <p:sp>
        <p:nvSpPr>
          <p:cNvPr id="371" name="Google Shape;371;p8:notes">
            <a:extLst>
              <a:ext uri="{FF2B5EF4-FFF2-40B4-BE49-F238E27FC236}">
                <a16:creationId xmlns:a16="http://schemas.microsoft.com/office/drawing/2014/main" id="{E3237A18-7E2B-CB06-341B-F12601DCE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19041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14AAB182-21F6-99AA-6546-D44EB13B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>
            <a:extLst>
              <a:ext uri="{FF2B5EF4-FFF2-40B4-BE49-F238E27FC236}">
                <a16:creationId xmlns:a16="http://schemas.microsoft.com/office/drawing/2014/main" id="{DF66EA5D-9520-40FD-8309-9B2B88697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0">
              <a:buFontTx/>
              <a:buNone/>
            </a:pPr>
            <a:endParaRPr lang="en-US" b="0" dirty="0"/>
          </a:p>
        </p:txBody>
      </p:sp>
      <p:sp>
        <p:nvSpPr>
          <p:cNvPr id="371" name="Google Shape;371;p8:notes">
            <a:extLst>
              <a:ext uri="{FF2B5EF4-FFF2-40B4-BE49-F238E27FC236}">
                <a16:creationId xmlns:a16="http://schemas.microsoft.com/office/drawing/2014/main" id="{E3237A18-7E2B-CB06-341B-F12601DCE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8074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14AAB182-21F6-99AA-6546-D44EB13B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>
            <a:extLst>
              <a:ext uri="{FF2B5EF4-FFF2-40B4-BE49-F238E27FC236}">
                <a16:creationId xmlns:a16="http://schemas.microsoft.com/office/drawing/2014/main" id="{DF66EA5D-9520-40FD-8309-9B2B88697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0">
              <a:buFontTx/>
              <a:buNone/>
            </a:pPr>
            <a:endParaRPr lang="en-US" b="0" dirty="0"/>
          </a:p>
        </p:txBody>
      </p:sp>
      <p:sp>
        <p:nvSpPr>
          <p:cNvPr id="371" name="Google Shape;371;p8:notes">
            <a:extLst>
              <a:ext uri="{FF2B5EF4-FFF2-40B4-BE49-F238E27FC236}">
                <a16:creationId xmlns:a16="http://schemas.microsoft.com/office/drawing/2014/main" id="{E3237A18-7E2B-CB06-341B-F12601DCE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75355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14AAB182-21F6-99AA-6546-D44EB13B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>
            <a:extLst>
              <a:ext uri="{FF2B5EF4-FFF2-40B4-BE49-F238E27FC236}">
                <a16:creationId xmlns:a16="http://schemas.microsoft.com/office/drawing/2014/main" id="{DF66EA5D-9520-40FD-8309-9B2B88697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0">
              <a:buFontTx/>
              <a:buNone/>
            </a:pPr>
            <a:endParaRPr lang="en-US" b="0" dirty="0"/>
          </a:p>
        </p:txBody>
      </p:sp>
      <p:sp>
        <p:nvSpPr>
          <p:cNvPr id="371" name="Google Shape;371;p8:notes">
            <a:extLst>
              <a:ext uri="{FF2B5EF4-FFF2-40B4-BE49-F238E27FC236}">
                <a16:creationId xmlns:a16="http://schemas.microsoft.com/office/drawing/2014/main" id="{E3237A18-7E2B-CB06-341B-F12601DCE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64812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14AAB182-21F6-99AA-6546-D44EB13B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>
            <a:extLst>
              <a:ext uri="{FF2B5EF4-FFF2-40B4-BE49-F238E27FC236}">
                <a16:creationId xmlns:a16="http://schemas.microsoft.com/office/drawing/2014/main" id="{DF66EA5D-9520-40FD-8309-9B2B88697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0">
              <a:buFontTx/>
              <a:buNone/>
            </a:pPr>
            <a:endParaRPr lang="en-US" b="0" dirty="0"/>
          </a:p>
        </p:txBody>
      </p:sp>
      <p:sp>
        <p:nvSpPr>
          <p:cNvPr id="371" name="Google Shape;371;p8:notes">
            <a:extLst>
              <a:ext uri="{FF2B5EF4-FFF2-40B4-BE49-F238E27FC236}">
                <a16:creationId xmlns:a16="http://schemas.microsoft.com/office/drawing/2014/main" id="{E3237A18-7E2B-CB06-341B-F12601DCE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29708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14AAB182-21F6-99AA-6546-D44EB13B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>
            <a:extLst>
              <a:ext uri="{FF2B5EF4-FFF2-40B4-BE49-F238E27FC236}">
                <a16:creationId xmlns:a16="http://schemas.microsoft.com/office/drawing/2014/main" id="{DF66EA5D-9520-40FD-8309-9B2B88697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0">
              <a:buFontTx/>
              <a:buNone/>
            </a:pPr>
            <a:endParaRPr lang="en-US" b="0" dirty="0"/>
          </a:p>
        </p:txBody>
      </p:sp>
      <p:sp>
        <p:nvSpPr>
          <p:cNvPr id="371" name="Google Shape;371;p8:notes">
            <a:extLst>
              <a:ext uri="{FF2B5EF4-FFF2-40B4-BE49-F238E27FC236}">
                <a16:creationId xmlns:a16="http://schemas.microsoft.com/office/drawing/2014/main" id="{E3237A18-7E2B-CB06-341B-F12601DCE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36771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14AAB182-21F6-99AA-6546-D44EB13B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>
            <a:extLst>
              <a:ext uri="{FF2B5EF4-FFF2-40B4-BE49-F238E27FC236}">
                <a16:creationId xmlns:a16="http://schemas.microsoft.com/office/drawing/2014/main" id="{DF66EA5D-9520-40FD-8309-9B2B88697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0">
              <a:buFontTx/>
              <a:buNone/>
            </a:pPr>
            <a:endParaRPr lang="en-US" b="0" dirty="0"/>
          </a:p>
        </p:txBody>
      </p:sp>
      <p:sp>
        <p:nvSpPr>
          <p:cNvPr id="371" name="Google Shape;371;p8:notes">
            <a:extLst>
              <a:ext uri="{FF2B5EF4-FFF2-40B4-BE49-F238E27FC236}">
                <a16:creationId xmlns:a16="http://schemas.microsoft.com/office/drawing/2014/main" id="{E3237A18-7E2B-CB06-341B-F12601DCE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6358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14AAB182-21F6-99AA-6546-D44EB13B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>
            <a:extLst>
              <a:ext uri="{FF2B5EF4-FFF2-40B4-BE49-F238E27FC236}">
                <a16:creationId xmlns:a16="http://schemas.microsoft.com/office/drawing/2014/main" id="{DF66EA5D-9520-40FD-8309-9B2B88697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0">
              <a:buFontTx/>
              <a:buNone/>
            </a:pPr>
            <a:endParaRPr lang="en-US" b="0" dirty="0"/>
          </a:p>
        </p:txBody>
      </p:sp>
      <p:sp>
        <p:nvSpPr>
          <p:cNvPr id="371" name="Google Shape;371;p8:notes">
            <a:extLst>
              <a:ext uri="{FF2B5EF4-FFF2-40B4-BE49-F238E27FC236}">
                <a16:creationId xmlns:a16="http://schemas.microsoft.com/office/drawing/2014/main" id="{E3237A18-7E2B-CB06-341B-F12601DCE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04734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14AAB182-21F6-99AA-6546-D44EB13B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>
            <a:extLst>
              <a:ext uri="{FF2B5EF4-FFF2-40B4-BE49-F238E27FC236}">
                <a16:creationId xmlns:a16="http://schemas.microsoft.com/office/drawing/2014/main" id="{DF66EA5D-9520-40FD-8309-9B2B88697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0">
              <a:buFontTx/>
              <a:buNone/>
            </a:pPr>
            <a:endParaRPr lang="en-US" b="0" dirty="0"/>
          </a:p>
        </p:txBody>
      </p:sp>
      <p:sp>
        <p:nvSpPr>
          <p:cNvPr id="371" name="Google Shape;371;p8:notes">
            <a:extLst>
              <a:ext uri="{FF2B5EF4-FFF2-40B4-BE49-F238E27FC236}">
                <a16:creationId xmlns:a16="http://schemas.microsoft.com/office/drawing/2014/main" id="{E3237A18-7E2B-CB06-341B-F12601DCE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87631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14AAB182-21F6-99AA-6546-D44EB13B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>
            <a:extLst>
              <a:ext uri="{FF2B5EF4-FFF2-40B4-BE49-F238E27FC236}">
                <a16:creationId xmlns:a16="http://schemas.microsoft.com/office/drawing/2014/main" id="{DF66EA5D-9520-40FD-8309-9B2B88697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b="0" dirty="0"/>
          </a:p>
        </p:txBody>
      </p:sp>
      <p:sp>
        <p:nvSpPr>
          <p:cNvPr id="371" name="Google Shape;371;p8:notes">
            <a:extLst>
              <a:ext uri="{FF2B5EF4-FFF2-40B4-BE49-F238E27FC236}">
                <a16:creationId xmlns:a16="http://schemas.microsoft.com/office/drawing/2014/main" id="{E3237A18-7E2B-CB06-341B-F12601DCE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44518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14AAB182-21F6-99AA-6546-D44EB13B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>
            <a:extLst>
              <a:ext uri="{FF2B5EF4-FFF2-40B4-BE49-F238E27FC236}">
                <a16:creationId xmlns:a16="http://schemas.microsoft.com/office/drawing/2014/main" id="{DF66EA5D-9520-40FD-8309-9B2B88697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0">
              <a:buFontTx/>
              <a:buNone/>
            </a:pPr>
            <a:endParaRPr lang="en-US" b="0" dirty="0"/>
          </a:p>
        </p:txBody>
      </p:sp>
      <p:sp>
        <p:nvSpPr>
          <p:cNvPr id="371" name="Google Shape;371;p8:notes">
            <a:extLst>
              <a:ext uri="{FF2B5EF4-FFF2-40B4-BE49-F238E27FC236}">
                <a16:creationId xmlns:a16="http://schemas.microsoft.com/office/drawing/2014/main" id="{E3237A18-7E2B-CB06-341B-F12601DCE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15028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14AAB182-21F6-99AA-6546-D44EB13B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>
            <a:extLst>
              <a:ext uri="{FF2B5EF4-FFF2-40B4-BE49-F238E27FC236}">
                <a16:creationId xmlns:a16="http://schemas.microsoft.com/office/drawing/2014/main" id="{DF66EA5D-9520-40FD-8309-9B2B88697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0">
              <a:buFontTx/>
              <a:buNone/>
            </a:pPr>
            <a:endParaRPr lang="en-US" b="0" dirty="0"/>
          </a:p>
        </p:txBody>
      </p:sp>
      <p:sp>
        <p:nvSpPr>
          <p:cNvPr id="371" name="Google Shape;371;p8:notes">
            <a:extLst>
              <a:ext uri="{FF2B5EF4-FFF2-40B4-BE49-F238E27FC236}">
                <a16:creationId xmlns:a16="http://schemas.microsoft.com/office/drawing/2014/main" id="{E3237A18-7E2B-CB06-341B-F12601DCE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04754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14AAB182-21F6-99AA-6546-D44EB13B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>
            <a:extLst>
              <a:ext uri="{FF2B5EF4-FFF2-40B4-BE49-F238E27FC236}">
                <a16:creationId xmlns:a16="http://schemas.microsoft.com/office/drawing/2014/main" id="{DF66EA5D-9520-40FD-8309-9B2B88697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0">
              <a:buFontTx/>
              <a:buNone/>
            </a:pPr>
            <a:endParaRPr lang="en-US" b="0" dirty="0"/>
          </a:p>
        </p:txBody>
      </p:sp>
      <p:sp>
        <p:nvSpPr>
          <p:cNvPr id="371" name="Google Shape;371;p8:notes">
            <a:extLst>
              <a:ext uri="{FF2B5EF4-FFF2-40B4-BE49-F238E27FC236}">
                <a16:creationId xmlns:a16="http://schemas.microsoft.com/office/drawing/2014/main" id="{E3237A18-7E2B-CB06-341B-F12601DCE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7512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14AAB182-21F6-99AA-6546-D44EB13B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>
            <a:extLst>
              <a:ext uri="{FF2B5EF4-FFF2-40B4-BE49-F238E27FC236}">
                <a16:creationId xmlns:a16="http://schemas.microsoft.com/office/drawing/2014/main" id="{DF66EA5D-9520-40FD-8309-9B2B88697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0">
              <a:buFontTx/>
              <a:buNone/>
            </a:pPr>
            <a:endParaRPr lang="en-US" b="0" dirty="0"/>
          </a:p>
        </p:txBody>
      </p:sp>
      <p:sp>
        <p:nvSpPr>
          <p:cNvPr id="371" name="Google Shape;371;p8:notes">
            <a:extLst>
              <a:ext uri="{FF2B5EF4-FFF2-40B4-BE49-F238E27FC236}">
                <a16:creationId xmlns:a16="http://schemas.microsoft.com/office/drawing/2014/main" id="{E3237A18-7E2B-CB06-341B-F12601DCE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25928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14AAB182-21F6-99AA-6546-D44EB13B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>
            <a:extLst>
              <a:ext uri="{FF2B5EF4-FFF2-40B4-BE49-F238E27FC236}">
                <a16:creationId xmlns:a16="http://schemas.microsoft.com/office/drawing/2014/main" id="{DF66EA5D-9520-40FD-8309-9B2B88697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00050" indent="-171450">
              <a:buFontTx/>
              <a:buChar char="-"/>
            </a:pPr>
            <a:endParaRPr lang="en-US" b="0" dirty="0"/>
          </a:p>
        </p:txBody>
      </p:sp>
      <p:sp>
        <p:nvSpPr>
          <p:cNvPr id="371" name="Google Shape;371;p8:notes">
            <a:extLst>
              <a:ext uri="{FF2B5EF4-FFF2-40B4-BE49-F238E27FC236}">
                <a16:creationId xmlns:a16="http://schemas.microsoft.com/office/drawing/2014/main" id="{E3237A18-7E2B-CB06-341B-F12601DCE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49922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F03FE028-202E-6BB2-00AA-D5A9408F1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>
            <a:extLst>
              <a:ext uri="{FF2B5EF4-FFF2-40B4-BE49-F238E27FC236}">
                <a16:creationId xmlns:a16="http://schemas.microsoft.com/office/drawing/2014/main" id="{231728BA-4865-6608-319C-5E0749B79D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71" name="Google Shape;371;p8:notes">
            <a:extLst>
              <a:ext uri="{FF2B5EF4-FFF2-40B4-BE49-F238E27FC236}">
                <a16:creationId xmlns:a16="http://schemas.microsoft.com/office/drawing/2014/main" id="{BFECAC6F-5861-87E7-8072-BD6142DDD6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101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_6">
  <p:cSld name="Divider_5">
    <p:bg>
      <p:bgPr>
        <a:solidFill>
          <a:schemeClr val="lt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0"/>
          <p:cNvPicPr preferRelativeResize="0"/>
          <p:nvPr/>
        </p:nvPicPr>
        <p:blipFill rotWithShape="1">
          <a:blip r:embed="rId2">
            <a:alphaModFix/>
          </a:blip>
          <a:srcRect l="20" r="20"/>
          <a:stretch/>
        </p:blipFill>
        <p:spPr>
          <a:xfrm>
            <a:off x="-3049" y="-1142"/>
            <a:ext cx="12198098" cy="686028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  <a:defRPr sz="6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10773016" cy="110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" name="Google Shape;74;p10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1/3_3">
  <p:cSld name="Content 1/3_pink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/>
          <p:nvPr/>
        </p:nvSpPr>
        <p:spPr>
          <a:xfrm>
            <a:off x="0" y="0"/>
            <a:ext cx="4161003" cy="6858000"/>
          </a:xfrm>
          <a:prstGeom prst="rect">
            <a:avLst/>
          </a:prstGeom>
          <a:gradFill>
            <a:gsLst>
              <a:gs pos="0">
                <a:schemeClr val="dk2"/>
              </a:gs>
              <a:gs pos="90000">
                <a:srgbClr val="FF0080"/>
              </a:gs>
              <a:gs pos="100000">
                <a:srgbClr val="FF0080"/>
              </a:gs>
            </a:gsLst>
            <a:lin ang="2700006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17"/>
          <p:cNvSpPr txBox="1">
            <a:spLocks noGrp="1"/>
          </p:cNvSpPr>
          <p:nvPr>
            <p:ph type="title"/>
          </p:nvPr>
        </p:nvSpPr>
        <p:spPr>
          <a:xfrm>
            <a:off x="685800" y="311151"/>
            <a:ext cx="2755900" cy="106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1"/>
          </p:nvPr>
        </p:nvSpPr>
        <p:spPr>
          <a:xfrm>
            <a:off x="685800" y="1687923"/>
            <a:ext cx="2755800" cy="45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marL="2743200" lvl="5" indent="-292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body" idx="2"/>
          </p:nvPr>
        </p:nvSpPr>
        <p:spPr>
          <a:xfrm>
            <a:off x="4718951" y="801850"/>
            <a:ext cx="6769800" cy="52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92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llout_6">
  <p:cSld name="Callout_orange_1">
    <p:bg>
      <p:bgPr>
        <a:gradFill>
          <a:gsLst>
            <a:gs pos="0">
              <a:srgbClr val="5C00EF"/>
            </a:gs>
            <a:gs pos="30000">
              <a:srgbClr val="5C00EF"/>
            </a:gs>
            <a:gs pos="100000">
              <a:srgbClr val="0060FF"/>
            </a:gs>
          </a:gsLst>
          <a:lin ang="2698631" scaled="0"/>
        </a:gra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>
            <a:spLocks noGrp="1"/>
          </p:cNvSpPr>
          <p:nvPr>
            <p:ph type="title"/>
          </p:nvPr>
        </p:nvSpPr>
        <p:spPr>
          <a:xfrm>
            <a:off x="695323" y="4395789"/>
            <a:ext cx="10794900" cy="18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Roboto"/>
              <a:buNone/>
              <a:defRPr sz="54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4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9" name="Google Shape;139;p24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creenshot">
  <p:cSld name="Screenshot">
    <p:bg>
      <p:bgPr>
        <a:solidFill>
          <a:schemeClr val="lt1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5002" cy="868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7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3" name="Google Shape;153;p27"/>
          <p:cNvSpPr txBox="1">
            <a:spLocks noGrp="1"/>
          </p:cNvSpPr>
          <p:nvPr>
            <p:ph type="body" idx="1"/>
          </p:nvPr>
        </p:nvSpPr>
        <p:spPr>
          <a:xfrm>
            <a:off x="695325" y="1638300"/>
            <a:ext cx="10794900" cy="4638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01600" sx="101000" sy="101000" algn="ctr" rotWithShape="0">
              <a:srgbClr val="000000">
                <a:alpha val="9411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marL="1371600" lvl="2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marL="1828800" lvl="3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>
                <a:solidFill>
                  <a:schemeClr val="dk1"/>
                </a:solidFill>
              </a:defRPr>
            </a:lvl4pPr>
            <a:lvl5pPr marL="2286000" lvl="4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+ Content_3">
  <p:cSld name="Title + Content_pink">
    <p:bg>
      <p:bgPr>
        <a:gradFill>
          <a:gsLst>
            <a:gs pos="0">
              <a:schemeClr val="dk2"/>
            </a:gs>
            <a:gs pos="90000">
              <a:srgbClr val="FF0080"/>
            </a:gs>
            <a:gs pos="100000">
              <a:srgbClr val="FF0080"/>
            </a:gs>
          </a:gsLst>
          <a:lin ang="2700006" scaled="0"/>
        </a:gra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5002" cy="868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8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7" name="Google Shape;157;p28"/>
          <p:cNvSpPr txBox="1">
            <a:spLocks noGrp="1"/>
          </p:cNvSpPr>
          <p:nvPr>
            <p:ph type="body" idx="1"/>
          </p:nvPr>
        </p:nvSpPr>
        <p:spPr>
          <a:xfrm>
            <a:off x="684276" y="1399032"/>
            <a:ext cx="10782300" cy="48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355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8" name="Google Shape;158;p28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+ Content_4">
  <p:cSld name="Title + Content_green">
    <p:bg>
      <p:bgPr>
        <a:gradFill>
          <a:gsLst>
            <a:gs pos="0">
              <a:srgbClr val="00B765"/>
            </a:gs>
            <a:gs pos="30000">
              <a:srgbClr val="00B765"/>
            </a:gs>
            <a:gs pos="90000">
              <a:schemeClr val="accent4"/>
            </a:gs>
            <a:gs pos="100000">
              <a:schemeClr val="accent4"/>
            </a:gs>
          </a:gsLst>
          <a:lin ang="2698631" scaled="0"/>
        </a:gra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5002" cy="868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30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7" name="Google Shape;167;p30"/>
          <p:cNvSpPr txBox="1">
            <a:spLocks noGrp="1"/>
          </p:cNvSpPr>
          <p:nvPr>
            <p:ph type="body" idx="1"/>
          </p:nvPr>
        </p:nvSpPr>
        <p:spPr>
          <a:xfrm>
            <a:off x="684276" y="1399032"/>
            <a:ext cx="10782300" cy="48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355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8" name="Google Shape;168;p30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+ Content_5">
  <p:cSld name="Title + Content_orange">
    <p:bg>
      <p:bgPr>
        <a:gradFill>
          <a:gsLst>
            <a:gs pos="0">
              <a:schemeClr val="accent3"/>
            </a:gs>
            <a:gs pos="30000">
              <a:schemeClr val="accent3"/>
            </a:gs>
            <a:gs pos="90000">
              <a:schemeClr val="accent5"/>
            </a:gs>
            <a:gs pos="100000">
              <a:schemeClr val="accent5"/>
            </a:gs>
          </a:gsLst>
          <a:lin ang="2698631" scaled="0"/>
        </a:gra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1"/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5002" cy="868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31"/>
          <p:cNvSpPr txBox="1">
            <a:spLocks noGrp="1"/>
          </p:cNvSpPr>
          <p:nvPr>
            <p:ph type="ftr" idx="11"/>
          </p:nvPr>
        </p:nvSpPr>
        <p:spPr>
          <a:xfrm>
            <a:off x="695325" y="6508466"/>
            <a:ext cx="10795000" cy="34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31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3" name="Google Shape;173;p31"/>
          <p:cNvSpPr txBox="1">
            <a:spLocks noGrp="1"/>
          </p:cNvSpPr>
          <p:nvPr>
            <p:ph type="body" idx="1"/>
          </p:nvPr>
        </p:nvSpPr>
        <p:spPr>
          <a:xfrm>
            <a:off x="684276" y="1399032"/>
            <a:ext cx="10782300" cy="48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355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4" name="Google Shape;174;p31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+ Content_6">
  <p:cSld name="Title + Content_orange_1">
    <p:bg>
      <p:bgPr>
        <a:gradFill>
          <a:gsLst>
            <a:gs pos="0">
              <a:srgbClr val="5C00EF"/>
            </a:gs>
            <a:gs pos="30000">
              <a:srgbClr val="5C00EF"/>
            </a:gs>
            <a:gs pos="100000">
              <a:srgbClr val="0060FF"/>
            </a:gs>
          </a:gsLst>
          <a:lin ang="2698631" scaled="0"/>
        </a:gra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2"/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4900" cy="8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32"/>
          <p:cNvSpPr txBox="1">
            <a:spLocks noGrp="1"/>
          </p:cNvSpPr>
          <p:nvPr>
            <p:ph type="ftr" idx="11"/>
          </p:nvPr>
        </p:nvSpPr>
        <p:spPr>
          <a:xfrm>
            <a:off x="695325" y="6508466"/>
            <a:ext cx="107949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32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32"/>
          <p:cNvSpPr txBox="1">
            <a:spLocks noGrp="1"/>
          </p:cNvSpPr>
          <p:nvPr>
            <p:ph type="body" idx="1"/>
          </p:nvPr>
        </p:nvSpPr>
        <p:spPr>
          <a:xfrm>
            <a:off x="684276" y="1399032"/>
            <a:ext cx="10782300" cy="48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355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0" name="Google Shape;180;p32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1/3_2">
  <p:cSld name="Content 1/3_blue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4"/>
          <p:cNvSpPr/>
          <p:nvPr/>
        </p:nvSpPr>
        <p:spPr>
          <a:xfrm>
            <a:off x="0" y="0"/>
            <a:ext cx="4161003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0000">
                <a:schemeClr val="accent2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34"/>
          <p:cNvSpPr txBox="1">
            <a:spLocks noGrp="1"/>
          </p:cNvSpPr>
          <p:nvPr>
            <p:ph type="title"/>
          </p:nvPr>
        </p:nvSpPr>
        <p:spPr>
          <a:xfrm>
            <a:off x="685800" y="311151"/>
            <a:ext cx="2755900" cy="106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34"/>
          <p:cNvSpPr txBox="1">
            <a:spLocks noGrp="1"/>
          </p:cNvSpPr>
          <p:nvPr>
            <p:ph type="ftr" idx="11"/>
          </p:nvPr>
        </p:nvSpPr>
        <p:spPr>
          <a:xfrm>
            <a:off x="695325" y="6508466"/>
            <a:ext cx="10795000" cy="34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DDDDD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34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3" name="Google Shape;193;p34"/>
          <p:cNvSpPr txBox="1">
            <a:spLocks noGrp="1"/>
          </p:cNvSpPr>
          <p:nvPr>
            <p:ph type="body" idx="1"/>
          </p:nvPr>
        </p:nvSpPr>
        <p:spPr>
          <a:xfrm>
            <a:off x="685800" y="1687923"/>
            <a:ext cx="2755800" cy="45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marL="2743200" lvl="5" indent="-292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4" name="Google Shape;194;p34"/>
          <p:cNvSpPr txBox="1">
            <a:spLocks noGrp="1"/>
          </p:cNvSpPr>
          <p:nvPr>
            <p:ph type="body" idx="2"/>
          </p:nvPr>
        </p:nvSpPr>
        <p:spPr>
          <a:xfrm>
            <a:off x="4718951" y="801850"/>
            <a:ext cx="6769800" cy="52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92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1/3_4">
  <p:cSld name="Content 1/3_green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5"/>
          <p:cNvSpPr/>
          <p:nvPr/>
        </p:nvSpPr>
        <p:spPr>
          <a:xfrm>
            <a:off x="0" y="0"/>
            <a:ext cx="4161000" cy="6858000"/>
          </a:xfrm>
          <a:prstGeom prst="rect">
            <a:avLst/>
          </a:prstGeom>
          <a:gradFill>
            <a:gsLst>
              <a:gs pos="0">
                <a:srgbClr val="00B765"/>
              </a:gs>
              <a:gs pos="30000">
                <a:srgbClr val="00B765"/>
              </a:gs>
              <a:gs pos="90000">
                <a:schemeClr val="accent4"/>
              </a:gs>
              <a:gs pos="100000">
                <a:schemeClr val="accent4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5"/>
          <p:cNvSpPr txBox="1">
            <a:spLocks noGrp="1"/>
          </p:cNvSpPr>
          <p:nvPr>
            <p:ph type="title"/>
          </p:nvPr>
        </p:nvSpPr>
        <p:spPr>
          <a:xfrm>
            <a:off x="685800" y="311151"/>
            <a:ext cx="2755800" cy="10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35"/>
          <p:cNvSpPr txBox="1">
            <a:spLocks noGrp="1"/>
          </p:cNvSpPr>
          <p:nvPr>
            <p:ph type="ftr" idx="11"/>
          </p:nvPr>
        </p:nvSpPr>
        <p:spPr>
          <a:xfrm>
            <a:off x="695325" y="6508466"/>
            <a:ext cx="10795000" cy="34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DDDDD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35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0" name="Google Shape;200;p35"/>
          <p:cNvSpPr txBox="1">
            <a:spLocks noGrp="1"/>
          </p:cNvSpPr>
          <p:nvPr>
            <p:ph type="body" idx="1"/>
          </p:nvPr>
        </p:nvSpPr>
        <p:spPr>
          <a:xfrm>
            <a:off x="685800" y="1687923"/>
            <a:ext cx="2755800" cy="45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marL="2743200" lvl="5" indent="-292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1" name="Google Shape;201;p35"/>
          <p:cNvSpPr txBox="1">
            <a:spLocks noGrp="1"/>
          </p:cNvSpPr>
          <p:nvPr>
            <p:ph type="body" idx="2"/>
          </p:nvPr>
        </p:nvSpPr>
        <p:spPr>
          <a:xfrm>
            <a:off x="4718951" y="801850"/>
            <a:ext cx="6769800" cy="52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92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1/3_5">
  <p:cSld name="Content 1/3_orange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6"/>
          <p:cNvSpPr/>
          <p:nvPr/>
        </p:nvSpPr>
        <p:spPr>
          <a:xfrm>
            <a:off x="0" y="0"/>
            <a:ext cx="4161000" cy="6858000"/>
          </a:xfrm>
          <a:prstGeom prst="rect">
            <a:avLst/>
          </a:prstGeom>
          <a:gradFill>
            <a:gsLst>
              <a:gs pos="0">
                <a:schemeClr val="accent3"/>
              </a:gs>
              <a:gs pos="30000">
                <a:schemeClr val="accent3"/>
              </a:gs>
              <a:gs pos="90000">
                <a:schemeClr val="accent5"/>
              </a:gs>
              <a:gs pos="100000">
                <a:schemeClr val="accent5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6"/>
          <p:cNvSpPr txBox="1">
            <a:spLocks noGrp="1"/>
          </p:cNvSpPr>
          <p:nvPr>
            <p:ph type="title"/>
          </p:nvPr>
        </p:nvSpPr>
        <p:spPr>
          <a:xfrm>
            <a:off x="685800" y="311151"/>
            <a:ext cx="2755900" cy="106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36"/>
          <p:cNvSpPr txBox="1">
            <a:spLocks noGrp="1"/>
          </p:cNvSpPr>
          <p:nvPr>
            <p:ph type="ftr" idx="11"/>
          </p:nvPr>
        </p:nvSpPr>
        <p:spPr>
          <a:xfrm>
            <a:off x="695325" y="6508466"/>
            <a:ext cx="10795000" cy="34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DDDDD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36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7" name="Google Shape;207;p36"/>
          <p:cNvSpPr txBox="1">
            <a:spLocks noGrp="1"/>
          </p:cNvSpPr>
          <p:nvPr>
            <p:ph type="body" idx="1"/>
          </p:nvPr>
        </p:nvSpPr>
        <p:spPr>
          <a:xfrm>
            <a:off x="685800" y="1687923"/>
            <a:ext cx="2755800" cy="45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marL="2743200" lvl="5" indent="-292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8" name="Google Shape;208;p36"/>
          <p:cNvSpPr txBox="1">
            <a:spLocks noGrp="1"/>
          </p:cNvSpPr>
          <p:nvPr>
            <p:ph type="body" idx="2"/>
          </p:nvPr>
        </p:nvSpPr>
        <p:spPr>
          <a:xfrm>
            <a:off x="4718950" y="801850"/>
            <a:ext cx="6769800" cy="52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92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1/3_6">
  <p:cSld name="Content 1/3_orange_1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7"/>
          <p:cNvSpPr/>
          <p:nvPr/>
        </p:nvSpPr>
        <p:spPr>
          <a:xfrm>
            <a:off x="0" y="0"/>
            <a:ext cx="4161000" cy="6858000"/>
          </a:xfrm>
          <a:prstGeom prst="rect">
            <a:avLst/>
          </a:prstGeom>
          <a:gradFill>
            <a:gsLst>
              <a:gs pos="0">
                <a:srgbClr val="5C00EF"/>
              </a:gs>
              <a:gs pos="30000">
                <a:srgbClr val="5C00EF"/>
              </a:gs>
              <a:gs pos="100000">
                <a:srgbClr val="0060FF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37"/>
          <p:cNvSpPr txBox="1">
            <a:spLocks noGrp="1"/>
          </p:cNvSpPr>
          <p:nvPr>
            <p:ph type="title"/>
          </p:nvPr>
        </p:nvSpPr>
        <p:spPr>
          <a:xfrm>
            <a:off x="685800" y="311151"/>
            <a:ext cx="2755800" cy="10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37"/>
          <p:cNvSpPr txBox="1">
            <a:spLocks noGrp="1"/>
          </p:cNvSpPr>
          <p:nvPr>
            <p:ph type="ftr" idx="11"/>
          </p:nvPr>
        </p:nvSpPr>
        <p:spPr>
          <a:xfrm>
            <a:off x="695325" y="6508466"/>
            <a:ext cx="107949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DDDDD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37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4" name="Google Shape;214;p37"/>
          <p:cNvSpPr txBox="1">
            <a:spLocks noGrp="1"/>
          </p:cNvSpPr>
          <p:nvPr>
            <p:ph type="body" idx="1"/>
          </p:nvPr>
        </p:nvSpPr>
        <p:spPr>
          <a:xfrm>
            <a:off x="685800" y="1687923"/>
            <a:ext cx="2755800" cy="45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marL="2743200" lvl="5" indent="-292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5" name="Google Shape;215;p37"/>
          <p:cNvSpPr txBox="1">
            <a:spLocks noGrp="1"/>
          </p:cNvSpPr>
          <p:nvPr>
            <p:ph type="body" idx="2"/>
          </p:nvPr>
        </p:nvSpPr>
        <p:spPr>
          <a:xfrm>
            <a:off x="4718951" y="801850"/>
            <a:ext cx="6771300" cy="52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92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rom_To_2">
  <p:cSld name="From_To_blue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38"/>
          <p:cNvPicPr preferRelativeResize="0"/>
          <p:nvPr/>
        </p:nvPicPr>
        <p:blipFill rotWithShape="1">
          <a:blip r:embed="rId2">
            <a:alphaModFix amt="35000"/>
          </a:blip>
          <a:srcRect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8"/>
          <p:cNvSpPr/>
          <p:nvPr/>
        </p:nvSpPr>
        <p:spPr>
          <a:xfrm>
            <a:off x="6096001" y="0"/>
            <a:ext cx="6096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0000">
                <a:schemeClr val="accent2"/>
              </a:gs>
              <a:gs pos="90000">
                <a:schemeClr val="accent4"/>
              </a:gs>
              <a:gs pos="100000">
                <a:schemeClr val="accent4"/>
              </a:gs>
            </a:gsLst>
            <a:lin ang="2698631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38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0" name="Google Shape;220;p38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rom_To_3">
  <p:cSld name="From_To_pink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9"/>
          <p:cNvSpPr/>
          <p:nvPr/>
        </p:nvSpPr>
        <p:spPr>
          <a:xfrm>
            <a:off x="6096001" y="0"/>
            <a:ext cx="6096000" cy="6858000"/>
          </a:xfrm>
          <a:prstGeom prst="rect">
            <a:avLst/>
          </a:prstGeom>
          <a:gradFill>
            <a:gsLst>
              <a:gs pos="0">
                <a:schemeClr val="dk2"/>
              </a:gs>
              <a:gs pos="90000">
                <a:srgbClr val="FF0080"/>
              </a:gs>
              <a:gs pos="100000">
                <a:srgbClr val="FF0080"/>
              </a:gs>
            </a:gsLst>
            <a:lin ang="2700006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3" name="Google Shape;223;p39"/>
          <p:cNvPicPr preferRelativeResize="0"/>
          <p:nvPr/>
        </p:nvPicPr>
        <p:blipFill rotWithShape="1">
          <a:blip r:embed="rId2">
            <a:alphaModFix amt="35000"/>
          </a:blip>
          <a:srcRect/>
          <a:stretch/>
        </p:blipFill>
        <p:spPr>
          <a:xfrm>
            <a:off x="0" y="0"/>
            <a:ext cx="6095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9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5" name="Google Shape;225;p39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rom_To_4">
  <p:cSld name="From_To_green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0"/>
          <p:cNvSpPr/>
          <p:nvPr/>
        </p:nvSpPr>
        <p:spPr>
          <a:xfrm>
            <a:off x="6096001" y="0"/>
            <a:ext cx="6096000" cy="6858000"/>
          </a:xfrm>
          <a:prstGeom prst="rect">
            <a:avLst/>
          </a:prstGeom>
          <a:gradFill>
            <a:gsLst>
              <a:gs pos="0">
                <a:srgbClr val="00B765"/>
              </a:gs>
              <a:gs pos="30000">
                <a:srgbClr val="00B765"/>
              </a:gs>
              <a:gs pos="90000">
                <a:schemeClr val="accent4"/>
              </a:gs>
              <a:gs pos="100000">
                <a:schemeClr val="accent4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40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9" name="Google Shape;229;p40"/>
          <p:cNvPicPr preferRelativeResize="0"/>
          <p:nvPr/>
        </p:nvPicPr>
        <p:blipFill rotWithShape="1">
          <a:blip r:embed="rId2">
            <a:alphaModFix amt="35000"/>
          </a:blip>
          <a:srcRect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40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rom_To_5">
  <p:cSld name="From_To_orange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1"/>
          <p:cNvSpPr/>
          <p:nvPr/>
        </p:nvSpPr>
        <p:spPr>
          <a:xfrm>
            <a:off x="6096001" y="0"/>
            <a:ext cx="6096000" cy="6858000"/>
          </a:xfrm>
          <a:prstGeom prst="rect">
            <a:avLst/>
          </a:prstGeom>
          <a:gradFill>
            <a:gsLst>
              <a:gs pos="0">
                <a:schemeClr val="accent3"/>
              </a:gs>
              <a:gs pos="30000">
                <a:schemeClr val="accent3"/>
              </a:gs>
              <a:gs pos="90000">
                <a:schemeClr val="accent5"/>
              </a:gs>
              <a:gs pos="100000">
                <a:schemeClr val="accent5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" name="Google Shape;233;p41"/>
          <p:cNvPicPr preferRelativeResize="0"/>
          <p:nvPr/>
        </p:nvPicPr>
        <p:blipFill rotWithShape="1">
          <a:blip r:embed="rId2">
            <a:alphaModFix amt="35000"/>
          </a:blip>
          <a:srcRect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41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5" name="Google Shape;235;p41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rom_To_6">
  <p:cSld name="From_To_orange_1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2"/>
          <p:cNvSpPr/>
          <p:nvPr/>
        </p:nvSpPr>
        <p:spPr>
          <a:xfrm>
            <a:off x="6096001" y="0"/>
            <a:ext cx="6096000" cy="6858000"/>
          </a:xfrm>
          <a:prstGeom prst="rect">
            <a:avLst/>
          </a:prstGeom>
          <a:gradFill>
            <a:gsLst>
              <a:gs pos="0">
                <a:srgbClr val="5C00EF"/>
              </a:gs>
              <a:gs pos="30000">
                <a:srgbClr val="5C00EF"/>
              </a:gs>
              <a:gs pos="100000">
                <a:srgbClr val="0060FF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8" name="Google Shape;238;p42"/>
          <p:cNvPicPr preferRelativeResize="0"/>
          <p:nvPr/>
        </p:nvPicPr>
        <p:blipFill rotWithShape="1">
          <a:blip r:embed="rId2">
            <a:alphaModFix amt="35000"/>
          </a:blip>
          <a:srcRect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42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0" name="Google Shape;240;p42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llout_1">
  <p:cSld name="Callout_1">
    <p:bg>
      <p:bgPr>
        <a:gradFill>
          <a:gsLst>
            <a:gs pos="0">
              <a:srgbClr val="5C00EF"/>
            </a:gs>
            <a:gs pos="30000">
              <a:srgbClr val="5C00EF"/>
            </a:gs>
            <a:gs pos="90000">
              <a:srgbClr val="9C43FE"/>
            </a:gs>
            <a:gs pos="100000">
              <a:srgbClr val="9C43FE"/>
            </a:gs>
          </a:gsLst>
          <a:lin ang="2700000" scaled="0"/>
        </a:gra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19"/>
          <p:cNvSpPr txBox="1">
            <a:spLocks noGrp="1"/>
          </p:cNvSpPr>
          <p:nvPr>
            <p:ph type="title"/>
          </p:nvPr>
        </p:nvSpPr>
        <p:spPr>
          <a:xfrm>
            <a:off x="695323" y="4395789"/>
            <a:ext cx="10795002" cy="1881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Roboto"/>
              <a:buNone/>
              <a:defRPr sz="54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9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1571881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background with many symbols&#10;&#10;AI-generated content may be incorrect.">
            <a:extLst>
              <a:ext uri="{FF2B5EF4-FFF2-40B4-BE49-F238E27FC236}">
                <a16:creationId xmlns:a16="http://schemas.microsoft.com/office/drawing/2014/main" id="{1902EB1A-F536-DB1A-492A-25707A94E8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904"/>
            <a:ext cx="12184741" cy="68540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831022"/>
            <a:ext cx="9144000" cy="1544692"/>
          </a:xfrm>
        </p:spPr>
        <p:txBody>
          <a:bodyPr anchor="b">
            <a:normAutofit/>
          </a:bodyPr>
          <a:lstStyle>
            <a:lvl1pPr algn="ctr">
              <a:defRPr sz="489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520104"/>
            <a:ext cx="9144000" cy="60953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3" indent="0" algn="ctr">
              <a:buNone/>
              <a:defRPr sz="2000"/>
            </a:lvl2pPr>
            <a:lvl3pPr marL="914406" indent="0" algn="ctr">
              <a:buNone/>
              <a:defRPr sz="1800"/>
            </a:lvl3pPr>
            <a:lvl4pPr marL="1371609" indent="0" algn="ctr">
              <a:buNone/>
              <a:defRPr sz="1600"/>
            </a:lvl4pPr>
            <a:lvl5pPr marL="1828812" indent="0" algn="ctr">
              <a:buNone/>
              <a:defRPr sz="1600"/>
            </a:lvl5pPr>
            <a:lvl6pPr marL="2286015" indent="0" algn="ctr">
              <a:buNone/>
              <a:defRPr sz="1600"/>
            </a:lvl6pPr>
            <a:lvl7pPr marL="2743218" indent="0" algn="ctr">
              <a:buNone/>
              <a:defRPr sz="1600"/>
            </a:lvl7pPr>
            <a:lvl8pPr marL="3200421" indent="0" algn="ctr">
              <a:buNone/>
              <a:defRPr sz="1600"/>
            </a:lvl8pPr>
            <a:lvl9pPr marL="3657624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0" name="Picture 9" descr="A logo with a person on a horse&#10;&#10;AI-generated content may be incorrect.">
            <a:extLst>
              <a:ext uri="{FF2B5EF4-FFF2-40B4-BE49-F238E27FC236}">
                <a16:creationId xmlns:a16="http://schemas.microsoft.com/office/drawing/2014/main" id="{1E6685CF-7B29-FD32-9A4B-63C406585B2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788189" y="669654"/>
            <a:ext cx="4608363" cy="267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6928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rectangular frame with an orange border&#10;&#10;AI-generated content may be incorrect.">
            <a:extLst>
              <a:ext uri="{FF2B5EF4-FFF2-40B4-BE49-F238E27FC236}">
                <a16:creationId xmlns:a16="http://schemas.microsoft.com/office/drawing/2014/main" id="{DFAE49C3-FD11-96CB-18D5-A42FA61FF1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68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6140361-A8B9-8C6F-33CB-FD8A62C6E0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31022"/>
            <a:ext cx="9144000" cy="1544692"/>
          </a:xfrm>
        </p:spPr>
        <p:txBody>
          <a:bodyPr anchor="b">
            <a:normAutofit/>
          </a:bodyPr>
          <a:lstStyle>
            <a:lvl1pPr algn="ctr">
              <a:defRPr sz="4899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FDB0775-F5CC-0C4D-08EE-A72A1E00C0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20104"/>
            <a:ext cx="9144000" cy="60953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3" indent="0" algn="ctr">
              <a:buNone/>
              <a:defRPr sz="2000"/>
            </a:lvl2pPr>
            <a:lvl3pPr marL="914406" indent="0" algn="ctr">
              <a:buNone/>
              <a:defRPr sz="1800"/>
            </a:lvl3pPr>
            <a:lvl4pPr marL="1371609" indent="0" algn="ctr">
              <a:buNone/>
              <a:defRPr sz="1600"/>
            </a:lvl4pPr>
            <a:lvl5pPr marL="1828812" indent="0" algn="ctr">
              <a:buNone/>
              <a:defRPr sz="1600"/>
            </a:lvl5pPr>
            <a:lvl6pPr marL="2286015" indent="0" algn="ctr">
              <a:buNone/>
              <a:defRPr sz="1600"/>
            </a:lvl6pPr>
            <a:lvl7pPr marL="2743218" indent="0" algn="ctr">
              <a:buNone/>
              <a:defRPr sz="1600"/>
            </a:lvl7pPr>
            <a:lvl8pPr marL="3200421" indent="0" algn="ctr">
              <a:buNone/>
              <a:defRPr sz="1600"/>
            </a:lvl8pPr>
            <a:lvl9pPr marL="3657624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6FA818-26F8-C9FB-E272-FD0948ABED2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44882" y="904654"/>
            <a:ext cx="3902235" cy="21223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0B7E971-29C4-4EB3-3A6A-8F1263D177CA}"/>
              </a:ext>
            </a:extLst>
          </p:cNvPr>
          <p:cNvSpPr txBox="1"/>
          <p:nvPr userDrawn="1"/>
        </p:nvSpPr>
        <p:spPr>
          <a:xfrm>
            <a:off x="4669146" y="3030220"/>
            <a:ext cx="2941831" cy="3715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33" b="1" dirty="0">
                <a:latin typeface="Segoe UI" panose="020B0502040204020203" pitchFamily="34" charset="0"/>
                <a:cs typeface="Segoe UI" panose="020B0502040204020203" pitchFamily="34" charset="0"/>
              </a:rPr>
              <a:t>2026</a:t>
            </a:r>
            <a:r>
              <a:rPr lang="en-US" sz="1814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814" b="1" dirty="0">
                <a:latin typeface="Alegreya Black" pitchFamily="2" charset="0"/>
              </a:rPr>
              <a:t>MEDIEVAL EDITION</a:t>
            </a:r>
          </a:p>
        </p:txBody>
      </p:sp>
    </p:spTree>
    <p:extLst>
      <p:ext uri="{BB962C8B-B14F-4D97-AF65-F5344CB8AC3E}">
        <p14:creationId xmlns:p14="http://schemas.microsoft.com/office/powerpoint/2010/main" val="3942202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black rectangular frame with an orange border&#10;&#10;AI-generated content may be incorrect.">
            <a:extLst>
              <a:ext uri="{FF2B5EF4-FFF2-40B4-BE49-F238E27FC236}">
                <a16:creationId xmlns:a16="http://schemas.microsoft.com/office/drawing/2014/main" id="{9196C838-1DC3-4544-70FA-5F5EBC70C3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68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649" y="433545"/>
            <a:ext cx="10886542" cy="873680"/>
          </a:xfrm>
        </p:spPr>
        <p:txBody>
          <a:bodyPr>
            <a:normAutofit/>
          </a:bodyPr>
          <a:lstStyle>
            <a:lvl1pPr>
              <a:defRPr sz="3992">
                <a:latin typeface="DS Wallau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648" y="1390172"/>
            <a:ext cx="10886542" cy="46853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7" name="Picture 16" descr="A yellow letter on a white background&#10;&#10;AI-generated content may be incorrect.">
            <a:extLst>
              <a:ext uri="{FF2B5EF4-FFF2-40B4-BE49-F238E27FC236}">
                <a16:creationId xmlns:a16="http://schemas.microsoft.com/office/drawing/2014/main" id="{4AAC9E8E-F608-A616-7B95-02FF086E952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77623" y="6156182"/>
            <a:ext cx="1110038" cy="18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1579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649" y="433545"/>
            <a:ext cx="10886542" cy="873680"/>
          </a:xfrm>
        </p:spPr>
        <p:txBody>
          <a:bodyPr>
            <a:normAutofit/>
          </a:bodyPr>
          <a:lstStyle>
            <a:lvl1pPr>
              <a:defRPr sz="3992">
                <a:latin typeface="DS Wallau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648" y="1390172"/>
            <a:ext cx="10886542" cy="46853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7" name="Picture 16" descr="A yellow letter on a white background&#10;&#10;AI-generated content may be incorrect.">
            <a:extLst>
              <a:ext uri="{FF2B5EF4-FFF2-40B4-BE49-F238E27FC236}">
                <a16:creationId xmlns:a16="http://schemas.microsoft.com/office/drawing/2014/main" id="{4AAC9E8E-F608-A616-7B95-02FF086E95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74398" y="6494905"/>
            <a:ext cx="1110038" cy="18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8257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7495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01165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3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6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12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15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18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2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2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A yellow letter on a white background&#10;&#10;AI-generated content may be incorrect.">
            <a:extLst>
              <a:ext uri="{FF2B5EF4-FFF2-40B4-BE49-F238E27FC236}">
                <a16:creationId xmlns:a16="http://schemas.microsoft.com/office/drawing/2014/main" id="{D67C59FF-DA45-72AE-E6C1-C23B16B837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74398" y="6494905"/>
            <a:ext cx="1110038" cy="18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7641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Picture 7" descr="A yellow letter on a white background&#10;&#10;AI-generated content may be incorrect.">
            <a:extLst>
              <a:ext uri="{FF2B5EF4-FFF2-40B4-BE49-F238E27FC236}">
                <a16:creationId xmlns:a16="http://schemas.microsoft.com/office/drawing/2014/main" id="{12F15329-9985-5A8C-BBE8-A37A07ED3C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74398" y="6494905"/>
            <a:ext cx="1110038" cy="18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7628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3" indent="0">
              <a:buNone/>
              <a:defRPr sz="2000" b="1"/>
            </a:lvl2pPr>
            <a:lvl3pPr marL="914406" indent="0">
              <a:buNone/>
              <a:defRPr sz="1800" b="1"/>
            </a:lvl3pPr>
            <a:lvl4pPr marL="1371609" indent="0">
              <a:buNone/>
              <a:defRPr sz="1600" b="1"/>
            </a:lvl4pPr>
            <a:lvl5pPr marL="1828812" indent="0">
              <a:buNone/>
              <a:defRPr sz="1600" b="1"/>
            </a:lvl5pPr>
            <a:lvl6pPr marL="2286015" indent="0">
              <a:buNone/>
              <a:defRPr sz="1600" b="1"/>
            </a:lvl6pPr>
            <a:lvl7pPr marL="2743218" indent="0">
              <a:buNone/>
              <a:defRPr sz="1600" b="1"/>
            </a:lvl7pPr>
            <a:lvl8pPr marL="3200421" indent="0">
              <a:buNone/>
              <a:defRPr sz="1600" b="1"/>
            </a:lvl8pPr>
            <a:lvl9pPr marL="365762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3" indent="0">
              <a:buNone/>
              <a:defRPr sz="2000" b="1"/>
            </a:lvl2pPr>
            <a:lvl3pPr marL="914406" indent="0">
              <a:buNone/>
              <a:defRPr sz="1800" b="1"/>
            </a:lvl3pPr>
            <a:lvl4pPr marL="1371609" indent="0">
              <a:buNone/>
              <a:defRPr sz="1600" b="1"/>
            </a:lvl4pPr>
            <a:lvl5pPr marL="1828812" indent="0">
              <a:buNone/>
              <a:defRPr sz="1600" b="1"/>
            </a:lvl5pPr>
            <a:lvl6pPr marL="2286015" indent="0">
              <a:buNone/>
              <a:defRPr sz="1600" b="1"/>
            </a:lvl6pPr>
            <a:lvl7pPr marL="2743218" indent="0">
              <a:buNone/>
              <a:defRPr sz="1600" b="1"/>
            </a:lvl7pPr>
            <a:lvl8pPr marL="3200421" indent="0">
              <a:buNone/>
              <a:defRPr sz="1600" b="1"/>
            </a:lvl8pPr>
            <a:lvl9pPr marL="365762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617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rectangular frame with an orange border&#10;&#10;AI-generated content may be incorrect.">
            <a:extLst>
              <a:ext uri="{FF2B5EF4-FFF2-40B4-BE49-F238E27FC236}">
                <a16:creationId xmlns:a16="http://schemas.microsoft.com/office/drawing/2014/main" id="{4D1255D9-DB33-2965-363C-00F2557C23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0" y="0"/>
            <a:ext cx="12191680" cy="6858000"/>
          </a:xfrm>
          <a:prstGeom prst="rect">
            <a:avLst/>
          </a:prstGeom>
        </p:spPr>
      </p:pic>
      <p:pic>
        <p:nvPicPr>
          <p:cNvPr id="8" name="Picture 7" descr="A yellow letter on a white background&#10;&#10;AI-generated content may be incorrect.">
            <a:extLst>
              <a:ext uri="{FF2B5EF4-FFF2-40B4-BE49-F238E27FC236}">
                <a16:creationId xmlns:a16="http://schemas.microsoft.com/office/drawing/2014/main" id="{622E7BF1-7CD5-6D5E-D187-C08AAF571F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77623" y="6156182"/>
            <a:ext cx="1110038" cy="1820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074" y="471821"/>
            <a:ext cx="11115587" cy="700959"/>
          </a:xfrm>
        </p:spPr>
        <p:txBody>
          <a:bodyPr>
            <a:normAutofit/>
          </a:bodyPr>
          <a:lstStyle>
            <a:lvl1pPr>
              <a:defRPr sz="3266">
                <a:latin typeface="DS Wallau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1348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074" y="471821"/>
            <a:ext cx="11115587" cy="700959"/>
          </a:xfrm>
        </p:spPr>
        <p:txBody>
          <a:bodyPr>
            <a:normAutofit/>
          </a:bodyPr>
          <a:lstStyle>
            <a:lvl1pPr>
              <a:defRPr sz="3266">
                <a:latin typeface="DS Wallau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A yellow letter on a white background&#10;&#10;AI-generated content may be incorrect.">
            <a:extLst>
              <a:ext uri="{FF2B5EF4-FFF2-40B4-BE49-F238E27FC236}">
                <a16:creationId xmlns:a16="http://schemas.microsoft.com/office/drawing/2014/main" id="{D509C700-536C-AF8B-34C4-D50DC6E2EB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74398" y="6494905"/>
            <a:ext cx="1110038" cy="18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5668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yellow letter on a white background&#10;&#10;AI-generated content may be incorrect.">
            <a:extLst>
              <a:ext uri="{FF2B5EF4-FFF2-40B4-BE49-F238E27FC236}">
                <a16:creationId xmlns:a16="http://schemas.microsoft.com/office/drawing/2014/main" id="{29B1098A-3DD4-CD9F-F7AE-B6A37F61E9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74398" y="6494905"/>
            <a:ext cx="1110038" cy="18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81098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3" indent="0">
              <a:buNone/>
              <a:defRPr sz="1400"/>
            </a:lvl2pPr>
            <a:lvl3pPr marL="914406" indent="0">
              <a:buNone/>
              <a:defRPr sz="1200"/>
            </a:lvl3pPr>
            <a:lvl4pPr marL="1371609" indent="0">
              <a:buNone/>
              <a:defRPr sz="1000"/>
            </a:lvl4pPr>
            <a:lvl5pPr marL="1828812" indent="0">
              <a:buNone/>
              <a:defRPr sz="1000"/>
            </a:lvl5pPr>
            <a:lvl6pPr marL="2286015" indent="0">
              <a:buNone/>
              <a:defRPr sz="1000"/>
            </a:lvl6pPr>
            <a:lvl7pPr marL="2743218" indent="0">
              <a:buNone/>
              <a:defRPr sz="1000"/>
            </a:lvl7pPr>
            <a:lvl8pPr marL="3200421" indent="0">
              <a:buNone/>
              <a:defRPr sz="1000"/>
            </a:lvl8pPr>
            <a:lvl9pPr marL="3657624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A yellow letter on a white background&#10;&#10;AI-generated content may be incorrect.">
            <a:extLst>
              <a:ext uri="{FF2B5EF4-FFF2-40B4-BE49-F238E27FC236}">
                <a16:creationId xmlns:a16="http://schemas.microsoft.com/office/drawing/2014/main" id="{A41C9F9B-2471-681D-B973-66552767B5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74398" y="6494905"/>
            <a:ext cx="1110038" cy="18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4202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3" indent="0">
              <a:buNone/>
              <a:defRPr sz="2800"/>
            </a:lvl2pPr>
            <a:lvl3pPr marL="914406" indent="0">
              <a:buNone/>
              <a:defRPr sz="2400"/>
            </a:lvl3pPr>
            <a:lvl4pPr marL="1371609" indent="0">
              <a:buNone/>
              <a:defRPr sz="2000"/>
            </a:lvl4pPr>
            <a:lvl5pPr marL="1828812" indent="0">
              <a:buNone/>
              <a:defRPr sz="2000"/>
            </a:lvl5pPr>
            <a:lvl6pPr marL="2286015" indent="0">
              <a:buNone/>
              <a:defRPr sz="2000"/>
            </a:lvl6pPr>
            <a:lvl7pPr marL="2743218" indent="0">
              <a:buNone/>
              <a:defRPr sz="2000"/>
            </a:lvl7pPr>
            <a:lvl8pPr marL="3200421" indent="0">
              <a:buNone/>
              <a:defRPr sz="2000"/>
            </a:lvl8pPr>
            <a:lvl9pPr marL="3657624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3" indent="0">
              <a:buNone/>
              <a:defRPr sz="1400"/>
            </a:lvl2pPr>
            <a:lvl3pPr marL="914406" indent="0">
              <a:buNone/>
              <a:defRPr sz="1200"/>
            </a:lvl3pPr>
            <a:lvl4pPr marL="1371609" indent="0">
              <a:buNone/>
              <a:defRPr sz="1000"/>
            </a:lvl4pPr>
            <a:lvl5pPr marL="1828812" indent="0">
              <a:buNone/>
              <a:defRPr sz="1000"/>
            </a:lvl5pPr>
            <a:lvl6pPr marL="2286015" indent="0">
              <a:buNone/>
              <a:defRPr sz="1000"/>
            </a:lvl6pPr>
            <a:lvl7pPr marL="2743218" indent="0">
              <a:buNone/>
              <a:defRPr sz="1000"/>
            </a:lvl7pPr>
            <a:lvl8pPr marL="3200421" indent="0">
              <a:buNone/>
              <a:defRPr sz="1000"/>
            </a:lvl8pPr>
            <a:lvl9pPr marL="3657624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A yellow letter on a white background&#10;&#10;AI-generated content may be incorrect.">
            <a:extLst>
              <a:ext uri="{FF2B5EF4-FFF2-40B4-BE49-F238E27FC236}">
                <a16:creationId xmlns:a16="http://schemas.microsoft.com/office/drawing/2014/main" id="{1CF946C4-0F63-472B-26BD-598434F717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74398" y="6494905"/>
            <a:ext cx="1110038" cy="18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83906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 descr="A yellow letter on a white background&#10;&#10;AI-generated content may be incorrect.">
            <a:extLst>
              <a:ext uri="{FF2B5EF4-FFF2-40B4-BE49-F238E27FC236}">
                <a16:creationId xmlns:a16="http://schemas.microsoft.com/office/drawing/2014/main" id="{FEC22D41-9982-B266-6FD5-5801102B5B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74398" y="6494905"/>
            <a:ext cx="1110038" cy="18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38708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6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 descr="A yellow letter on a white background&#10;&#10;AI-generated content may be incorrect.">
            <a:extLst>
              <a:ext uri="{FF2B5EF4-FFF2-40B4-BE49-F238E27FC236}">
                <a16:creationId xmlns:a16="http://schemas.microsoft.com/office/drawing/2014/main" id="{E83D6C74-A258-C7FA-C654-49C7EA25BE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74398" y="6494905"/>
            <a:ext cx="1110038" cy="18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763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0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1" name="Google Shape;11;p1"/>
            <p:cNvPicPr preferRelativeResize="0"/>
            <p:nvPr/>
          </p:nvPicPr>
          <p:blipFill rotWithShape="1">
            <a:blip r:embed="rId20">
              <a:alphaModFix amt="40000"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2;p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49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3" name="Google Shape;13;p1"/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5002" cy="868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  <a:defRPr sz="36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body" idx="1"/>
          </p:nvPr>
        </p:nvSpPr>
        <p:spPr>
          <a:xfrm>
            <a:off x="695325" y="1427163"/>
            <a:ext cx="10794900" cy="48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286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>
            <a:off x="695325" y="6508466"/>
            <a:ext cx="10795000" cy="34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69EA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69EA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69EA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69EA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69EA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69EA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69EA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69EA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69EA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7" name="Google Shape;17;p1"/>
          <p:cNvGrpSpPr/>
          <p:nvPr/>
        </p:nvGrpSpPr>
        <p:grpSpPr>
          <a:xfrm>
            <a:off x="0" y="-710591"/>
            <a:ext cx="4109466" cy="479100"/>
            <a:chOff x="-154430" y="-626779"/>
            <a:chExt cx="4109466" cy="479100"/>
          </a:xfrm>
        </p:grpSpPr>
        <p:sp>
          <p:nvSpPr>
            <p:cNvPr id="18" name="Google Shape;18;p1"/>
            <p:cNvSpPr/>
            <p:nvPr/>
          </p:nvSpPr>
          <p:spPr>
            <a:xfrm>
              <a:off x="-154430" y="-626779"/>
              <a:ext cx="479100" cy="479100"/>
            </a:xfrm>
            <a:prstGeom prst="ellipse">
              <a:avLst/>
            </a:prstGeom>
            <a:gradFill>
              <a:gsLst>
                <a:gs pos="0">
                  <a:srgbClr val="5C00EF"/>
                </a:gs>
                <a:gs pos="30000">
                  <a:srgbClr val="5C00EF"/>
                </a:gs>
                <a:gs pos="90000">
                  <a:srgbClr val="9C43FE"/>
                </a:gs>
                <a:gs pos="100000">
                  <a:srgbClr val="9C43FE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450631" y="-626779"/>
              <a:ext cx="479100" cy="479100"/>
            </a:xfrm>
            <a:prstGeom prst="ellipse">
              <a:avLst/>
            </a:prstGeom>
            <a:gradFill>
              <a:gsLst>
                <a:gs pos="0">
                  <a:srgbClr val="5C00EF"/>
                </a:gs>
                <a:gs pos="30000">
                  <a:srgbClr val="5C00EF"/>
                </a:gs>
                <a:gs pos="100000">
                  <a:srgbClr val="0060FF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SzPts val="100"/>
                <a:buNone/>
              </a:pPr>
              <a:endParaRPr sz="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1055692" y="-626779"/>
              <a:ext cx="479100" cy="479100"/>
            </a:xfrm>
            <a:prstGeom prst="ellipse">
              <a:avLst/>
            </a:prstGeom>
            <a:gradFill>
              <a:gsLst>
                <a:gs pos="0">
                  <a:srgbClr val="0060FF"/>
                </a:gs>
                <a:gs pos="30000">
                  <a:srgbClr val="0060FF"/>
                </a:gs>
                <a:gs pos="90000">
                  <a:srgbClr val="00CAFF"/>
                </a:gs>
                <a:gs pos="100000">
                  <a:srgbClr val="00CAFF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1660753" y="-626779"/>
              <a:ext cx="479100" cy="479100"/>
            </a:xfrm>
            <a:prstGeom prst="ellipse">
              <a:avLst/>
            </a:prstGeom>
            <a:gradFill>
              <a:gsLst>
                <a:gs pos="0">
                  <a:srgbClr val="00B765"/>
                </a:gs>
                <a:gs pos="30000">
                  <a:srgbClr val="00B765"/>
                </a:gs>
                <a:gs pos="90000">
                  <a:srgbClr val="00CAFF"/>
                </a:gs>
                <a:gs pos="100000">
                  <a:srgbClr val="00CAFF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800">
                <a:solidFill>
                  <a:srgbClr val="FFFFFF"/>
                </a:solidFill>
              </a:endParaRPr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2265814" y="-626779"/>
              <a:ext cx="479100" cy="4791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90000">
                  <a:srgbClr val="FF0080"/>
                </a:gs>
                <a:gs pos="100000">
                  <a:srgbClr val="FF0080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2870875" y="-626779"/>
              <a:ext cx="479100" cy="479100"/>
            </a:xfrm>
            <a:prstGeom prst="ellipse">
              <a:avLst/>
            </a:prstGeom>
            <a:gradFill>
              <a:gsLst>
                <a:gs pos="0">
                  <a:srgbClr val="FF0080"/>
                </a:gs>
                <a:gs pos="30000">
                  <a:srgbClr val="FF0080"/>
                </a:gs>
                <a:gs pos="90000">
                  <a:srgbClr val="FF5E00"/>
                </a:gs>
                <a:gs pos="100000">
                  <a:srgbClr val="FF5E00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rgbClr val="FFFFFF"/>
                </a:solidFill>
              </a:endParaRPr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3475936" y="-626779"/>
              <a:ext cx="479100" cy="479100"/>
            </a:xfrm>
            <a:prstGeom prst="ellipse">
              <a:avLst/>
            </a:prstGeom>
            <a:gradFill>
              <a:gsLst>
                <a:gs pos="0">
                  <a:srgbClr val="FF5E00"/>
                </a:gs>
                <a:gs pos="30000">
                  <a:srgbClr val="FF5E00"/>
                </a:gs>
                <a:gs pos="90000">
                  <a:srgbClr val="FF9B00"/>
                </a:gs>
                <a:gs pos="100000">
                  <a:srgbClr val="FF9B00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rgbClr val="FFFFFF"/>
                </a:solidFill>
              </a:endParaRPr>
            </a:p>
          </p:txBody>
        </p:sp>
      </p:grpSp>
      <p:sp>
        <p:nvSpPr>
          <p:cNvPr id="25" name="Google Shape;25;p1"/>
          <p:cNvSpPr/>
          <p:nvPr/>
        </p:nvSpPr>
        <p:spPr>
          <a:xfrm>
            <a:off x="10585766" y="6450775"/>
            <a:ext cx="1080114" cy="274790"/>
          </a:xfrm>
          <a:custGeom>
            <a:avLst/>
            <a:gdLst/>
            <a:ahLst/>
            <a:cxnLst/>
            <a:rect l="l" t="t" r="r" b="b"/>
            <a:pathLst>
              <a:path w="1903285" h="482088" extrusionOk="0">
                <a:moveTo>
                  <a:pt x="407670" y="278511"/>
                </a:moveTo>
                <a:lnTo>
                  <a:pt x="418529" y="394907"/>
                </a:lnTo>
                <a:lnTo>
                  <a:pt x="232219" y="429292"/>
                </a:lnTo>
                <a:lnTo>
                  <a:pt x="230505" y="412814"/>
                </a:lnTo>
                <a:lnTo>
                  <a:pt x="264795" y="360521"/>
                </a:lnTo>
                <a:lnTo>
                  <a:pt x="303752" y="371856"/>
                </a:lnTo>
                <a:lnTo>
                  <a:pt x="337185" y="315944"/>
                </a:lnTo>
                <a:lnTo>
                  <a:pt x="377213" y="342377"/>
                </a:lnTo>
                <a:lnTo>
                  <a:pt x="377190" y="342424"/>
                </a:lnTo>
                <a:lnTo>
                  <a:pt x="377285" y="342424"/>
                </a:lnTo>
                <a:lnTo>
                  <a:pt x="377213" y="342377"/>
                </a:lnTo>
                <a:close/>
                <a:moveTo>
                  <a:pt x="419005" y="254699"/>
                </a:moveTo>
                <a:lnTo>
                  <a:pt x="296513" y="276892"/>
                </a:lnTo>
                <a:cubicBezTo>
                  <a:pt x="293560" y="280797"/>
                  <a:pt x="286036" y="287655"/>
                  <a:pt x="282416" y="289465"/>
                </a:cubicBezTo>
                <a:cubicBezTo>
                  <a:pt x="266986" y="297180"/>
                  <a:pt x="256508" y="294989"/>
                  <a:pt x="247459" y="292608"/>
                </a:cubicBezTo>
                <a:cubicBezTo>
                  <a:pt x="241649" y="291179"/>
                  <a:pt x="238315" y="290322"/>
                  <a:pt x="233458" y="288131"/>
                </a:cubicBezTo>
                <a:lnTo>
                  <a:pt x="203549" y="292227"/>
                </a:lnTo>
                <a:lnTo>
                  <a:pt x="203549" y="292322"/>
                </a:lnTo>
                <a:lnTo>
                  <a:pt x="221647" y="443770"/>
                </a:lnTo>
                <a:lnTo>
                  <a:pt x="431482" y="405956"/>
                </a:lnTo>
                <a:close/>
                <a:moveTo>
                  <a:pt x="325850" y="205645"/>
                </a:moveTo>
                <a:cubicBezTo>
                  <a:pt x="329470" y="207645"/>
                  <a:pt x="329470" y="213836"/>
                  <a:pt x="326993" y="219646"/>
                </a:cubicBezTo>
                <a:cubicBezTo>
                  <a:pt x="323374" y="228029"/>
                  <a:pt x="318230" y="237268"/>
                  <a:pt x="312420" y="238030"/>
                </a:cubicBezTo>
                <a:cubicBezTo>
                  <a:pt x="302895" y="239363"/>
                  <a:pt x="293941" y="234220"/>
                  <a:pt x="283655" y="226504"/>
                </a:cubicBezTo>
                <a:cubicBezTo>
                  <a:pt x="280035" y="223742"/>
                  <a:pt x="277749" y="217075"/>
                  <a:pt x="282702" y="213265"/>
                </a:cubicBezTo>
                <a:cubicBezTo>
                  <a:pt x="285369" y="211074"/>
                  <a:pt x="297847" y="207074"/>
                  <a:pt x="309372" y="205740"/>
                </a:cubicBezTo>
                <a:cubicBezTo>
                  <a:pt x="315373" y="205073"/>
                  <a:pt x="324040" y="204597"/>
                  <a:pt x="325850" y="205645"/>
                </a:cubicBezTo>
                <a:close/>
                <a:moveTo>
                  <a:pt x="1328928" y="171735"/>
                </a:moveTo>
                <a:lnTo>
                  <a:pt x="1328928" y="310705"/>
                </a:lnTo>
                <a:lnTo>
                  <a:pt x="1374171" y="310705"/>
                </a:lnTo>
                <a:cubicBezTo>
                  <a:pt x="1416748" y="310705"/>
                  <a:pt x="1438084" y="285655"/>
                  <a:pt x="1438084" y="235648"/>
                </a:cubicBezTo>
                <a:cubicBezTo>
                  <a:pt x="1438084" y="193072"/>
                  <a:pt x="1416748" y="171735"/>
                  <a:pt x="1374171" y="171735"/>
                </a:cubicBezTo>
                <a:close/>
                <a:moveTo>
                  <a:pt x="569023" y="171735"/>
                </a:moveTo>
                <a:lnTo>
                  <a:pt x="569023" y="310705"/>
                </a:lnTo>
                <a:lnTo>
                  <a:pt x="614266" y="310705"/>
                </a:lnTo>
                <a:cubicBezTo>
                  <a:pt x="656843" y="310705"/>
                  <a:pt x="678084" y="285655"/>
                  <a:pt x="678084" y="235648"/>
                </a:cubicBezTo>
                <a:cubicBezTo>
                  <a:pt x="678084" y="193072"/>
                  <a:pt x="656843" y="171735"/>
                  <a:pt x="614266" y="171735"/>
                </a:cubicBezTo>
                <a:close/>
                <a:moveTo>
                  <a:pt x="1604962" y="170116"/>
                </a:moveTo>
                <a:cubicBezTo>
                  <a:pt x="1563623" y="170116"/>
                  <a:pt x="1541430" y="193548"/>
                  <a:pt x="1541430" y="240506"/>
                </a:cubicBezTo>
                <a:cubicBezTo>
                  <a:pt x="1541430" y="287464"/>
                  <a:pt x="1562576" y="311944"/>
                  <a:pt x="1604962" y="311944"/>
                </a:cubicBezTo>
                <a:cubicBezTo>
                  <a:pt x="1646300" y="311944"/>
                  <a:pt x="1666969" y="288131"/>
                  <a:pt x="1666969" y="240506"/>
                </a:cubicBezTo>
                <a:cubicBezTo>
                  <a:pt x="1666969" y="192881"/>
                  <a:pt x="1646300" y="170116"/>
                  <a:pt x="1604962" y="170116"/>
                </a:cubicBezTo>
                <a:close/>
                <a:moveTo>
                  <a:pt x="215075" y="143066"/>
                </a:moveTo>
                <a:cubicBezTo>
                  <a:pt x="221409" y="143185"/>
                  <a:pt x="225457" y="144971"/>
                  <a:pt x="223838" y="146495"/>
                </a:cubicBezTo>
                <a:cubicBezTo>
                  <a:pt x="217646" y="152400"/>
                  <a:pt x="225933" y="150686"/>
                  <a:pt x="226790" y="161544"/>
                </a:cubicBezTo>
                <a:cubicBezTo>
                  <a:pt x="227457" y="169545"/>
                  <a:pt x="224885" y="174022"/>
                  <a:pt x="222599" y="176498"/>
                </a:cubicBezTo>
                <a:cubicBezTo>
                  <a:pt x="217837" y="177070"/>
                  <a:pt x="212122" y="178308"/>
                  <a:pt x="205264" y="180499"/>
                </a:cubicBezTo>
                <a:cubicBezTo>
                  <a:pt x="201168" y="181833"/>
                  <a:pt x="197644" y="183356"/>
                  <a:pt x="194500" y="184785"/>
                </a:cubicBezTo>
                <a:cubicBezTo>
                  <a:pt x="193643" y="184214"/>
                  <a:pt x="192786" y="183642"/>
                  <a:pt x="191738" y="182690"/>
                </a:cubicBezTo>
                <a:cubicBezTo>
                  <a:pt x="181165" y="173450"/>
                  <a:pt x="181451" y="157258"/>
                  <a:pt x="192596" y="149638"/>
                </a:cubicBezTo>
                <a:cubicBezTo>
                  <a:pt x="200121" y="144495"/>
                  <a:pt x="208741" y="142947"/>
                  <a:pt x="215075" y="143066"/>
                </a:cubicBezTo>
                <a:close/>
                <a:moveTo>
                  <a:pt x="1290923" y="138779"/>
                </a:moveTo>
                <a:lnTo>
                  <a:pt x="1379886" y="138779"/>
                </a:lnTo>
                <a:cubicBezTo>
                  <a:pt x="1443990" y="138779"/>
                  <a:pt x="1476089" y="171069"/>
                  <a:pt x="1476089" y="235648"/>
                </a:cubicBezTo>
                <a:cubicBezTo>
                  <a:pt x="1476089" y="307657"/>
                  <a:pt x="1444085" y="343662"/>
                  <a:pt x="1379886" y="343662"/>
                </a:cubicBezTo>
                <a:lnTo>
                  <a:pt x="1379886" y="343567"/>
                </a:lnTo>
                <a:lnTo>
                  <a:pt x="1290923" y="343567"/>
                </a:lnTo>
                <a:close/>
                <a:moveTo>
                  <a:pt x="531018" y="138779"/>
                </a:moveTo>
                <a:lnTo>
                  <a:pt x="619981" y="138779"/>
                </a:lnTo>
                <a:cubicBezTo>
                  <a:pt x="684085" y="138779"/>
                  <a:pt x="716184" y="171069"/>
                  <a:pt x="716184" y="235648"/>
                </a:cubicBezTo>
                <a:cubicBezTo>
                  <a:pt x="716184" y="307657"/>
                  <a:pt x="684085" y="343662"/>
                  <a:pt x="619981" y="343662"/>
                </a:cubicBezTo>
                <a:lnTo>
                  <a:pt x="619981" y="343567"/>
                </a:lnTo>
                <a:lnTo>
                  <a:pt x="531018" y="343567"/>
                </a:lnTo>
                <a:close/>
                <a:moveTo>
                  <a:pt x="1135760" y="138684"/>
                </a:moveTo>
                <a:lnTo>
                  <a:pt x="1176718" y="138684"/>
                </a:lnTo>
                <a:lnTo>
                  <a:pt x="1265681" y="343567"/>
                </a:lnTo>
                <a:lnTo>
                  <a:pt x="1224724" y="343567"/>
                </a:lnTo>
                <a:lnTo>
                  <a:pt x="1198911" y="287655"/>
                </a:lnTo>
                <a:lnTo>
                  <a:pt x="1133189" y="287655"/>
                </a:lnTo>
                <a:lnTo>
                  <a:pt x="1146238" y="254699"/>
                </a:lnTo>
                <a:lnTo>
                  <a:pt x="1188910" y="254699"/>
                </a:lnTo>
                <a:lnTo>
                  <a:pt x="1155287" y="177832"/>
                </a:lnTo>
                <a:lnTo>
                  <a:pt x="1087754" y="343567"/>
                </a:lnTo>
                <a:lnTo>
                  <a:pt x="1048702" y="343567"/>
                </a:lnTo>
                <a:close/>
                <a:moveTo>
                  <a:pt x="912495" y="138684"/>
                </a:moveTo>
                <a:lnTo>
                  <a:pt x="1068229" y="138684"/>
                </a:lnTo>
                <a:lnTo>
                  <a:pt x="1068229" y="171641"/>
                </a:lnTo>
                <a:lnTo>
                  <a:pt x="1009364" y="171641"/>
                </a:lnTo>
                <a:lnTo>
                  <a:pt x="1009364" y="343567"/>
                </a:lnTo>
                <a:lnTo>
                  <a:pt x="971359" y="343567"/>
                </a:lnTo>
                <a:lnTo>
                  <a:pt x="971359" y="171641"/>
                </a:lnTo>
                <a:lnTo>
                  <a:pt x="912495" y="171641"/>
                </a:lnTo>
                <a:close/>
                <a:moveTo>
                  <a:pt x="804005" y="138684"/>
                </a:moveTo>
                <a:lnTo>
                  <a:pt x="844962" y="138684"/>
                </a:lnTo>
                <a:lnTo>
                  <a:pt x="933926" y="343567"/>
                </a:lnTo>
                <a:lnTo>
                  <a:pt x="893063" y="343567"/>
                </a:lnTo>
                <a:lnTo>
                  <a:pt x="867250" y="287655"/>
                </a:lnTo>
                <a:lnTo>
                  <a:pt x="801528" y="287655"/>
                </a:lnTo>
                <a:lnTo>
                  <a:pt x="814577" y="254699"/>
                </a:lnTo>
                <a:lnTo>
                  <a:pt x="857154" y="254699"/>
                </a:lnTo>
                <a:lnTo>
                  <a:pt x="823626" y="177832"/>
                </a:lnTo>
                <a:lnTo>
                  <a:pt x="755999" y="343567"/>
                </a:lnTo>
                <a:lnTo>
                  <a:pt x="716946" y="343567"/>
                </a:lnTo>
                <a:close/>
                <a:moveTo>
                  <a:pt x="1842896" y="137350"/>
                </a:moveTo>
                <a:cubicBezTo>
                  <a:pt x="1865375" y="137350"/>
                  <a:pt x="1885473" y="140684"/>
                  <a:pt x="1903189" y="147351"/>
                </a:cubicBezTo>
                <a:lnTo>
                  <a:pt x="1903189" y="181737"/>
                </a:lnTo>
                <a:cubicBezTo>
                  <a:pt x="1885473" y="174021"/>
                  <a:pt x="1866327" y="170211"/>
                  <a:pt x="1845754" y="170211"/>
                </a:cubicBezTo>
                <a:cubicBezTo>
                  <a:pt x="1796510" y="170211"/>
                  <a:pt x="1771840" y="192881"/>
                  <a:pt x="1771840" y="238315"/>
                </a:cubicBezTo>
                <a:cubicBezTo>
                  <a:pt x="1771840" y="287464"/>
                  <a:pt x="1795081" y="312038"/>
                  <a:pt x="1841563" y="312038"/>
                </a:cubicBezTo>
                <a:cubicBezTo>
                  <a:pt x="1848420" y="312038"/>
                  <a:pt x="1856326" y="310896"/>
                  <a:pt x="1865089" y="308610"/>
                </a:cubicBezTo>
                <a:lnTo>
                  <a:pt x="1865089" y="260889"/>
                </a:lnTo>
                <a:lnTo>
                  <a:pt x="1865280" y="260889"/>
                </a:lnTo>
                <a:lnTo>
                  <a:pt x="1865089" y="260604"/>
                </a:lnTo>
                <a:lnTo>
                  <a:pt x="1865089" y="260889"/>
                </a:lnTo>
                <a:lnTo>
                  <a:pt x="1828990" y="260889"/>
                </a:lnTo>
                <a:lnTo>
                  <a:pt x="1841848" y="227171"/>
                </a:lnTo>
                <a:lnTo>
                  <a:pt x="1903285" y="227171"/>
                </a:lnTo>
                <a:lnTo>
                  <a:pt x="1903285" y="334327"/>
                </a:lnTo>
                <a:cubicBezTo>
                  <a:pt x="1886711" y="341566"/>
                  <a:pt x="1866042" y="345186"/>
                  <a:pt x="1841087" y="345186"/>
                </a:cubicBezTo>
                <a:cubicBezTo>
                  <a:pt x="1768601" y="345186"/>
                  <a:pt x="1732406" y="309562"/>
                  <a:pt x="1732406" y="238410"/>
                </a:cubicBezTo>
                <a:cubicBezTo>
                  <a:pt x="1732406" y="170973"/>
                  <a:pt x="1769268" y="137350"/>
                  <a:pt x="1842896" y="137350"/>
                </a:cubicBezTo>
                <a:close/>
                <a:moveTo>
                  <a:pt x="1604962" y="137160"/>
                </a:moveTo>
                <a:cubicBezTo>
                  <a:pt x="1673637" y="137160"/>
                  <a:pt x="1706403" y="171831"/>
                  <a:pt x="1706403" y="241364"/>
                </a:cubicBezTo>
                <a:cubicBezTo>
                  <a:pt x="1706403" y="310896"/>
                  <a:pt x="1672589" y="344995"/>
                  <a:pt x="1604962" y="344995"/>
                </a:cubicBezTo>
                <a:cubicBezTo>
                  <a:pt x="1537334" y="344995"/>
                  <a:pt x="1504949" y="310420"/>
                  <a:pt x="1501901" y="241364"/>
                </a:cubicBezTo>
                <a:cubicBezTo>
                  <a:pt x="1501901" y="171926"/>
                  <a:pt x="1536287" y="137160"/>
                  <a:pt x="1604962" y="137160"/>
                </a:cubicBezTo>
                <a:close/>
                <a:moveTo>
                  <a:pt x="300038" y="131826"/>
                </a:moveTo>
                <a:cubicBezTo>
                  <a:pt x="314039" y="138398"/>
                  <a:pt x="312230" y="150781"/>
                  <a:pt x="312610" y="158115"/>
                </a:cubicBezTo>
                <a:cubicBezTo>
                  <a:pt x="312706" y="160211"/>
                  <a:pt x="312706" y="161639"/>
                  <a:pt x="312515" y="162592"/>
                </a:cubicBezTo>
                <a:cubicBezTo>
                  <a:pt x="310515" y="161544"/>
                  <a:pt x="307467" y="160782"/>
                  <a:pt x="302609" y="160973"/>
                </a:cubicBezTo>
                <a:cubicBezTo>
                  <a:pt x="301180" y="161068"/>
                  <a:pt x="299752" y="161258"/>
                  <a:pt x="298418" y="161449"/>
                </a:cubicBezTo>
                <a:cubicBezTo>
                  <a:pt x="293275" y="158687"/>
                  <a:pt x="290227" y="153258"/>
                  <a:pt x="287369" y="147447"/>
                </a:cubicBezTo>
                <a:lnTo>
                  <a:pt x="286702" y="146018"/>
                </a:lnTo>
                <a:lnTo>
                  <a:pt x="286321" y="145352"/>
                </a:lnTo>
                <a:lnTo>
                  <a:pt x="286321" y="145066"/>
                </a:lnTo>
                <a:cubicBezTo>
                  <a:pt x="284797" y="140113"/>
                  <a:pt x="285845" y="139160"/>
                  <a:pt x="286512" y="137636"/>
                </a:cubicBezTo>
                <a:lnTo>
                  <a:pt x="286512" y="137541"/>
                </a:lnTo>
                <a:cubicBezTo>
                  <a:pt x="287179" y="136017"/>
                  <a:pt x="289655" y="134779"/>
                  <a:pt x="285940" y="133445"/>
                </a:cubicBezTo>
                <a:cubicBezTo>
                  <a:pt x="285655" y="133350"/>
                  <a:pt x="285274" y="133160"/>
                  <a:pt x="284797" y="133160"/>
                </a:cubicBezTo>
                <a:cubicBezTo>
                  <a:pt x="287274" y="130112"/>
                  <a:pt x="294704" y="129350"/>
                  <a:pt x="300038" y="131826"/>
                </a:cubicBezTo>
                <a:close/>
                <a:moveTo>
                  <a:pt x="395764" y="0"/>
                </a:moveTo>
                <a:lnTo>
                  <a:pt x="419005" y="240030"/>
                </a:lnTo>
                <a:lnTo>
                  <a:pt x="431101" y="237744"/>
                </a:lnTo>
                <a:lnTo>
                  <a:pt x="431197" y="237649"/>
                </a:lnTo>
                <a:lnTo>
                  <a:pt x="450532" y="426720"/>
                </a:lnTo>
                <a:lnTo>
                  <a:pt x="212884" y="455295"/>
                </a:lnTo>
                <a:lnTo>
                  <a:pt x="207740" y="418433"/>
                </a:lnTo>
                <a:lnTo>
                  <a:pt x="193357" y="420529"/>
                </a:lnTo>
                <a:cubicBezTo>
                  <a:pt x="194596" y="441008"/>
                  <a:pt x="189738" y="460534"/>
                  <a:pt x="180689" y="469868"/>
                </a:cubicBezTo>
                <a:cubicBezTo>
                  <a:pt x="170116" y="480822"/>
                  <a:pt x="154686" y="483584"/>
                  <a:pt x="138398" y="481394"/>
                </a:cubicBezTo>
                <a:cubicBezTo>
                  <a:pt x="127444" y="479965"/>
                  <a:pt x="119253" y="472059"/>
                  <a:pt x="113252" y="462344"/>
                </a:cubicBezTo>
                <a:cubicBezTo>
                  <a:pt x="135826" y="478250"/>
                  <a:pt x="163735" y="470916"/>
                  <a:pt x="173260" y="457581"/>
                </a:cubicBezTo>
                <a:cubicBezTo>
                  <a:pt x="186690" y="438912"/>
                  <a:pt x="183166" y="421196"/>
                  <a:pt x="178213" y="404717"/>
                </a:cubicBezTo>
                <a:cubicBezTo>
                  <a:pt x="174307" y="391763"/>
                  <a:pt x="163735" y="370332"/>
                  <a:pt x="150590" y="362045"/>
                </a:cubicBezTo>
                <a:cubicBezTo>
                  <a:pt x="137255" y="353568"/>
                  <a:pt x="124206" y="351949"/>
                  <a:pt x="113157" y="353092"/>
                </a:cubicBezTo>
                <a:lnTo>
                  <a:pt x="114205" y="351949"/>
                </a:lnTo>
                <a:cubicBezTo>
                  <a:pt x="130112" y="348806"/>
                  <a:pt x="146685" y="350520"/>
                  <a:pt x="158687" y="358235"/>
                </a:cubicBezTo>
                <a:cubicBezTo>
                  <a:pt x="172307" y="366998"/>
                  <a:pt x="184785" y="382048"/>
                  <a:pt x="191262" y="405098"/>
                </a:cubicBezTo>
                <a:cubicBezTo>
                  <a:pt x="198691" y="404051"/>
                  <a:pt x="199739" y="403575"/>
                  <a:pt x="206502" y="402622"/>
                </a:cubicBezTo>
                <a:lnTo>
                  <a:pt x="191262" y="283940"/>
                </a:lnTo>
                <a:lnTo>
                  <a:pt x="223552" y="280416"/>
                </a:lnTo>
                <a:cubicBezTo>
                  <a:pt x="208407" y="270701"/>
                  <a:pt x="192786" y="256794"/>
                  <a:pt x="185928" y="249079"/>
                </a:cubicBezTo>
                <a:cubicBezTo>
                  <a:pt x="184785" y="248221"/>
                  <a:pt x="184975" y="244412"/>
                  <a:pt x="184975" y="244412"/>
                </a:cubicBezTo>
                <a:cubicBezTo>
                  <a:pt x="191167" y="249174"/>
                  <a:pt x="216789" y="267462"/>
                  <a:pt x="243840" y="275844"/>
                </a:cubicBezTo>
                <a:cubicBezTo>
                  <a:pt x="253365" y="278797"/>
                  <a:pt x="268033" y="279940"/>
                  <a:pt x="280797" y="272701"/>
                </a:cubicBezTo>
                <a:cubicBezTo>
                  <a:pt x="290513" y="267176"/>
                  <a:pt x="302228" y="257556"/>
                  <a:pt x="309181" y="247650"/>
                </a:cubicBezTo>
                <a:lnTo>
                  <a:pt x="310420" y="249841"/>
                </a:lnTo>
                <a:cubicBezTo>
                  <a:pt x="310420" y="251365"/>
                  <a:pt x="307181" y="258509"/>
                  <a:pt x="305562" y="261366"/>
                </a:cubicBezTo>
                <a:cubicBezTo>
                  <a:pt x="308515" y="263081"/>
                  <a:pt x="310705" y="263462"/>
                  <a:pt x="314039" y="264414"/>
                </a:cubicBezTo>
                <a:lnTo>
                  <a:pt x="336518" y="260890"/>
                </a:lnTo>
                <a:cubicBezTo>
                  <a:pt x="344519" y="247936"/>
                  <a:pt x="350330" y="226886"/>
                  <a:pt x="344138" y="206978"/>
                </a:cubicBezTo>
                <a:cubicBezTo>
                  <a:pt x="340614" y="195548"/>
                  <a:pt x="322326" y="172688"/>
                  <a:pt x="320992" y="171450"/>
                </a:cubicBezTo>
                <a:cubicBezTo>
                  <a:pt x="316325" y="167069"/>
                  <a:pt x="321755" y="150019"/>
                  <a:pt x="312610" y="131350"/>
                </a:cubicBezTo>
                <a:cubicBezTo>
                  <a:pt x="302990" y="111633"/>
                  <a:pt x="277939" y="91059"/>
                  <a:pt x="266986" y="82106"/>
                </a:cubicBezTo>
                <a:cubicBezTo>
                  <a:pt x="270224" y="84392"/>
                  <a:pt x="289941" y="92393"/>
                  <a:pt x="299180" y="103537"/>
                </a:cubicBezTo>
                <a:cubicBezTo>
                  <a:pt x="300038" y="102394"/>
                  <a:pt x="300418" y="96393"/>
                  <a:pt x="301180" y="94869"/>
                </a:cubicBezTo>
                <a:cubicBezTo>
                  <a:pt x="293275" y="84582"/>
                  <a:pt x="292608" y="66104"/>
                  <a:pt x="292608" y="61151"/>
                </a:cubicBezTo>
                <a:cubicBezTo>
                  <a:pt x="292608" y="52102"/>
                  <a:pt x="288036" y="41815"/>
                  <a:pt x="288036" y="41815"/>
                </a:cubicBezTo>
                <a:cubicBezTo>
                  <a:pt x="288036" y="41815"/>
                  <a:pt x="296037" y="48101"/>
                  <a:pt x="298037" y="58865"/>
                </a:cubicBezTo>
                <a:cubicBezTo>
                  <a:pt x="300418" y="71628"/>
                  <a:pt x="305562" y="81725"/>
                  <a:pt x="312420" y="90202"/>
                </a:cubicBezTo>
                <a:cubicBezTo>
                  <a:pt x="325374" y="106299"/>
                  <a:pt x="336994" y="114491"/>
                  <a:pt x="342900" y="108585"/>
                </a:cubicBezTo>
                <a:cubicBezTo>
                  <a:pt x="349948" y="101441"/>
                  <a:pt x="335851" y="69533"/>
                  <a:pt x="317659" y="51721"/>
                </a:cubicBezTo>
                <a:cubicBezTo>
                  <a:pt x="296513" y="30956"/>
                  <a:pt x="290893" y="33623"/>
                  <a:pt x="278511" y="38100"/>
                </a:cubicBezTo>
                <a:cubicBezTo>
                  <a:pt x="268605" y="41624"/>
                  <a:pt x="263271" y="69818"/>
                  <a:pt x="237458" y="69247"/>
                </a:cubicBezTo>
                <a:cubicBezTo>
                  <a:pt x="233077" y="68771"/>
                  <a:pt x="221742" y="68485"/>
                  <a:pt x="216217" y="68485"/>
                </a:cubicBezTo>
                <a:cubicBezTo>
                  <a:pt x="219170" y="64484"/>
                  <a:pt x="221647" y="61341"/>
                  <a:pt x="221647" y="61341"/>
                </a:cubicBezTo>
                <a:cubicBezTo>
                  <a:pt x="221647" y="61341"/>
                  <a:pt x="212979" y="64865"/>
                  <a:pt x="205645" y="69247"/>
                </a:cubicBezTo>
                <a:lnTo>
                  <a:pt x="205073" y="68390"/>
                </a:lnTo>
                <a:cubicBezTo>
                  <a:pt x="207550" y="63151"/>
                  <a:pt x="210217" y="59817"/>
                  <a:pt x="210217" y="59817"/>
                </a:cubicBezTo>
                <a:cubicBezTo>
                  <a:pt x="210217" y="59817"/>
                  <a:pt x="203263" y="64008"/>
                  <a:pt x="196977" y="68961"/>
                </a:cubicBezTo>
                <a:cubicBezTo>
                  <a:pt x="198120" y="62770"/>
                  <a:pt x="202501" y="58769"/>
                  <a:pt x="202501" y="58769"/>
                </a:cubicBezTo>
                <a:cubicBezTo>
                  <a:pt x="202501" y="58769"/>
                  <a:pt x="193738" y="60293"/>
                  <a:pt x="182594" y="72581"/>
                </a:cubicBezTo>
                <a:cubicBezTo>
                  <a:pt x="169926" y="76010"/>
                  <a:pt x="166878" y="78296"/>
                  <a:pt x="156781" y="82772"/>
                </a:cubicBezTo>
                <a:cubicBezTo>
                  <a:pt x="140398" y="79153"/>
                  <a:pt x="132588" y="73438"/>
                  <a:pt x="125254" y="62770"/>
                </a:cubicBezTo>
                <a:cubicBezTo>
                  <a:pt x="119634" y="54674"/>
                  <a:pt x="109633" y="53435"/>
                  <a:pt x="99441" y="57626"/>
                </a:cubicBezTo>
                <a:cubicBezTo>
                  <a:pt x="84582" y="63722"/>
                  <a:pt x="65722" y="72200"/>
                  <a:pt x="65722" y="72200"/>
                </a:cubicBezTo>
                <a:cubicBezTo>
                  <a:pt x="65722" y="72200"/>
                  <a:pt x="71914" y="71914"/>
                  <a:pt x="78296" y="72200"/>
                </a:cubicBezTo>
                <a:cubicBezTo>
                  <a:pt x="69628" y="75533"/>
                  <a:pt x="61150" y="80105"/>
                  <a:pt x="61150" y="80105"/>
                </a:cubicBezTo>
                <a:cubicBezTo>
                  <a:pt x="61150" y="80105"/>
                  <a:pt x="65246" y="80105"/>
                  <a:pt x="70294" y="80105"/>
                </a:cubicBezTo>
                <a:cubicBezTo>
                  <a:pt x="66770" y="82963"/>
                  <a:pt x="64865" y="84392"/>
                  <a:pt x="61531" y="86583"/>
                </a:cubicBezTo>
                <a:cubicBezTo>
                  <a:pt x="53530" y="92393"/>
                  <a:pt x="47054" y="99155"/>
                  <a:pt x="47054" y="99155"/>
                </a:cubicBezTo>
                <a:cubicBezTo>
                  <a:pt x="47054" y="99155"/>
                  <a:pt x="52483" y="96679"/>
                  <a:pt x="57340" y="95250"/>
                </a:cubicBezTo>
                <a:cubicBezTo>
                  <a:pt x="53912" y="103061"/>
                  <a:pt x="47149" y="108776"/>
                  <a:pt x="48387" y="118396"/>
                </a:cubicBezTo>
                <a:cubicBezTo>
                  <a:pt x="49625" y="127159"/>
                  <a:pt x="60293" y="145161"/>
                  <a:pt x="74200" y="156210"/>
                </a:cubicBezTo>
                <a:cubicBezTo>
                  <a:pt x="75343" y="157258"/>
                  <a:pt x="94297" y="174689"/>
                  <a:pt x="108585" y="167545"/>
                </a:cubicBezTo>
                <a:cubicBezTo>
                  <a:pt x="122872" y="160306"/>
                  <a:pt x="128492" y="153924"/>
                  <a:pt x="130873" y="144113"/>
                </a:cubicBezTo>
                <a:cubicBezTo>
                  <a:pt x="133636" y="132779"/>
                  <a:pt x="132112" y="124301"/>
                  <a:pt x="126206" y="99822"/>
                </a:cubicBezTo>
                <a:cubicBezTo>
                  <a:pt x="124301" y="91726"/>
                  <a:pt x="119253" y="75057"/>
                  <a:pt x="116776" y="67151"/>
                </a:cubicBezTo>
                <a:lnTo>
                  <a:pt x="117348" y="66770"/>
                </a:lnTo>
                <a:cubicBezTo>
                  <a:pt x="122015" y="76581"/>
                  <a:pt x="133921" y="102584"/>
                  <a:pt x="138779" y="120015"/>
                </a:cubicBezTo>
                <a:cubicBezTo>
                  <a:pt x="146304" y="147257"/>
                  <a:pt x="143923" y="161068"/>
                  <a:pt x="140494" y="166116"/>
                </a:cubicBezTo>
                <a:cubicBezTo>
                  <a:pt x="130112" y="181451"/>
                  <a:pt x="103537" y="183452"/>
                  <a:pt x="91440" y="174975"/>
                </a:cubicBezTo>
                <a:cubicBezTo>
                  <a:pt x="89535" y="204216"/>
                  <a:pt x="96107" y="217170"/>
                  <a:pt x="98298" y="223647"/>
                </a:cubicBezTo>
                <a:cubicBezTo>
                  <a:pt x="97155" y="231077"/>
                  <a:pt x="102013" y="244983"/>
                  <a:pt x="102013" y="244983"/>
                </a:cubicBezTo>
                <a:cubicBezTo>
                  <a:pt x="102013" y="244983"/>
                  <a:pt x="102584" y="238696"/>
                  <a:pt x="104775" y="235363"/>
                </a:cubicBezTo>
                <a:cubicBezTo>
                  <a:pt x="105346" y="242792"/>
                  <a:pt x="109061" y="251555"/>
                  <a:pt x="109061" y="251555"/>
                </a:cubicBezTo>
                <a:cubicBezTo>
                  <a:pt x="109061" y="251555"/>
                  <a:pt x="108775" y="246126"/>
                  <a:pt x="110490" y="241459"/>
                </a:cubicBezTo>
                <a:cubicBezTo>
                  <a:pt x="112871" y="245554"/>
                  <a:pt x="114586" y="246507"/>
                  <a:pt x="116872" y="249555"/>
                </a:cubicBezTo>
                <a:cubicBezTo>
                  <a:pt x="119063" y="257461"/>
                  <a:pt x="123634" y="263271"/>
                  <a:pt x="123634" y="263271"/>
                </a:cubicBezTo>
                <a:cubicBezTo>
                  <a:pt x="123634" y="263271"/>
                  <a:pt x="122872" y="258985"/>
                  <a:pt x="123254" y="254603"/>
                </a:cubicBezTo>
                <a:cubicBezTo>
                  <a:pt x="134302" y="265176"/>
                  <a:pt x="136207" y="280797"/>
                  <a:pt x="137350" y="292703"/>
                </a:cubicBezTo>
                <a:cubicBezTo>
                  <a:pt x="140494" y="325565"/>
                  <a:pt x="85630" y="351663"/>
                  <a:pt x="74962" y="372237"/>
                </a:cubicBezTo>
                <a:cubicBezTo>
                  <a:pt x="66865" y="384429"/>
                  <a:pt x="62103" y="403670"/>
                  <a:pt x="75724" y="415004"/>
                </a:cubicBezTo>
                <a:cubicBezTo>
                  <a:pt x="85630" y="423101"/>
                  <a:pt x="91345" y="429483"/>
                  <a:pt x="95059" y="434816"/>
                </a:cubicBezTo>
                <a:lnTo>
                  <a:pt x="48768" y="441579"/>
                </a:lnTo>
                <a:lnTo>
                  <a:pt x="0" y="45911"/>
                </a:lnTo>
                <a:close/>
              </a:path>
            </a:pathLst>
          </a:custGeom>
          <a:solidFill>
            <a:srgbClr val="632C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63" r:id="rId2"/>
    <p:sldLayoutId id="2147483670" r:id="rId3"/>
    <p:sldLayoutId id="2147483673" r:id="rId4"/>
    <p:sldLayoutId id="2147483674" r:id="rId5"/>
    <p:sldLayoutId id="2147483676" r:id="rId6"/>
    <p:sldLayoutId id="2147483677" r:id="rId7"/>
    <p:sldLayoutId id="2147483678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90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38">
          <p15:clr>
            <a:srgbClr val="F26B43"/>
          </p15:clr>
        </p15:guide>
        <p15:guide id="2" pos="896">
          <p15:clr>
            <a:srgbClr val="F26B43"/>
          </p15:clr>
        </p15:guide>
        <p15:guide id="3" pos="1473">
          <p15:clr>
            <a:srgbClr val="F26B43"/>
          </p15:clr>
        </p15:guide>
        <p15:guide id="4" pos="1014">
          <p15:clr>
            <a:srgbClr val="F26B43"/>
          </p15:clr>
        </p15:guide>
        <p15:guide id="5" pos="2052">
          <p15:clr>
            <a:srgbClr val="F26B43"/>
          </p15:clr>
        </p15:guide>
        <p15:guide id="6" pos="2168">
          <p15:clr>
            <a:srgbClr val="F26B43"/>
          </p15:clr>
        </p15:guide>
        <p15:guide id="7" pos="2627">
          <p15:clr>
            <a:srgbClr val="F26B43"/>
          </p15:clr>
        </p15:guide>
        <p15:guide id="8" pos="2746">
          <p15:clr>
            <a:srgbClr val="F26B43"/>
          </p15:clr>
        </p15:guide>
        <p15:guide id="9" pos="3201">
          <p15:clr>
            <a:srgbClr val="F26B43"/>
          </p15:clr>
        </p15:guide>
        <p15:guide id="10" pos="3318">
          <p15:clr>
            <a:srgbClr val="F26B43"/>
          </p15:clr>
        </p15:guide>
        <p15:guide id="11" pos="3777">
          <p15:clr>
            <a:srgbClr val="F26B43"/>
          </p15:clr>
        </p15:guide>
        <p15:guide id="12" pos="4352">
          <p15:clr>
            <a:srgbClr val="F26B43"/>
          </p15:clr>
        </p15:guide>
        <p15:guide id="13" pos="4476">
          <p15:clr>
            <a:srgbClr val="F26B43"/>
          </p15:clr>
        </p15:guide>
        <p15:guide id="14" pos="5050">
          <p15:clr>
            <a:srgbClr val="F26B43"/>
          </p15:clr>
        </p15:guide>
        <p15:guide id="15" pos="4929">
          <p15:clr>
            <a:srgbClr val="F26B43"/>
          </p15:clr>
        </p15:guide>
        <p15:guide id="16" pos="5510">
          <p15:clr>
            <a:srgbClr val="F26B43"/>
          </p15:clr>
        </p15:guide>
        <p15:guide id="17" pos="6084">
          <p15:clr>
            <a:srgbClr val="F26B43"/>
          </p15:clr>
        </p15:guide>
        <p15:guide id="18" pos="5630">
          <p15:clr>
            <a:srgbClr val="F26B43"/>
          </p15:clr>
        </p15:guide>
        <p15:guide id="19" pos="6204">
          <p15:clr>
            <a:srgbClr val="F26B43"/>
          </p15:clr>
        </p15:guide>
        <p15:guide id="20" pos="6784">
          <p15:clr>
            <a:srgbClr val="F26B43"/>
          </p15:clr>
        </p15:guide>
        <p15:guide id="21" pos="6660">
          <p15:clr>
            <a:srgbClr val="F26B43"/>
          </p15:clr>
        </p15:guide>
        <p15:guide id="22" pos="7237">
          <p15:clr>
            <a:srgbClr val="F26B43"/>
          </p15:clr>
        </p15:guide>
        <p15:guide id="23" orient="horz" pos="899">
          <p15:clr>
            <a:srgbClr val="F26B43"/>
          </p15:clr>
        </p15:guide>
        <p15:guide id="24" orient="horz" pos="1435">
          <p15:clr>
            <a:srgbClr val="F26B43"/>
          </p15:clr>
        </p15:guide>
        <p15:guide id="25" orient="horz" pos="1559">
          <p15:clr>
            <a:srgbClr val="F26B43"/>
          </p15:clr>
        </p15:guide>
        <p15:guide id="26" orient="horz" pos="2088">
          <p15:clr>
            <a:srgbClr val="F26B43"/>
          </p15:clr>
        </p15:guide>
        <p15:guide id="27" orient="horz" pos="2220">
          <p15:clr>
            <a:srgbClr val="F26B43"/>
          </p15:clr>
        </p15:guide>
        <p15:guide id="28" orient="horz" pos="2875">
          <p15:clr>
            <a:srgbClr val="F26B43"/>
          </p15:clr>
        </p15:guide>
        <p15:guide id="29" orient="horz" pos="3416">
          <p15:clr>
            <a:srgbClr val="F26B43"/>
          </p15:clr>
        </p15:guide>
        <p15:guide id="30" orient="horz" pos="3535">
          <p15:clr>
            <a:srgbClr val="F26B43"/>
          </p15:clr>
        </p15:guide>
        <p15:guide id="31" pos="3899">
          <p15:clr>
            <a:srgbClr val="FBAE40"/>
          </p15:clr>
        </p15:guide>
        <p15:guide id="32" orient="horz" pos="2160">
          <p15:clr>
            <a:srgbClr val="FBAE40"/>
          </p15:clr>
        </p15:guide>
        <p15:guide id="33" orient="horz" pos="3954">
          <p15:clr>
            <a:srgbClr val="A4A3A4"/>
          </p15:clr>
        </p15:guide>
        <p15:guide id="34" pos="1592">
          <p15:clr>
            <a:srgbClr val="F26B43"/>
          </p15:clr>
        </p15:guide>
        <p15:guide id="35" orient="horz" pos="4082">
          <p15:clr>
            <a:srgbClr val="F26B43"/>
          </p15:clr>
        </p15:guide>
        <p15:guide id="36" orient="horz" pos="2761">
          <p15:clr>
            <a:srgbClr val="F26B43"/>
          </p15:clr>
        </p15:guide>
        <p15:guide id="37" orient="horz" pos="240">
          <p15:clr>
            <a:srgbClr val="F26B43"/>
          </p15:clr>
        </p15:guide>
        <p15:guide id="38" orient="horz" pos="76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0630" y="202940"/>
            <a:ext cx="11465999" cy="8736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0630" y="1224770"/>
            <a:ext cx="11465999" cy="5022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 descr="A black and white image of a person riding a horse&#10;&#10;AI-generated content may be incorrect.">
            <a:extLst>
              <a:ext uri="{FF2B5EF4-FFF2-40B4-BE49-F238E27FC236}">
                <a16:creationId xmlns:a16="http://schemas.microsoft.com/office/drawing/2014/main" id="{1F8EBD09-8409-063F-2700-C2712DDAD6B1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alphaModFix amt="20000"/>
          </a:blip>
          <a:stretch>
            <a:fillRect/>
          </a:stretch>
        </p:blipFill>
        <p:spPr>
          <a:xfrm>
            <a:off x="6865270" y="107649"/>
            <a:ext cx="5326730" cy="6858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9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</p:sldLayoutIdLst>
  <p:txStyles>
    <p:titleStyle>
      <a:lvl1pPr algn="l" defTabSz="91440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DS Wallau" panose="02000000000000000000" pitchFamily="2" charset="0"/>
          <a:ea typeface="+mj-ea"/>
          <a:cs typeface="+mj-cs"/>
        </a:defRPr>
      </a:lvl1pPr>
    </p:titleStyle>
    <p:bodyStyle>
      <a:lvl1pPr marL="228602" indent="-228602" algn="l" defTabSz="91440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legreya Medium" pitchFamily="2" charset="0"/>
          <a:ea typeface="+mn-ea"/>
          <a:cs typeface="+mn-cs"/>
        </a:defRPr>
      </a:lvl1pPr>
      <a:lvl2pPr marL="685804" indent="-228602" algn="l" defTabSz="91440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legreya Medium" pitchFamily="2" charset="0"/>
          <a:ea typeface="+mn-ea"/>
          <a:cs typeface="+mn-cs"/>
        </a:defRPr>
      </a:lvl2pPr>
      <a:lvl3pPr marL="1143008" indent="-228602" algn="l" defTabSz="91440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legreya Medium" pitchFamily="2" charset="0"/>
          <a:ea typeface="+mn-ea"/>
          <a:cs typeface="+mn-cs"/>
        </a:defRPr>
      </a:lvl3pPr>
      <a:lvl4pPr marL="1600210" indent="-228602" algn="l" defTabSz="91440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legreya Medium" pitchFamily="2" charset="0"/>
          <a:ea typeface="+mn-ea"/>
          <a:cs typeface="+mn-cs"/>
        </a:defRPr>
      </a:lvl4pPr>
      <a:lvl5pPr marL="2057413" indent="-228602" algn="l" defTabSz="91440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legreya Medium" pitchFamily="2" charset="0"/>
          <a:ea typeface="+mn-ea"/>
          <a:cs typeface="+mn-cs"/>
        </a:defRPr>
      </a:lvl5pPr>
      <a:lvl6pPr marL="2514617" indent="-228602" algn="l" defTabSz="91440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19" indent="-228602" algn="l" defTabSz="91440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23" indent="-228602" algn="l" defTabSz="91440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25" indent="-228602" algn="l" defTabSz="91440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3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6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9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12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15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18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21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24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otnet/core/tools/global-tools#install-a-local-too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otnet/diagnostics/tree/main/src/Tools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otnet/diagnostics/tree/main/src/Tool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otnet/diagnostics/tree/main/src/Tools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otnet/diagnostics/tree/main/src/Tools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otnet/runtime/blob/main/src/coreclr/vm/ClrEtwAll.man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hrisnas.github.io/posts/2024-10-13_digging-into-the-undocumented/" TargetMode="External"/><Relationship Id="rId4" Type="http://schemas.openxmlformats.org/officeDocument/2006/relationships/hyperlink" Target="https://learn.microsoft.com/en-us/dotnet/core/diagnostics/well-known-event-providers#systemnethttp-provider?WT.mc_id=DT-MVP-5003325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andrewlock.net/creating-and-consuming-metrics-with-system-diagnostics-metrics-apis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emf"/><Relationship Id="rId4" Type="http://schemas.openxmlformats.org/officeDocument/2006/relationships/oleObject" Target="../embeddings/oleObject1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evingosse/windbg-bridge/blob/master/SKILL.md" TargetMode="Externa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andrewlock.net/using-and-authoring-dotnet-tools/" TargetMode="External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hrisnas.github.io/" TargetMode="External"/><Relationship Id="rId5" Type="http://schemas.openxmlformats.org/officeDocument/2006/relationships/hyperlink" Target="https://andrewlock.net/exploring-dotnet-10-preview-features-8-supporting-platform-specific-dotnet-tools-on-old-sdks/" TargetMode="External"/><Relationship Id="rId4" Type="http://schemas.openxmlformats.org/officeDocument/2006/relationships/hyperlink" Target="https://andrewlock.net/exploring-dotnet-10-preview-features-5-running-one-off-dotnet-tools-with-dnx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822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6BD49B4-92A8-4C28-076F-503A755A2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82649"/>
            <a:ext cx="12192000" cy="8623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907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9">
          <a:extLst>
            <a:ext uri="{FF2B5EF4-FFF2-40B4-BE49-F238E27FC236}">
              <a16:creationId xmlns:a16="http://schemas.microsoft.com/office/drawing/2014/main" id="{193AE93D-2438-CFFE-63AA-71274BA7A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0" name="Google Shape;3250;p201">
            <a:extLst>
              <a:ext uri="{FF2B5EF4-FFF2-40B4-BE49-F238E27FC236}">
                <a16:creationId xmlns:a16="http://schemas.microsoft.com/office/drawing/2014/main" id="{3EC96D22-A706-38F3-CD60-CE03DDC8556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1" name="Google Shape;3251;p201">
            <a:extLst>
              <a:ext uri="{FF2B5EF4-FFF2-40B4-BE49-F238E27FC236}">
                <a16:creationId xmlns:a16="http://schemas.microsoft.com/office/drawing/2014/main" id="{8542987F-215E-9AD6-F8C1-DB1478D41AC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3252" name="Google Shape;3252;p201">
            <a:extLst>
              <a:ext uri="{FF2B5EF4-FFF2-40B4-BE49-F238E27FC236}">
                <a16:creationId xmlns:a16="http://schemas.microsoft.com/office/drawing/2014/main" id="{56B7B783-EE6D-7095-F8C0-1362D8B42C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322" y="4395789"/>
            <a:ext cx="11308835" cy="1881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/>
                <a:ea typeface="Open Sans"/>
                <a:cs typeface="Open Sans"/>
                <a:sym typeface="Open Sans"/>
              </a:rPr>
              <a:t>.NET CLI tools in the AI fury</a:t>
            </a:r>
          </a:p>
        </p:txBody>
      </p:sp>
      <p:pic>
        <p:nvPicPr>
          <p:cNvPr id="3253" name="Google Shape;3253;p201">
            <a:extLst>
              <a:ext uri="{FF2B5EF4-FFF2-40B4-BE49-F238E27FC236}">
                <a16:creationId xmlns:a16="http://schemas.microsoft.com/office/drawing/2014/main" id="{810C5039-0E94-1137-CFC3-7A1CB6DDDD2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12754" y="6456719"/>
            <a:ext cx="1049131" cy="2570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97FAC225-73ED-5072-727C-AFF664CDA156}"/>
              </a:ext>
            </a:extLst>
          </p:cNvPr>
          <p:cNvSpPr txBox="1">
            <a:spLocks/>
          </p:cNvSpPr>
          <p:nvPr/>
        </p:nvSpPr>
        <p:spPr>
          <a:xfrm>
            <a:off x="135317" y="432038"/>
            <a:ext cx="4319452" cy="81472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3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Christophe Nasarre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1A366C-4876-D256-E97E-292ED8745F2A}"/>
              </a:ext>
            </a:extLst>
          </p:cNvPr>
          <p:cNvSpPr txBox="1"/>
          <p:nvPr/>
        </p:nvSpPr>
        <p:spPr>
          <a:xfrm>
            <a:off x="135317" y="1026062"/>
            <a:ext cx="3608993" cy="1179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tabLst/>
              <a:defRPr/>
            </a:pP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20000"/>
                    <a:lumOff val="80000"/>
                  </a:schemeClr>
                </a:solidFill>
                <a:effectLst/>
                <a:uLnTx/>
                <a:uFillTx/>
                <a:latin typeface="Arial"/>
                <a:ea typeface="Roboto"/>
                <a:cs typeface="Roboto"/>
                <a:sym typeface="Roboto"/>
              </a:rPr>
              <a:t>Senior </a:t>
            </a:r>
            <a:r>
              <a:rPr kumimoji="0" lang="fr-FR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bg2">
                    <a:lumMod val="20000"/>
                    <a:lumOff val="80000"/>
                  </a:schemeClr>
                </a:solidFill>
                <a:effectLst/>
                <a:uLnTx/>
                <a:uFillTx/>
                <a:latin typeface="Arial"/>
                <a:ea typeface="Roboto"/>
                <a:cs typeface="Roboto"/>
                <a:sym typeface="Roboto"/>
              </a:rPr>
              <a:t>Developer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20000"/>
                    <a:lumOff val="80000"/>
                  </a:schemeClr>
                </a:solidFill>
                <a:effectLst/>
                <a:uLnTx/>
                <a:uFillTx/>
                <a:latin typeface="Arial"/>
                <a:ea typeface="Roboto"/>
                <a:cs typeface="Roboto"/>
                <a:sym typeface="Roboto"/>
              </a:rPr>
              <a:t> at </a:t>
            </a:r>
            <a:r>
              <a:rPr kumimoji="0" lang="fr-FR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bg2">
                    <a:lumMod val="20000"/>
                    <a:lumOff val="80000"/>
                  </a:schemeClr>
                </a:solidFill>
                <a:effectLst/>
                <a:uLnTx/>
                <a:uFillTx/>
                <a:latin typeface="Arial"/>
                <a:ea typeface="Roboto"/>
                <a:cs typeface="Roboto"/>
                <a:sym typeface="Roboto"/>
              </a:rPr>
              <a:t>Datadog</a:t>
            </a:r>
            <a:endParaRPr kumimoji="0" lang="fr-FR" sz="20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20000"/>
                  <a:lumOff val="80000"/>
                </a:schemeClr>
              </a:solidFill>
              <a:effectLst/>
              <a:uLnTx/>
              <a:uFillTx/>
              <a:latin typeface="Arial"/>
              <a:ea typeface="Roboto"/>
              <a:cs typeface="Roboto"/>
              <a:sym typeface="Roboto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uLnTx/>
                <a:uFillTx/>
                <a:latin typeface="TwitterChirp"/>
                <a:ea typeface="Roboto"/>
                <a:cs typeface="Roboto"/>
                <a:sym typeface="Roboto"/>
              </a:rPr>
              <a:t>Twitter @chnasarre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20000"/>
                  <a:lumOff val="80000"/>
                </a:schemeClr>
              </a:solidFill>
              <a:effectLst/>
              <a:uLnTx/>
              <a:uFillTx/>
              <a:latin typeface="InterVariable"/>
              <a:ea typeface="Roboto"/>
              <a:cs typeface="Roboto"/>
              <a:sym typeface="Roboto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uLnTx/>
                <a:uFillTx/>
                <a:latin typeface="InterVariable"/>
                <a:ea typeface="Roboto"/>
                <a:cs typeface="Roboto"/>
                <a:sym typeface="Roboto"/>
              </a:rPr>
              <a:t>@chrisnas.bsky.social</a:t>
            </a:r>
            <a:endParaRPr kumimoji="0" lang="cs-CZ" sz="2000" b="0" i="0" u="none" strike="noStrike" kern="0" cap="none" spc="0" normalizeH="0" baseline="0" noProof="0" dirty="0">
              <a:ln>
                <a:noFill/>
              </a:ln>
              <a:solidFill>
                <a:schemeClr val="accent4">
                  <a:lumMod val="20000"/>
                  <a:lumOff val="80000"/>
                </a:schemeClr>
              </a:solidFill>
              <a:effectLst/>
              <a:uLnTx/>
              <a:uFillTx/>
              <a:latin typeface="Arial"/>
              <a:ea typeface="Roboto"/>
              <a:cs typeface="Roboto"/>
              <a:sym typeface="Roboto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96D98D-5D7A-93C5-1DA4-30079376AE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5208" y="3837603"/>
            <a:ext cx="2948276" cy="19655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145EE54-3897-0BDC-560F-D7D00644CB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598" y="2205873"/>
            <a:ext cx="2263257" cy="3126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801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7D295FB3-F529-B752-311D-22273AA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8">
            <a:extLst>
              <a:ext uri="{FF2B5EF4-FFF2-40B4-BE49-F238E27FC236}">
                <a16:creationId xmlns:a16="http://schemas.microsoft.com/office/drawing/2014/main" id="{E154592D-A01C-A036-6997-EA3555BDE7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0731EB-C294-0EF7-82EC-6C571E20A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93C4821-CBDF-FBAB-A105-B31847E3A1BA}"/>
              </a:ext>
            </a:extLst>
          </p:cNvPr>
          <p:cNvCxnSpPr>
            <a:cxnSpLocks/>
          </p:cNvCxnSpPr>
          <p:nvPr/>
        </p:nvCxnSpPr>
        <p:spPr>
          <a:xfrm>
            <a:off x="689784" y="1682596"/>
            <a:ext cx="1115474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56115D3-BE60-C6AC-6998-FE2009318D39}"/>
              </a:ext>
            </a:extLst>
          </p:cNvPr>
          <p:cNvSpPr txBox="1">
            <a:spLocks/>
          </p:cNvSpPr>
          <p:nvPr/>
        </p:nvSpPr>
        <p:spPr>
          <a:xfrm>
            <a:off x="602514" y="1841390"/>
            <a:ext cx="3532164" cy="78821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2800" b="1" dirty="0">
                <a:solidFill>
                  <a:schemeClr val="bg1"/>
                </a:solidFill>
              </a:rPr>
              <a:t>Building CLI tools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A59A3D1-AD68-0A8D-F766-75E429206DCA}"/>
              </a:ext>
            </a:extLst>
          </p:cNvPr>
          <p:cNvSpPr txBox="1">
            <a:spLocks/>
          </p:cNvSpPr>
          <p:nvPr/>
        </p:nvSpPr>
        <p:spPr>
          <a:xfrm>
            <a:off x="4499514" y="1844787"/>
            <a:ext cx="3360906" cy="57468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2800" b="1" dirty="0">
                <a:solidFill>
                  <a:schemeClr val="bg1"/>
                </a:solidFill>
              </a:rPr>
              <a:t>Looking into .NET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6A7270B-0DB9-7205-54E4-019CFA46FC63}"/>
              </a:ext>
            </a:extLst>
          </p:cNvPr>
          <p:cNvSpPr txBox="1">
            <a:spLocks/>
          </p:cNvSpPr>
          <p:nvPr/>
        </p:nvSpPr>
        <p:spPr>
          <a:xfrm>
            <a:off x="708949" y="2274593"/>
            <a:ext cx="1670766" cy="1244600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600"/>
              </a:spcAft>
            </a:pPr>
            <a:r>
              <a:rPr lang="en-GB" sz="2000" dirty="0">
                <a:solidFill>
                  <a:schemeClr val="bg1"/>
                </a:solidFill>
              </a:rPr>
              <a:t>Basics</a:t>
            </a:r>
          </a:p>
          <a:p>
            <a:pPr>
              <a:spcAft>
                <a:spcPts val="600"/>
              </a:spcAft>
            </a:pPr>
            <a:r>
              <a:rPr lang="en-GB" sz="2000" dirty="0">
                <a:solidFill>
                  <a:schemeClr val="bg1"/>
                </a:solidFill>
              </a:rPr>
              <a:t>Versioning</a:t>
            </a:r>
          </a:p>
          <a:p>
            <a:pPr>
              <a:spcAft>
                <a:spcPts val="600"/>
              </a:spcAft>
            </a:pPr>
            <a:r>
              <a:rPr lang="en-GB" sz="2000" dirty="0">
                <a:solidFill>
                  <a:schemeClr val="bg1"/>
                </a:solidFill>
              </a:rPr>
              <a:t>Beyond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F522585B-7C4C-91A4-8B29-3A99514B3E17}"/>
              </a:ext>
            </a:extLst>
          </p:cNvPr>
          <p:cNvSpPr txBox="1">
            <a:spLocks/>
          </p:cNvSpPr>
          <p:nvPr/>
        </p:nvSpPr>
        <p:spPr>
          <a:xfrm>
            <a:off x="4583234" y="2274593"/>
            <a:ext cx="2112903" cy="135725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600"/>
              </a:spcAft>
            </a:pPr>
            <a:r>
              <a:rPr lang="en-GB" sz="2000" dirty="0" err="1">
                <a:solidFill>
                  <a:schemeClr val="bg1"/>
                </a:solidFill>
              </a:rPr>
              <a:t>TraceEvent</a:t>
            </a:r>
            <a:endParaRPr lang="en-GB" sz="2000" dirty="0">
              <a:solidFill>
                <a:schemeClr val="bg1"/>
              </a:solidFill>
            </a:endParaRPr>
          </a:p>
          <a:p>
            <a:pPr>
              <a:spcAft>
                <a:spcPts val="600"/>
              </a:spcAft>
            </a:pPr>
            <a:r>
              <a:rPr lang="en-GB" sz="2000" dirty="0" err="1">
                <a:solidFill>
                  <a:schemeClr val="bg1"/>
                </a:solidFill>
              </a:rPr>
              <a:t>ClrMD</a:t>
            </a:r>
            <a:endParaRPr lang="en-GB" sz="2000" dirty="0">
              <a:solidFill>
                <a:schemeClr val="bg1"/>
              </a:solidFill>
            </a:endParaRPr>
          </a:p>
          <a:p>
            <a:pPr>
              <a:spcAft>
                <a:spcPts val="600"/>
              </a:spcAft>
            </a:pPr>
            <a:r>
              <a:rPr lang="en-GB" sz="2000" dirty="0">
                <a:solidFill>
                  <a:schemeClr val="bg1"/>
                </a:solidFill>
              </a:rPr>
              <a:t>Commands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CE1D815A-180C-0F9F-2D4F-C678E9F1957B}"/>
              </a:ext>
            </a:extLst>
          </p:cNvPr>
          <p:cNvSpPr txBox="1">
            <a:spLocks/>
          </p:cNvSpPr>
          <p:nvPr/>
        </p:nvSpPr>
        <p:spPr>
          <a:xfrm>
            <a:off x="8457183" y="1838151"/>
            <a:ext cx="2481539" cy="57468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2800" b="1" dirty="0">
                <a:solidFill>
                  <a:schemeClr val="bg1"/>
                </a:solidFill>
              </a:rPr>
              <a:t>AI loves CLI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DD8E2920-86EE-8D5A-499D-5FF719A145CC}"/>
              </a:ext>
            </a:extLst>
          </p:cNvPr>
          <p:cNvSpPr txBox="1">
            <a:spLocks/>
          </p:cNvSpPr>
          <p:nvPr/>
        </p:nvSpPr>
        <p:spPr>
          <a:xfrm>
            <a:off x="8540904" y="2267957"/>
            <a:ext cx="1729997" cy="102903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600"/>
              </a:spcAft>
            </a:pPr>
            <a:r>
              <a:rPr lang="en-GB" sz="2000" dirty="0">
                <a:solidFill>
                  <a:schemeClr val="bg1"/>
                </a:solidFill>
              </a:rPr>
              <a:t>MCP server</a:t>
            </a:r>
          </a:p>
          <a:p>
            <a:pPr>
              <a:spcAft>
                <a:spcPts val="600"/>
              </a:spcAft>
            </a:pPr>
            <a:r>
              <a:rPr lang="en-GB" sz="2000" dirty="0">
                <a:solidFill>
                  <a:schemeClr val="bg1"/>
                </a:solidFill>
              </a:rPr>
              <a:t>Skills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22D3DA1-09B5-C69D-2322-84A4CD892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6869" y="3712779"/>
            <a:ext cx="2165131" cy="3247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361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9" grpId="0" build="p"/>
      <p:bldP spid="1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7D295FB3-F529-B752-311D-22273AA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8">
            <a:extLst>
              <a:ext uri="{FF2B5EF4-FFF2-40B4-BE49-F238E27FC236}">
                <a16:creationId xmlns:a16="http://schemas.microsoft.com/office/drawing/2014/main" id="{5679EF4F-0751-AA79-EE23-A7305B9839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</a:pPr>
            <a:r>
              <a:rPr lang="en-US" dirty="0"/>
              <a:t>What are .NET CLI tools?</a:t>
            </a:r>
            <a:endParaRPr dirty="0"/>
          </a:p>
        </p:txBody>
      </p:sp>
      <p:sp>
        <p:nvSpPr>
          <p:cNvPr id="374" name="Google Shape;374;p48">
            <a:extLst>
              <a:ext uri="{FF2B5EF4-FFF2-40B4-BE49-F238E27FC236}">
                <a16:creationId xmlns:a16="http://schemas.microsoft.com/office/drawing/2014/main" id="{4D098969-012D-12E1-CF68-790E52340DC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95084" y="2077084"/>
            <a:ext cx="11408931" cy="4780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/>
              <a:t>= “</a:t>
            </a:r>
            <a:r>
              <a:rPr lang="en-US" i="1" dirty="0"/>
              <a:t>console” apps distributed as NuGet packages with </a:t>
            </a:r>
            <a:r>
              <a:rPr lang="en-US" b="1" dirty="0">
                <a:latin typeface="Consolas" panose="020B0609020204030204" pitchFamily="49" charset="0"/>
              </a:rPr>
              <a:t>dotnet tool install</a:t>
            </a:r>
          </a:p>
          <a:p>
            <a:pPr marL="342900" lvl="0" indent="-342900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0" indent="-342900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/>
              <a:t>.NET SDK is required to install tools</a:t>
            </a: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… but Microsoft is working on it!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List installed tools with  </a:t>
            </a:r>
            <a:r>
              <a:rPr lang="en-US" b="1" dirty="0">
                <a:latin typeface="Consolas" panose="020B0609020204030204" pitchFamily="49" charset="0"/>
              </a:rPr>
              <a:t>dotnet tool list -g</a:t>
            </a:r>
            <a:r>
              <a:rPr lang="en-US" dirty="0">
                <a:solidFill>
                  <a:schemeClr val="bg1"/>
                </a:solidFill>
              </a:rPr>
              <a:t>   </a:t>
            </a:r>
            <a:r>
              <a:rPr lang="en-US" dirty="0">
                <a:solidFill>
                  <a:schemeClr val="accent5"/>
                </a:solidFill>
              </a:rPr>
              <a:t>DEMO</a:t>
            </a: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6">
                    <a:lumMod val="40000"/>
                    <a:lumOff val="6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Local tools</a:t>
            </a:r>
            <a:r>
              <a:rPr lang="en-US" sz="18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800" dirty="0">
                <a:solidFill>
                  <a:schemeClr val="bg1"/>
                </a:solidFill>
              </a:rPr>
              <a:t>are also possible (for controlled versioning with manifest file; ex: CI)</a:t>
            </a:r>
          </a:p>
        </p:txBody>
      </p:sp>
      <p:sp>
        <p:nvSpPr>
          <p:cNvPr id="375" name="Google Shape;375;p48">
            <a:extLst>
              <a:ext uri="{FF2B5EF4-FFF2-40B4-BE49-F238E27FC236}">
                <a16:creationId xmlns:a16="http://schemas.microsoft.com/office/drawing/2014/main" id="{E154592D-A01C-A036-6997-EA3555BDE7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8926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7D295FB3-F529-B752-311D-22273AA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8">
            <a:extLst>
              <a:ext uri="{FF2B5EF4-FFF2-40B4-BE49-F238E27FC236}">
                <a16:creationId xmlns:a16="http://schemas.microsoft.com/office/drawing/2014/main" id="{5679EF4F-0751-AA79-EE23-A7305B9839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</a:pPr>
            <a:r>
              <a:rPr lang="en-US" dirty="0"/>
              <a:t>Run my CLI tool</a:t>
            </a:r>
            <a:endParaRPr dirty="0"/>
          </a:p>
        </p:txBody>
      </p:sp>
      <p:sp>
        <p:nvSpPr>
          <p:cNvPr id="374" name="Google Shape;374;p48">
            <a:extLst>
              <a:ext uri="{FF2B5EF4-FFF2-40B4-BE49-F238E27FC236}">
                <a16:creationId xmlns:a16="http://schemas.microsoft.com/office/drawing/2014/main" id="{4D098969-012D-12E1-CF68-790E52340DC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95084" y="2077085"/>
            <a:ext cx="11408931" cy="4313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&lt;tool name&gt;</a:t>
            </a:r>
            <a:endParaRPr lang="en-US" dirty="0"/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dotnet-dump</a:t>
            </a:r>
            <a:r>
              <a:rPr lang="en-US" sz="1800" dirty="0">
                <a:solidFill>
                  <a:schemeClr val="bg1"/>
                </a:solidFill>
              </a:rPr>
              <a:t> to start </a:t>
            </a:r>
            <a:r>
              <a:rPr lang="en-US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dotnet-dump </a:t>
            </a:r>
            <a:r>
              <a:rPr lang="en-US" sz="1800" dirty="0">
                <a:solidFill>
                  <a:schemeClr val="bg1"/>
                </a:solidFill>
              </a:rPr>
              <a:t>…because the folder is added to the PATH</a:t>
            </a: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342900" lvl="0" indent="-342900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/>
              <a:t>dotnet &lt;tool name without dash&gt;</a:t>
            </a: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dotnet dump</a:t>
            </a:r>
            <a:r>
              <a:rPr lang="en-US" sz="1800" dirty="0">
                <a:solidFill>
                  <a:schemeClr val="bg1"/>
                </a:solidFill>
              </a:rPr>
              <a:t> to start </a:t>
            </a:r>
            <a:r>
              <a:rPr lang="en-US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dotnet-dump</a:t>
            </a:r>
          </a:p>
          <a:p>
            <a:pPr marL="457200" lvl="1" indent="0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Where are they installed on disk?   </a:t>
            </a:r>
            <a:r>
              <a:rPr lang="en-US" dirty="0">
                <a:solidFill>
                  <a:schemeClr val="accent5"/>
                </a:solidFill>
              </a:rPr>
              <a:t>DEMO</a:t>
            </a: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shim = </a:t>
            </a:r>
            <a:br>
              <a:rPr lang="en-US" sz="1800" dirty="0">
                <a:solidFill>
                  <a:schemeClr val="bg1"/>
                </a:solidFill>
              </a:rPr>
            </a:br>
            <a:r>
              <a:rPr lang="en-US" sz="1800" dirty="0">
                <a:solidFill>
                  <a:schemeClr val="bg1"/>
                </a:solidFill>
              </a:rPr>
              <a:t>c:\users\&lt;user&gt;\.dotnet\tools\&lt;tool name&gt;.exe</a:t>
            </a: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real = </a:t>
            </a:r>
            <a:br>
              <a:rPr lang="en-US" sz="1800" dirty="0">
                <a:solidFill>
                  <a:schemeClr val="bg1"/>
                </a:solidFill>
              </a:rPr>
            </a:br>
            <a:r>
              <a:rPr lang="en-US" sz="1800" dirty="0">
                <a:solidFill>
                  <a:schemeClr val="bg1"/>
                </a:solidFill>
              </a:rPr>
              <a:t>c:\users\&lt;user&gt;\.dotnet\tools\.store\&lt;tool name&gt;\&lt;version&gt;\net&lt;runtime version&gt;\any\&lt;tool name&gt;.dll </a:t>
            </a: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… but could be set  with </a:t>
            </a:r>
            <a:r>
              <a:rPr lang="en-US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--tool-path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75" name="Google Shape;375;p48">
            <a:extLst>
              <a:ext uri="{FF2B5EF4-FFF2-40B4-BE49-F238E27FC236}">
                <a16:creationId xmlns:a16="http://schemas.microsoft.com/office/drawing/2014/main" id="{E154592D-A01C-A036-6997-EA3555BDE7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DBB350-9CBE-8CB9-DEC9-493C5A690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933" y="2879725"/>
            <a:ext cx="5963482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176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7D295FB3-F529-B752-311D-22273AA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8">
            <a:extLst>
              <a:ext uri="{FF2B5EF4-FFF2-40B4-BE49-F238E27FC236}">
                <a16:creationId xmlns:a16="http://schemas.microsoft.com/office/drawing/2014/main" id="{5679EF4F-0751-AA79-EE23-A7305B9839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</a:pPr>
            <a:r>
              <a:rPr lang="en-US" dirty="0"/>
              <a:t>Run my CLI tool (please)</a:t>
            </a:r>
            <a:endParaRPr dirty="0"/>
          </a:p>
        </p:txBody>
      </p:sp>
      <p:sp>
        <p:nvSpPr>
          <p:cNvPr id="374" name="Google Shape;374;p48">
            <a:extLst>
              <a:ext uri="{FF2B5EF4-FFF2-40B4-BE49-F238E27FC236}">
                <a16:creationId xmlns:a16="http://schemas.microsoft.com/office/drawing/2014/main" id="{4D098969-012D-12E1-CF68-790E52340DC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95084" y="2077085"/>
            <a:ext cx="11408931" cy="4313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/>
              <a:t>Strong runtime version association</a:t>
            </a: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Font typeface="Arial" panose="020B0604020202020204" pitchFamily="34" charset="0"/>
              <a:buChar char="•"/>
            </a:pPr>
            <a:r>
              <a:rPr lang="fr-FR" sz="4400" baseline="-6000" dirty="0">
                <a:solidFill>
                  <a:srgbClr val="FF0000"/>
                </a:solidFill>
                <a:latin typeface="Wingdings" panose="05000000000000000000" pitchFamily="2" charset="2"/>
              </a:rPr>
              <a:t>û</a:t>
            </a:r>
            <a:r>
              <a:rPr lang="en-US" sz="1800" dirty="0">
                <a:solidFill>
                  <a:schemeClr val="bg1"/>
                </a:solidFill>
              </a:rPr>
              <a:t> Tools older than the runtime version</a:t>
            </a:r>
          </a:p>
          <a:p>
            <a:pPr marL="457200" lvl="1" indent="0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Use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</a:rPr>
              <a:t>--allow-roll-forward</a:t>
            </a:r>
            <a:endParaRPr lang="en-US" sz="2000" b="1" dirty="0">
              <a:latin typeface="Consolas" panose="020B0609020204030204" pitchFamily="49" charset="0"/>
            </a:endParaRP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…when a tools is older than the runtime version</a:t>
            </a: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(.NET 10) </a:t>
            </a:r>
            <a:r>
              <a:rPr lang="en-US" dirty="0" err="1">
                <a:solidFill>
                  <a:schemeClr val="bg1"/>
                </a:solidFill>
              </a:rPr>
              <a:t>dnx</a:t>
            </a:r>
            <a:endParaRPr lang="en-US" dirty="0">
              <a:solidFill>
                <a:schemeClr val="accent5"/>
              </a:solidFill>
            </a:endParaRP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Download, run </a:t>
            </a:r>
            <a:r>
              <a:rPr lang="en-US" sz="1800" strike="sngStrike" dirty="0">
                <a:solidFill>
                  <a:schemeClr val="bg1"/>
                </a:solidFill>
              </a:rPr>
              <a:t>and discard</a:t>
            </a: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Like </a:t>
            </a:r>
            <a:r>
              <a:rPr lang="en-US" sz="1800" dirty="0" err="1">
                <a:solidFill>
                  <a:schemeClr val="bg1"/>
                </a:solidFill>
              </a:rPr>
              <a:t>npx</a:t>
            </a:r>
            <a:r>
              <a:rPr lang="en-US" sz="1800" dirty="0">
                <a:solidFill>
                  <a:schemeClr val="bg1"/>
                </a:solidFill>
              </a:rPr>
              <a:t> for .NET</a:t>
            </a: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Keep a cache in C:\Users\&lt;current user&gt;\.</a:t>
            </a:r>
            <a:r>
              <a:rPr lang="en-US" sz="1800" dirty="0" err="1">
                <a:solidFill>
                  <a:schemeClr val="bg1"/>
                </a:solidFill>
              </a:rPr>
              <a:t>nuget</a:t>
            </a:r>
            <a:r>
              <a:rPr lang="en-US" sz="1800" dirty="0">
                <a:solidFill>
                  <a:schemeClr val="bg1"/>
                </a:solidFill>
              </a:rPr>
              <a:t>\packages\&lt;tool name&gt;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75" name="Google Shape;375;p48">
            <a:extLst>
              <a:ext uri="{FF2B5EF4-FFF2-40B4-BE49-F238E27FC236}">
                <a16:creationId xmlns:a16="http://schemas.microsoft.com/office/drawing/2014/main" id="{E154592D-A01C-A036-6997-EA3555BDE7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DF4B6E-94B7-C105-F0EC-65DB9E543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0005" y="4541178"/>
            <a:ext cx="7754010" cy="138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615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7D295FB3-F529-B752-311D-22273AA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8">
            <a:extLst>
              <a:ext uri="{FF2B5EF4-FFF2-40B4-BE49-F238E27FC236}">
                <a16:creationId xmlns:a16="http://schemas.microsoft.com/office/drawing/2014/main" id="{5679EF4F-0751-AA79-EE23-A7305B9839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</a:pPr>
            <a:r>
              <a:rPr lang="fr-FR" dirty="0"/>
              <a:t>Authoring a .NET CLI tool</a:t>
            </a:r>
            <a:endParaRPr dirty="0"/>
          </a:p>
        </p:txBody>
      </p:sp>
      <p:sp>
        <p:nvSpPr>
          <p:cNvPr id="374" name="Google Shape;374;p48">
            <a:extLst>
              <a:ext uri="{FF2B5EF4-FFF2-40B4-BE49-F238E27FC236}">
                <a16:creationId xmlns:a16="http://schemas.microsoft.com/office/drawing/2014/main" id="{4D098969-012D-12E1-CF68-790E52340DC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10773016" cy="4313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Everything is in the .</a:t>
            </a:r>
            <a:r>
              <a:rPr lang="en-US" dirty="0" err="1"/>
              <a:t>csproj</a:t>
            </a:r>
            <a:r>
              <a:rPr lang="en-US" dirty="0"/>
              <a:t>!   </a:t>
            </a:r>
            <a:r>
              <a:rPr lang="en-US" dirty="0">
                <a:solidFill>
                  <a:schemeClr val="accent5"/>
                </a:solidFill>
              </a:rPr>
              <a:t>DEMO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Tool packaging</a:t>
            </a:r>
          </a:p>
          <a:p>
            <a:pPr>
              <a:buNone/>
            </a:pP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PackAsTool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&gt;</a:t>
            </a:r>
            <a:r>
              <a:rPr lang="en-US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true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&lt;/</a:t>
            </a:r>
            <a:r>
              <a:rPr lang="en-US" sz="18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PackAsTool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ToolCommandName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&gt;</a:t>
            </a:r>
            <a:r>
              <a:rPr lang="en-US" sz="18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guidgen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&lt;/</a:t>
            </a:r>
            <a:r>
              <a:rPr lang="en-US" sz="18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ToolCommandName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PackageOutputPath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&gt;./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nupkg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&lt;/</a:t>
            </a:r>
            <a:r>
              <a:rPr lang="en-US" sz="18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PackageOutputPath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GeneratePackageOnBuild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&gt;true&lt;/</a:t>
            </a:r>
            <a:r>
              <a:rPr lang="en-US" sz="18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GeneratePackageOnBuild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&gt;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Runtime compatibility… or AOT (</a:t>
            </a:r>
            <a:r>
              <a:rPr lang="en-US" dirty="0" err="1">
                <a:solidFill>
                  <a:schemeClr val="accent5"/>
                </a:solidFill>
              </a:rPr>
              <a:t>GuidGen.Aot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pPr>
              <a:buNone/>
            </a:pPr>
            <a:r>
              <a:rPr lang="en-US" sz="1800" dirty="0">
                <a:latin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RollForward</a:t>
            </a:r>
            <a:r>
              <a:rPr lang="en-US" sz="1800" dirty="0">
                <a:latin typeface="Consolas" panose="020B0609020204030204" pitchFamily="49" charset="0"/>
              </a:rPr>
              <a:t>&gt;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Major</a:t>
            </a:r>
            <a:r>
              <a:rPr lang="en-US" sz="1800" dirty="0">
                <a:latin typeface="Consolas" panose="020B0609020204030204" pitchFamily="49" charset="0"/>
              </a:rPr>
              <a:t>&lt;/</a:t>
            </a:r>
            <a:r>
              <a:rPr lang="en-US" sz="18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RollForward</a:t>
            </a:r>
            <a:r>
              <a:rPr lang="en-US" sz="18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800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US" sz="1800" dirty="0">
                <a:solidFill>
                  <a:schemeClr val="bg1"/>
                </a:solidFill>
              </a:rPr>
              <a:t>Avoid large </a:t>
            </a:r>
            <a:r>
              <a:rPr lang="en-US" sz="1800" dirty="0">
                <a:latin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TargetFrameworks</a:t>
            </a:r>
            <a:r>
              <a:rPr lang="en-US" sz="1800" dirty="0">
                <a:latin typeface="Consolas" panose="020B0609020204030204" pitchFamily="49" charset="0"/>
              </a:rPr>
              <a:t>&gt;</a:t>
            </a: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spcAft>
                <a:spcPts val="600"/>
              </a:spcAft>
            </a:pPr>
            <a:endParaRPr lang="en-US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</a:pPr>
            <a:endParaRPr lang="fr-FR" dirty="0"/>
          </a:p>
          <a:p>
            <a:pPr marL="342900" lvl="0" indent="-342900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FontTx/>
              <a:buChar char="-"/>
            </a:pPr>
            <a:endParaRPr dirty="0"/>
          </a:p>
        </p:txBody>
      </p:sp>
      <p:sp>
        <p:nvSpPr>
          <p:cNvPr id="375" name="Google Shape;375;p48">
            <a:extLst>
              <a:ext uri="{FF2B5EF4-FFF2-40B4-BE49-F238E27FC236}">
                <a16:creationId xmlns:a16="http://schemas.microsoft.com/office/drawing/2014/main" id="{E154592D-A01C-A036-6997-EA3555BDE7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7A1FE2C-4D7F-0626-530E-4BAF115E3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3297" y="2979682"/>
            <a:ext cx="4374931" cy="4374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360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7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7D295FB3-F529-B752-311D-22273AA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8">
            <a:extLst>
              <a:ext uri="{FF2B5EF4-FFF2-40B4-BE49-F238E27FC236}">
                <a16:creationId xmlns:a16="http://schemas.microsoft.com/office/drawing/2014/main" id="{E154592D-A01C-A036-6997-EA3555BDE7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59888B-358E-C9E8-075C-71E469D40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930" y="1591906"/>
            <a:ext cx="11104069" cy="7602901"/>
          </a:xfrm>
          <a:prstGeom prst="rect">
            <a:avLst/>
          </a:prstGeom>
        </p:spPr>
      </p:pic>
      <p:sp>
        <p:nvSpPr>
          <p:cNvPr id="373" name="Google Shape;373;p48">
            <a:extLst>
              <a:ext uri="{FF2B5EF4-FFF2-40B4-BE49-F238E27FC236}">
                <a16:creationId xmlns:a16="http://schemas.microsoft.com/office/drawing/2014/main" id="{5679EF4F-0751-AA79-EE23-A7305B9839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</a:pPr>
            <a:r>
              <a:rPr lang="fr-FR" dirty="0"/>
              <a:t>Authoring a .NET CLI tool</a:t>
            </a: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95F885-55E5-750F-F619-2050F1FF1442}"/>
              </a:ext>
            </a:extLst>
          </p:cNvPr>
          <p:cNvSpPr txBox="1"/>
          <p:nvPr/>
        </p:nvSpPr>
        <p:spPr>
          <a:xfrm>
            <a:off x="1481666" y="1625773"/>
            <a:ext cx="13292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&lt;</a:t>
            </a:r>
            <a:r>
              <a:rPr lang="en-US" dirty="0">
                <a:solidFill>
                  <a:schemeClr val="accent1"/>
                </a:solidFill>
              </a:rPr>
              <a:t>Title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8774A2-B56F-1EA7-2D4C-3F133D7DC28B}"/>
              </a:ext>
            </a:extLst>
          </p:cNvPr>
          <p:cNvSpPr txBox="1"/>
          <p:nvPr/>
        </p:nvSpPr>
        <p:spPr>
          <a:xfrm>
            <a:off x="3708402" y="1744306"/>
            <a:ext cx="999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&lt;</a:t>
            </a:r>
            <a:r>
              <a:rPr lang="en-US" dirty="0">
                <a:solidFill>
                  <a:schemeClr val="accent1"/>
                </a:solidFill>
              </a:rPr>
              <a:t>Version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8D23C6-45D0-F5FA-D913-A2BA47B4A8F9}"/>
              </a:ext>
            </a:extLst>
          </p:cNvPr>
          <p:cNvSpPr txBox="1"/>
          <p:nvPr/>
        </p:nvSpPr>
        <p:spPr>
          <a:xfrm>
            <a:off x="4574100" y="4704918"/>
            <a:ext cx="22690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&lt;</a:t>
            </a:r>
            <a:r>
              <a:rPr lang="en-US" dirty="0" err="1">
                <a:solidFill>
                  <a:schemeClr val="accent1"/>
                </a:solidFill>
              </a:rPr>
              <a:t>PackageReleaseNotes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EF3871-C0F8-394E-F6C2-FD79EF9448F9}"/>
              </a:ext>
            </a:extLst>
          </p:cNvPr>
          <p:cNvSpPr txBox="1"/>
          <p:nvPr/>
        </p:nvSpPr>
        <p:spPr>
          <a:xfrm>
            <a:off x="1011768" y="4058729"/>
            <a:ext cx="22690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&lt;</a:t>
            </a:r>
            <a:r>
              <a:rPr lang="en-US" dirty="0" err="1">
                <a:solidFill>
                  <a:schemeClr val="accent1"/>
                </a:solidFill>
              </a:rPr>
              <a:t>PackageReadmeFile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B7AF2C-4089-1864-B64B-E467A7B4BC92}"/>
              </a:ext>
            </a:extLst>
          </p:cNvPr>
          <p:cNvSpPr txBox="1"/>
          <p:nvPr/>
        </p:nvSpPr>
        <p:spPr>
          <a:xfrm>
            <a:off x="9635069" y="4316233"/>
            <a:ext cx="22690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&lt;</a:t>
            </a:r>
            <a:r>
              <a:rPr lang="en-US" dirty="0" err="1">
                <a:solidFill>
                  <a:schemeClr val="accent1"/>
                </a:solidFill>
              </a:rPr>
              <a:t>PackageRepositoryUrl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382CBC-911C-1889-1401-C67648EE0A2D}"/>
              </a:ext>
            </a:extLst>
          </p:cNvPr>
          <p:cNvSpPr txBox="1"/>
          <p:nvPr/>
        </p:nvSpPr>
        <p:spPr>
          <a:xfrm>
            <a:off x="9635069" y="3920273"/>
            <a:ext cx="18885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&lt;</a:t>
            </a:r>
            <a:r>
              <a:rPr lang="en-US" dirty="0" err="1">
                <a:solidFill>
                  <a:schemeClr val="accent1"/>
                </a:solidFill>
              </a:rPr>
              <a:t>PackageProjectUrl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&gt;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6BD0479-5136-9901-6962-759D1FB1D720}"/>
              </a:ext>
            </a:extLst>
          </p:cNvPr>
          <p:cNvSpPr/>
          <p:nvPr/>
        </p:nvSpPr>
        <p:spPr>
          <a:xfrm>
            <a:off x="1533832" y="1898194"/>
            <a:ext cx="2216896" cy="349460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0CB8EC-352F-9C95-9AD2-D1F0D509747A}"/>
              </a:ext>
            </a:extLst>
          </p:cNvPr>
          <p:cNvSpPr/>
          <p:nvPr/>
        </p:nvSpPr>
        <p:spPr>
          <a:xfrm>
            <a:off x="3879104" y="1986818"/>
            <a:ext cx="354229" cy="197581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E15F2C7-D41D-137C-D99B-6A50956D4CB4}"/>
              </a:ext>
            </a:extLst>
          </p:cNvPr>
          <p:cNvSpPr/>
          <p:nvPr/>
        </p:nvSpPr>
        <p:spPr>
          <a:xfrm>
            <a:off x="1244600" y="4349525"/>
            <a:ext cx="770468" cy="205541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BFC1F2-AD03-D48F-9015-CE3C77002B2A}"/>
              </a:ext>
            </a:extLst>
          </p:cNvPr>
          <p:cNvSpPr/>
          <p:nvPr/>
        </p:nvSpPr>
        <p:spPr>
          <a:xfrm>
            <a:off x="1134533" y="4967591"/>
            <a:ext cx="5511799" cy="205541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C3D98DE-2A61-CC42-B011-66AE5B4D97F4}"/>
              </a:ext>
            </a:extLst>
          </p:cNvPr>
          <p:cNvSpPr/>
          <p:nvPr/>
        </p:nvSpPr>
        <p:spPr>
          <a:xfrm>
            <a:off x="9766300" y="4171725"/>
            <a:ext cx="1068388" cy="205541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17D1BB-6BB2-8C76-BBBC-EECEE342306C}"/>
              </a:ext>
            </a:extLst>
          </p:cNvPr>
          <p:cNvSpPr/>
          <p:nvPr/>
        </p:nvSpPr>
        <p:spPr>
          <a:xfrm>
            <a:off x="9769474" y="4573364"/>
            <a:ext cx="1230313" cy="187550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3FD8273-B12E-E2B7-C4DD-B78726807C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427"/>
            <a:ext cx="12192000" cy="158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20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2.59259E-6 L 0.00065 -0.33819 " pathEditMode="relative" rAng="0" ptsTypes="AA">
                                      <p:cBhvr>
                                        <p:cTn id="7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-169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2" grpId="0"/>
      <p:bldP spid="12" grpId="1"/>
      <p:bldP spid="13" grpId="0"/>
      <p:bldP spid="13" grpId="1"/>
      <p:bldP spid="14" grpId="0"/>
      <p:bldP spid="14" grpId="1"/>
      <p:bldP spid="16" grpId="0"/>
      <p:bldP spid="16" grpId="1"/>
      <p:bldP spid="17" grpId="0"/>
      <p:bldP spid="17" grpId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7D295FB3-F529-B752-311D-22273AA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8">
            <a:extLst>
              <a:ext uri="{FF2B5EF4-FFF2-40B4-BE49-F238E27FC236}">
                <a16:creationId xmlns:a16="http://schemas.microsoft.com/office/drawing/2014/main" id="{5679EF4F-0751-AA79-EE23-A7305B9839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</a:pPr>
            <a:r>
              <a:rPr lang="fr-FR" dirty="0"/>
              <a:t>Authoring a .NET CLI tool</a:t>
            </a:r>
            <a:endParaRPr dirty="0"/>
          </a:p>
        </p:txBody>
      </p:sp>
      <p:sp>
        <p:nvSpPr>
          <p:cNvPr id="375" name="Google Shape;375;p48">
            <a:extLst>
              <a:ext uri="{FF2B5EF4-FFF2-40B4-BE49-F238E27FC236}">
                <a16:creationId xmlns:a16="http://schemas.microsoft.com/office/drawing/2014/main" id="{E154592D-A01C-A036-6997-EA3555BDE7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59888B-358E-C9E8-075C-71E469D40F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378"/>
          <a:stretch>
            <a:fillRect/>
          </a:stretch>
        </p:blipFill>
        <p:spPr>
          <a:xfrm>
            <a:off x="1094280" y="1581723"/>
            <a:ext cx="11104069" cy="52933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435F3CA-D3C4-690F-60B3-06BC7768D9E1}"/>
              </a:ext>
            </a:extLst>
          </p:cNvPr>
          <p:cNvSpPr txBox="1"/>
          <p:nvPr/>
        </p:nvSpPr>
        <p:spPr>
          <a:xfrm>
            <a:off x="9859367" y="4921423"/>
            <a:ext cx="1030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&lt;</a:t>
            </a:r>
            <a:r>
              <a:rPr lang="en-US" dirty="0">
                <a:solidFill>
                  <a:schemeClr val="accent1"/>
                </a:solidFill>
              </a:rPr>
              <a:t>Owners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&gt;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ACC262-0B58-90E2-B815-0D555F41A9F4}"/>
              </a:ext>
            </a:extLst>
          </p:cNvPr>
          <p:cNvSpPr/>
          <p:nvPr/>
        </p:nvSpPr>
        <p:spPr>
          <a:xfrm>
            <a:off x="9986360" y="5226050"/>
            <a:ext cx="605440" cy="190500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C67973-7972-A7CF-B773-698E0A7DF42D}"/>
              </a:ext>
            </a:extLst>
          </p:cNvPr>
          <p:cNvSpPr txBox="1"/>
          <p:nvPr/>
        </p:nvSpPr>
        <p:spPr>
          <a:xfrm>
            <a:off x="9541866" y="5605107"/>
            <a:ext cx="15558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&lt;</a:t>
            </a:r>
            <a:r>
              <a:rPr lang="en-US" dirty="0" err="1">
                <a:solidFill>
                  <a:schemeClr val="accent1"/>
                </a:solidFill>
              </a:rPr>
              <a:t>PackageTags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&gt;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57CD07-E542-40A6-6861-E0CBA5202975}"/>
              </a:ext>
            </a:extLst>
          </p:cNvPr>
          <p:cNvSpPr/>
          <p:nvPr/>
        </p:nvSpPr>
        <p:spPr>
          <a:xfrm>
            <a:off x="9594850" y="5899150"/>
            <a:ext cx="2006600" cy="263524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B37657-2C76-8651-4F77-494BBE620084}"/>
              </a:ext>
            </a:extLst>
          </p:cNvPr>
          <p:cNvSpPr txBox="1"/>
          <p:nvPr/>
        </p:nvSpPr>
        <p:spPr>
          <a:xfrm>
            <a:off x="9424391" y="6176607"/>
            <a:ext cx="15558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&lt;</a:t>
            </a:r>
            <a:r>
              <a:rPr lang="en-US" dirty="0">
                <a:solidFill>
                  <a:schemeClr val="accent1"/>
                </a:solidFill>
              </a:rPr>
              <a:t>Copyright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&gt;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C5DBB9-1017-7A60-C26E-2E89F11C6AD6}"/>
              </a:ext>
            </a:extLst>
          </p:cNvPr>
          <p:cNvSpPr/>
          <p:nvPr/>
        </p:nvSpPr>
        <p:spPr>
          <a:xfrm>
            <a:off x="9518650" y="6448424"/>
            <a:ext cx="2508249" cy="377825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4E885D-5F05-264E-B9A0-7A2765D01FBE}"/>
              </a:ext>
            </a:extLst>
          </p:cNvPr>
          <p:cNvSpPr txBox="1"/>
          <p:nvPr/>
        </p:nvSpPr>
        <p:spPr>
          <a:xfrm>
            <a:off x="8267639" y="1958110"/>
            <a:ext cx="16468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&lt;</a:t>
            </a:r>
            <a:r>
              <a:rPr lang="en-US" dirty="0" err="1">
                <a:solidFill>
                  <a:schemeClr val="accent1"/>
                </a:solidFill>
              </a:rPr>
              <a:t>RepositoryType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&gt;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D10373-B22C-C86C-09FF-5116C5099205}"/>
              </a:ext>
            </a:extLst>
          </p:cNvPr>
          <p:cNvSpPr/>
          <p:nvPr/>
        </p:nvSpPr>
        <p:spPr>
          <a:xfrm>
            <a:off x="9518649" y="2220404"/>
            <a:ext cx="234951" cy="190500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E86A2C-D564-B923-53EF-8924018828B7}"/>
              </a:ext>
            </a:extLst>
          </p:cNvPr>
          <p:cNvSpPr txBox="1"/>
          <p:nvPr/>
        </p:nvSpPr>
        <p:spPr>
          <a:xfrm>
            <a:off x="9423404" y="2375541"/>
            <a:ext cx="25735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&lt;</a:t>
            </a:r>
            <a:r>
              <a:rPr lang="en-US" dirty="0" err="1">
                <a:solidFill>
                  <a:schemeClr val="accent1"/>
                </a:solidFill>
              </a:rPr>
              <a:t>PackageLicenceExpression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&gt;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FBFF17-1D7E-A5D4-95DE-08BBE9DB4CEF}"/>
              </a:ext>
            </a:extLst>
          </p:cNvPr>
          <p:cNvSpPr/>
          <p:nvPr/>
        </p:nvSpPr>
        <p:spPr>
          <a:xfrm>
            <a:off x="9766301" y="2637157"/>
            <a:ext cx="801688" cy="187550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903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6" grpId="0"/>
      <p:bldP spid="8" grpId="0" animBg="1"/>
      <p:bldP spid="9" grpId="0"/>
      <p:bldP spid="10" grpId="0" animBg="1"/>
      <p:bldP spid="11" grpId="0"/>
      <p:bldP spid="12" grpId="0" animBg="1"/>
      <p:bldP spid="13" grpId="0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7D295FB3-F529-B752-311D-22273AA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8">
            <a:extLst>
              <a:ext uri="{FF2B5EF4-FFF2-40B4-BE49-F238E27FC236}">
                <a16:creationId xmlns:a16="http://schemas.microsoft.com/office/drawing/2014/main" id="{5679EF4F-0751-AA79-EE23-A7305B9839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</a:pPr>
            <a:r>
              <a:rPr lang="fr-FR" dirty="0" err="1"/>
              <a:t>Testing</a:t>
            </a:r>
            <a:r>
              <a:rPr lang="fr-FR" dirty="0"/>
              <a:t> a .NET CLI tool</a:t>
            </a:r>
            <a:endParaRPr dirty="0"/>
          </a:p>
        </p:txBody>
      </p:sp>
      <p:sp>
        <p:nvSpPr>
          <p:cNvPr id="374" name="Google Shape;374;p48">
            <a:extLst>
              <a:ext uri="{FF2B5EF4-FFF2-40B4-BE49-F238E27FC236}">
                <a16:creationId xmlns:a16="http://schemas.microsoft.com/office/drawing/2014/main" id="{4D098969-012D-12E1-CF68-790E52340DC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10773016" cy="4313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Uninstall current version if any</a:t>
            </a:r>
            <a:br>
              <a:rPr lang="en-US" dirty="0"/>
            </a:b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dotnet tool uninstall -g dotnet-</a:t>
            </a:r>
            <a:r>
              <a:rPr 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dstrings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Install from the source folder</a:t>
            </a:r>
            <a:br>
              <a:rPr lang="en-US" dirty="0"/>
            </a:b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dotnet tool install -g dotnet-</a:t>
            </a:r>
            <a:r>
              <a:rPr 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dstrings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--add-source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./dotnet-</a:t>
            </a:r>
            <a:r>
              <a:rPr 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dstrings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/</a:t>
            </a:r>
            <a:r>
              <a:rPr 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nupkg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--version 2.1.0</a:t>
            </a:r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  <a:p>
            <a:pPr marL="0" lvl="0" indent="0">
              <a:spcAft>
                <a:spcPts val="600"/>
              </a:spcAft>
            </a:pPr>
            <a:b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</a:br>
            <a:endParaRPr lang="en-US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</a:pPr>
            <a:endParaRPr lang="fr-FR" dirty="0"/>
          </a:p>
          <a:p>
            <a:pPr marL="342900" lvl="0" indent="-342900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FontTx/>
              <a:buChar char="-"/>
            </a:pPr>
            <a:endParaRPr dirty="0"/>
          </a:p>
        </p:txBody>
      </p:sp>
      <p:sp>
        <p:nvSpPr>
          <p:cNvPr id="375" name="Google Shape;375;p48">
            <a:extLst>
              <a:ext uri="{FF2B5EF4-FFF2-40B4-BE49-F238E27FC236}">
                <a16:creationId xmlns:a16="http://schemas.microsoft.com/office/drawing/2014/main" id="{E154592D-A01C-A036-6997-EA3555BDE7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FD9FE9-4261-B236-5CD9-F24CB3E61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7503" y="3358054"/>
            <a:ext cx="3894083" cy="3894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218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7D295FB3-F529-B752-311D-22273AA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8">
            <a:extLst>
              <a:ext uri="{FF2B5EF4-FFF2-40B4-BE49-F238E27FC236}">
                <a16:creationId xmlns:a16="http://schemas.microsoft.com/office/drawing/2014/main" id="{5679EF4F-0751-AA79-EE23-A7305B9839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</a:pPr>
            <a:r>
              <a:rPr lang="fr-FR" dirty="0"/>
              <a:t>Look </a:t>
            </a:r>
            <a:r>
              <a:rPr lang="fr-FR" dirty="0" err="1"/>
              <a:t>inside</a:t>
            </a:r>
            <a:r>
              <a:rPr lang="fr-FR" dirty="0"/>
              <a:t> the CLR  (1/2)</a:t>
            </a:r>
            <a:endParaRPr dirty="0"/>
          </a:p>
        </p:txBody>
      </p:sp>
      <p:sp>
        <p:nvSpPr>
          <p:cNvPr id="374" name="Google Shape;374;p48">
            <a:extLst>
              <a:ext uri="{FF2B5EF4-FFF2-40B4-BE49-F238E27FC236}">
                <a16:creationId xmlns:a16="http://schemas.microsoft.com/office/drawing/2014/main" id="{4D098969-012D-12E1-CF68-790E52340DC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10773016" cy="4313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Existing 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Microsoft CLI tools</a:t>
            </a:r>
            <a:endParaRPr lang="en-US" dirty="0"/>
          </a:p>
          <a:p>
            <a:r>
              <a:rPr lang="en-US" b="1" dirty="0"/>
              <a:t>   dotnet-counters</a:t>
            </a:r>
            <a:r>
              <a:rPr lang="en-US" dirty="0"/>
              <a:t> — monitor real-time counters and metrics</a:t>
            </a:r>
          </a:p>
        </p:txBody>
      </p:sp>
      <p:sp>
        <p:nvSpPr>
          <p:cNvPr id="375" name="Google Shape;375;p48">
            <a:extLst>
              <a:ext uri="{FF2B5EF4-FFF2-40B4-BE49-F238E27FC236}">
                <a16:creationId xmlns:a16="http://schemas.microsoft.com/office/drawing/2014/main" id="{E154592D-A01C-A036-6997-EA3555BDE7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07D2F7-AFD2-8591-834C-21ECC1B163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1879" y="0"/>
            <a:ext cx="67400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635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7D295FB3-F529-B752-311D-22273AA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8">
            <a:extLst>
              <a:ext uri="{FF2B5EF4-FFF2-40B4-BE49-F238E27FC236}">
                <a16:creationId xmlns:a16="http://schemas.microsoft.com/office/drawing/2014/main" id="{5679EF4F-0751-AA79-EE23-A7305B9839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</a:pPr>
            <a:r>
              <a:rPr lang="fr-FR" dirty="0"/>
              <a:t>Look </a:t>
            </a:r>
            <a:r>
              <a:rPr lang="fr-FR" dirty="0" err="1"/>
              <a:t>inside</a:t>
            </a:r>
            <a:r>
              <a:rPr lang="fr-FR" dirty="0"/>
              <a:t> the CLR  (1/2)</a:t>
            </a:r>
            <a:endParaRPr dirty="0"/>
          </a:p>
        </p:txBody>
      </p:sp>
      <p:sp>
        <p:nvSpPr>
          <p:cNvPr id="374" name="Google Shape;374;p48">
            <a:extLst>
              <a:ext uri="{FF2B5EF4-FFF2-40B4-BE49-F238E27FC236}">
                <a16:creationId xmlns:a16="http://schemas.microsoft.com/office/drawing/2014/main" id="{4D098969-012D-12E1-CF68-790E52340DC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10773016" cy="4313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Existing 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Microsoft CLI tools</a:t>
            </a:r>
            <a:endParaRPr lang="en-US" dirty="0"/>
          </a:p>
          <a:p>
            <a:r>
              <a:rPr lang="en-US" b="1" dirty="0"/>
              <a:t>   dotnet-counters</a:t>
            </a:r>
            <a:r>
              <a:rPr lang="en-US" dirty="0"/>
              <a:t> — monitor real-time counters and metrics</a:t>
            </a:r>
          </a:p>
          <a:p>
            <a:r>
              <a:rPr lang="en-US" b="1" dirty="0"/>
              <a:t>   dotnet-trace</a:t>
            </a:r>
            <a:r>
              <a:rPr lang="en-US" dirty="0"/>
              <a:t> — collect events from BCL/CLR/+ (.</a:t>
            </a:r>
            <a:r>
              <a:rPr lang="en-US" dirty="0" err="1"/>
              <a:t>nettrace</a:t>
            </a:r>
            <a:r>
              <a:rPr lang="en-US" dirty="0"/>
              <a:t> files)</a:t>
            </a:r>
          </a:p>
          <a:p>
            <a:endParaRPr lang="en-US" b="1" dirty="0"/>
          </a:p>
        </p:txBody>
      </p:sp>
      <p:sp>
        <p:nvSpPr>
          <p:cNvPr id="375" name="Google Shape;375;p48">
            <a:extLst>
              <a:ext uri="{FF2B5EF4-FFF2-40B4-BE49-F238E27FC236}">
                <a16:creationId xmlns:a16="http://schemas.microsoft.com/office/drawing/2014/main" id="{E154592D-A01C-A036-6997-EA3555BDE7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536053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7D295FB3-F529-B752-311D-22273AA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8">
            <a:extLst>
              <a:ext uri="{FF2B5EF4-FFF2-40B4-BE49-F238E27FC236}">
                <a16:creationId xmlns:a16="http://schemas.microsoft.com/office/drawing/2014/main" id="{5679EF4F-0751-AA79-EE23-A7305B9839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</a:pPr>
            <a:r>
              <a:rPr lang="fr-FR" dirty="0"/>
              <a:t>Look </a:t>
            </a:r>
            <a:r>
              <a:rPr lang="fr-FR" dirty="0" err="1"/>
              <a:t>inside</a:t>
            </a:r>
            <a:r>
              <a:rPr lang="fr-FR" dirty="0"/>
              <a:t> the CLR  (1/2)</a:t>
            </a:r>
            <a:endParaRPr dirty="0"/>
          </a:p>
        </p:txBody>
      </p:sp>
      <p:sp>
        <p:nvSpPr>
          <p:cNvPr id="374" name="Google Shape;374;p48">
            <a:extLst>
              <a:ext uri="{FF2B5EF4-FFF2-40B4-BE49-F238E27FC236}">
                <a16:creationId xmlns:a16="http://schemas.microsoft.com/office/drawing/2014/main" id="{4D098969-012D-12E1-CF68-790E52340DC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10773016" cy="4313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Existing 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Microsoft CLI tools</a:t>
            </a:r>
            <a:endParaRPr lang="en-US" dirty="0"/>
          </a:p>
          <a:p>
            <a:r>
              <a:rPr lang="en-US" b="1" dirty="0"/>
              <a:t>   dotnet-counters</a:t>
            </a:r>
            <a:r>
              <a:rPr lang="en-US" dirty="0"/>
              <a:t> — monitor real-time counters and metrics</a:t>
            </a:r>
          </a:p>
          <a:p>
            <a:r>
              <a:rPr lang="en-US" b="1" dirty="0"/>
              <a:t>   dotnet-trace</a:t>
            </a:r>
            <a:r>
              <a:rPr lang="en-US" dirty="0"/>
              <a:t> — collect events from BCL/CLR/+ (.</a:t>
            </a:r>
            <a:r>
              <a:rPr lang="en-US" dirty="0" err="1"/>
              <a:t>nettrace</a:t>
            </a:r>
            <a:r>
              <a:rPr lang="en-US" dirty="0"/>
              <a:t> files)</a:t>
            </a:r>
          </a:p>
          <a:p>
            <a:endParaRPr lang="en-US" b="1" dirty="0"/>
          </a:p>
          <a:p>
            <a:r>
              <a:rPr lang="en-US" b="1" dirty="0"/>
              <a:t>   dotnet-dump</a:t>
            </a:r>
            <a:r>
              <a:rPr lang="en-US" dirty="0"/>
              <a:t> — capture and analyze memory dumps (SOS commands)</a:t>
            </a:r>
          </a:p>
          <a:p>
            <a:r>
              <a:rPr lang="en-US" b="1" dirty="0"/>
              <a:t>   dotnet-</a:t>
            </a:r>
            <a:r>
              <a:rPr lang="en-US" b="1" dirty="0" err="1"/>
              <a:t>gcdump</a:t>
            </a:r>
            <a:r>
              <a:rPr lang="en-US" dirty="0"/>
              <a:t> — capture GC heap snapshots (lighter than full dumps)</a:t>
            </a:r>
          </a:p>
          <a:p>
            <a:endParaRPr lang="en-US" dirty="0"/>
          </a:p>
        </p:txBody>
      </p:sp>
      <p:sp>
        <p:nvSpPr>
          <p:cNvPr id="375" name="Google Shape;375;p48">
            <a:extLst>
              <a:ext uri="{FF2B5EF4-FFF2-40B4-BE49-F238E27FC236}">
                <a16:creationId xmlns:a16="http://schemas.microsoft.com/office/drawing/2014/main" id="{E154592D-A01C-A036-6997-EA3555BDE7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4C1799-97BA-21CF-8CC1-F4C311F225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92211"/>
            <a:ext cx="12192000" cy="5921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10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7D295FB3-F529-B752-311D-22273AA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8">
            <a:extLst>
              <a:ext uri="{FF2B5EF4-FFF2-40B4-BE49-F238E27FC236}">
                <a16:creationId xmlns:a16="http://schemas.microsoft.com/office/drawing/2014/main" id="{5679EF4F-0751-AA79-EE23-A7305B9839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</a:pPr>
            <a:r>
              <a:rPr lang="fr-FR" dirty="0"/>
              <a:t>Look </a:t>
            </a:r>
            <a:r>
              <a:rPr lang="fr-FR" dirty="0" err="1"/>
              <a:t>inside</a:t>
            </a:r>
            <a:r>
              <a:rPr lang="fr-FR" dirty="0"/>
              <a:t> the CLR  (1/2)</a:t>
            </a:r>
            <a:endParaRPr dirty="0"/>
          </a:p>
        </p:txBody>
      </p:sp>
      <p:sp>
        <p:nvSpPr>
          <p:cNvPr id="374" name="Google Shape;374;p48">
            <a:extLst>
              <a:ext uri="{FF2B5EF4-FFF2-40B4-BE49-F238E27FC236}">
                <a16:creationId xmlns:a16="http://schemas.microsoft.com/office/drawing/2014/main" id="{4D098969-012D-12E1-CF68-790E52340DC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10773016" cy="4313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Existing 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Microsoft CLI tools</a:t>
            </a:r>
            <a:endParaRPr lang="en-US" dirty="0"/>
          </a:p>
          <a:p>
            <a:r>
              <a:rPr lang="en-US" b="1" dirty="0"/>
              <a:t>   dotnet-counters</a:t>
            </a:r>
            <a:r>
              <a:rPr lang="en-US" dirty="0"/>
              <a:t> — monitor real-time counters and metrics</a:t>
            </a:r>
          </a:p>
          <a:p>
            <a:r>
              <a:rPr lang="en-US" b="1" dirty="0"/>
              <a:t>   dotnet-trace</a:t>
            </a:r>
            <a:r>
              <a:rPr lang="en-US" dirty="0"/>
              <a:t> — collect events from BCL/CLR/+ (.</a:t>
            </a:r>
            <a:r>
              <a:rPr lang="en-US" dirty="0" err="1"/>
              <a:t>nettrace</a:t>
            </a:r>
            <a:r>
              <a:rPr lang="en-US" dirty="0"/>
              <a:t> files)</a:t>
            </a:r>
          </a:p>
          <a:p>
            <a:endParaRPr lang="en-US" b="1" dirty="0"/>
          </a:p>
          <a:p>
            <a:r>
              <a:rPr lang="en-US" b="1" dirty="0"/>
              <a:t>   dotnet-dump</a:t>
            </a:r>
            <a:r>
              <a:rPr lang="en-US" dirty="0"/>
              <a:t> — capture and analyze memory dumps (SOS commands)</a:t>
            </a:r>
          </a:p>
          <a:p>
            <a:r>
              <a:rPr lang="en-US" b="1" dirty="0"/>
              <a:t>   dotnet-</a:t>
            </a:r>
            <a:r>
              <a:rPr lang="en-US" b="1" dirty="0" err="1"/>
              <a:t>gcdump</a:t>
            </a:r>
            <a:r>
              <a:rPr lang="en-US" dirty="0"/>
              <a:t> — capture GC heap snapshots (lighter than full dumps)</a:t>
            </a:r>
          </a:p>
          <a:p>
            <a:r>
              <a:rPr lang="en-US" b="1" dirty="0"/>
              <a:t>   dotnet-stack</a:t>
            </a:r>
            <a:r>
              <a:rPr lang="en-US" dirty="0"/>
              <a:t> — show managed stacks of a running process threads</a:t>
            </a:r>
          </a:p>
          <a:p>
            <a:endParaRPr lang="en-US" b="1" dirty="0"/>
          </a:p>
          <a:p>
            <a:r>
              <a:rPr lang="en-US" b="1" dirty="0"/>
              <a:t>   dotnet-</a:t>
            </a:r>
            <a:r>
              <a:rPr lang="en-US" b="1" dirty="0" err="1"/>
              <a:t>sos</a:t>
            </a:r>
            <a:r>
              <a:rPr lang="en-US" dirty="0"/>
              <a:t> — install the SOS debugging extension</a:t>
            </a:r>
          </a:p>
          <a:p>
            <a:r>
              <a:rPr lang="en-US" b="1" dirty="0"/>
              <a:t>   dotnet-symbol</a:t>
            </a:r>
            <a:r>
              <a:rPr lang="en-US" dirty="0"/>
              <a:t> — download symbols, DAC, and modules for debugging</a:t>
            </a:r>
          </a:p>
        </p:txBody>
      </p:sp>
      <p:sp>
        <p:nvSpPr>
          <p:cNvPr id="375" name="Google Shape;375;p48">
            <a:extLst>
              <a:ext uri="{FF2B5EF4-FFF2-40B4-BE49-F238E27FC236}">
                <a16:creationId xmlns:a16="http://schemas.microsoft.com/office/drawing/2014/main" id="{E154592D-A01C-A036-6997-EA3555BDE7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17CC30-7B87-ADE3-2C4E-649BADF8A7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8091"/>
            <a:ext cx="12192000" cy="5441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083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7D295FB3-F529-B752-311D-22273AA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8">
            <a:extLst>
              <a:ext uri="{FF2B5EF4-FFF2-40B4-BE49-F238E27FC236}">
                <a16:creationId xmlns:a16="http://schemas.microsoft.com/office/drawing/2014/main" id="{5679EF4F-0751-AA79-EE23-A7305B9839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dirty="0"/>
              <a:t>Look </a:t>
            </a:r>
            <a:r>
              <a:rPr lang="fr-FR" dirty="0" err="1"/>
              <a:t>inside</a:t>
            </a:r>
            <a:r>
              <a:rPr lang="fr-FR" dirty="0"/>
              <a:t> the CLR  (2/2)</a:t>
            </a:r>
            <a:endParaRPr dirty="0"/>
          </a:p>
        </p:txBody>
      </p:sp>
      <p:sp>
        <p:nvSpPr>
          <p:cNvPr id="374" name="Google Shape;374;p48">
            <a:extLst>
              <a:ext uri="{FF2B5EF4-FFF2-40B4-BE49-F238E27FC236}">
                <a16:creationId xmlns:a16="http://schemas.microsoft.com/office/drawing/2014/main" id="{4D098969-012D-12E1-CF68-790E52340DC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95085" y="2077084"/>
            <a:ext cx="10773016" cy="4431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Other tools</a:t>
            </a:r>
          </a:p>
          <a:p>
            <a:r>
              <a:rPr lang="en-US" b="1" dirty="0"/>
              <a:t>   dotnet-</a:t>
            </a:r>
            <a:r>
              <a:rPr lang="en-US" b="1" dirty="0" err="1"/>
              <a:t>gcmon</a:t>
            </a:r>
            <a:r>
              <a:rPr lang="en-US" dirty="0"/>
              <a:t> — monitor GCs in real-time</a:t>
            </a:r>
          </a:p>
          <a:p>
            <a:r>
              <a:rPr lang="en-US" b="1" dirty="0"/>
              <a:t>   dotnet-</a:t>
            </a:r>
            <a:r>
              <a:rPr lang="en-US" b="1" dirty="0" err="1"/>
              <a:t>gcstats</a:t>
            </a:r>
            <a:r>
              <a:rPr lang="en-US" dirty="0"/>
              <a:t> — monitor GCs in real-time</a:t>
            </a:r>
          </a:p>
        </p:txBody>
      </p:sp>
      <p:sp>
        <p:nvSpPr>
          <p:cNvPr id="375" name="Google Shape;375;p48">
            <a:extLst>
              <a:ext uri="{FF2B5EF4-FFF2-40B4-BE49-F238E27FC236}">
                <a16:creationId xmlns:a16="http://schemas.microsoft.com/office/drawing/2014/main" id="{E154592D-A01C-A036-6997-EA3555BDE7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F00F31-2920-D28C-C803-A2B314B85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8847" y="2713835"/>
            <a:ext cx="3969381" cy="39693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8D65FF7-9F18-0B21-E56A-82B16B19B7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2619" y="-34"/>
            <a:ext cx="78193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821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7D295FB3-F529-B752-311D-22273AA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8">
            <a:extLst>
              <a:ext uri="{FF2B5EF4-FFF2-40B4-BE49-F238E27FC236}">
                <a16:creationId xmlns:a16="http://schemas.microsoft.com/office/drawing/2014/main" id="{5679EF4F-0751-AA79-EE23-A7305B9839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dirty="0"/>
              <a:t>Look </a:t>
            </a:r>
            <a:r>
              <a:rPr lang="fr-FR" dirty="0" err="1"/>
              <a:t>inside</a:t>
            </a:r>
            <a:r>
              <a:rPr lang="fr-FR" dirty="0"/>
              <a:t> the CLR  (2/2)</a:t>
            </a:r>
            <a:endParaRPr dirty="0"/>
          </a:p>
        </p:txBody>
      </p:sp>
      <p:sp>
        <p:nvSpPr>
          <p:cNvPr id="374" name="Google Shape;374;p48">
            <a:extLst>
              <a:ext uri="{FF2B5EF4-FFF2-40B4-BE49-F238E27FC236}">
                <a16:creationId xmlns:a16="http://schemas.microsoft.com/office/drawing/2014/main" id="{4D098969-012D-12E1-CF68-790E52340DC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95085" y="2077084"/>
            <a:ext cx="10773016" cy="4431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Other tools</a:t>
            </a:r>
          </a:p>
          <a:p>
            <a:r>
              <a:rPr lang="en-US" b="1" dirty="0"/>
              <a:t>   dotnet-</a:t>
            </a:r>
            <a:r>
              <a:rPr lang="en-US" b="1" dirty="0" err="1"/>
              <a:t>gcmon</a:t>
            </a:r>
            <a:r>
              <a:rPr lang="en-US" dirty="0"/>
              <a:t> — monitor GCs in real-time</a:t>
            </a:r>
          </a:p>
          <a:p>
            <a:r>
              <a:rPr lang="en-US" b="1" dirty="0"/>
              <a:t>   dotnet-</a:t>
            </a:r>
            <a:r>
              <a:rPr lang="en-US" b="1" dirty="0" err="1"/>
              <a:t>gcstats</a:t>
            </a:r>
            <a:r>
              <a:rPr lang="en-US" dirty="0"/>
              <a:t> — monitor GCs in real-time</a:t>
            </a:r>
          </a:p>
          <a:p>
            <a:r>
              <a:rPr lang="en-US" b="1" dirty="0"/>
              <a:t>   </a:t>
            </a:r>
            <a:r>
              <a:rPr lang="en-US" b="1" dirty="0" err="1"/>
              <a:t>GummyCat</a:t>
            </a:r>
            <a:r>
              <a:rPr lang="en-US" dirty="0"/>
              <a:t> — monitor GCs in a GUI</a:t>
            </a:r>
          </a:p>
          <a:p>
            <a:r>
              <a:rPr lang="en-US" b="1" dirty="0"/>
              <a:t>    </a:t>
            </a:r>
            <a:endParaRPr lang="en-US" dirty="0"/>
          </a:p>
        </p:txBody>
      </p:sp>
      <p:sp>
        <p:nvSpPr>
          <p:cNvPr id="375" name="Google Shape;375;p48">
            <a:extLst>
              <a:ext uri="{FF2B5EF4-FFF2-40B4-BE49-F238E27FC236}">
                <a16:creationId xmlns:a16="http://schemas.microsoft.com/office/drawing/2014/main" id="{E154592D-A01C-A036-6997-EA3555BDE7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F00F31-2920-D28C-C803-A2B314B85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8847" y="2713835"/>
            <a:ext cx="3969381" cy="39693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C81C239-8C19-6F3C-46E6-E4ED0CBB55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077084"/>
            <a:ext cx="12192000" cy="4772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876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7D295FB3-F529-B752-311D-22273AA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8">
            <a:extLst>
              <a:ext uri="{FF2B5EF4-FFF2-40B4-BE49-F238E27FC236}">
                <a16:creationId xmlns:a16="http://schemas.microsoft.com/office/drawing/2014/main" id="{5679EF4F-0751-AA79-EE23-A7305B9839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dirty="0"/>
              <a:t>Look </a:t>
            </a:r>
            <a:r>
              <a:rPr lang="fr-FR" dirty="0" err="1"/>
              <a:t>inside</a:t>
            </a:r>
            <a:r>
              <a:rPr lang="fr-FR" dirty="0"/>
              <a:t> the CLR  (2/2)</a:t>
            </a:r>
            <a:endParaRPr dirty="0"/>
          </a:p>
        </p:txBody>
      </p:sp>
      <p:sp>
        <p:nvSpPr>
          <p:cNvPr id="374" name="Google Shape;374;p48">
            <a:extLst>
              <a:ext uri="{FF2B5EF4-FFF2-40B4-BE49-F238E27FC236}">
                <a16:creationId xmlns:a16="http://schemas.microsoft.com/office/drawing/2014/main" id="{4D098969-012D-12E1-CF68-790E52340DC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95085" y="2077084"/>
            <a:ext cx="10773016" cy="4431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Other tools</a:t>
            </a:r>
          </a:p>
          <a:p>
            <a:r>
              <a:rPr lang="en-US" b="1" dirty="0"/>
              <a:t>   dotnet-</a:t>
            </a:r>
            <a:r>
              <a:rPr lang="en-US" b="1" dirty="0" err="1"/>
              <a:t>gcmon</a:t>
            </a:r>
            <a:r>
              <a:rPr lang="en-US" dirty="0"/>
              <a:t> — monitor GCs in real-time</a:t>
            </a:r>
          </a:p>
          <a:p>
            <a:r>
              <a:rPr lang="en-US" b="1" dirty="0"/>
              <a:t>   dotnet-</a:t>
            </a:r>
            <a:r>
              <a:rPr lang="en-US" b="1" dirty="0" err="1"/>
              <a:t>gcstats</a:t>
            </a:r>
            <a:r>
              <a:rPr lang="en-US" dirty="0"/>
              <a:t> — monitor GCs in real-time</a:t>
            </a:r>
          </a:p>
          <a:p>
            <a:r>
              <a:rPr lang="en-US" b="1" dirty="0"/>
              <a:t>   </a:t>
            </a:r>
            <a:r>
              <a:rPr lang="en-US" b="1" dirty="0" err="1"/>
              <a:t>GummyCat</a:t>
            </a:r>
            <a:r>
              <a:rPr lang="en-US" dirty="0"/>
              <a:t> — monitor GCs in a GUI</a:t>
            </a:r>
          </a:p>
          <a:p>
            <a:r>
              <a:rPr lang="en-US" b="1" dirty="0"/>
              <a:t>  </a:t>
            </a:r>
          </a:p>
          <a:p>
            <a:r>
              <a:rPr lang="en-US" b="1" dirty="0"/>
              <a:t>   dotnet-</a:t>
            </a:r>
            <a:r>
              <a:rPr lang="en-US" b="1" dirty="0" err="1"/>
              <a:t>dstrings</a:t>
            </a:r>
            <a:r>
              <a:rPr lang="en-US" dirty="0"/>
              <a:t> — look for duplicated strings</a:t>
            </a:r>
          </a:p>
        </p:txBody>
      </p:sp>
      <p:sp>
        <p:nvSpPr>
          <p:cNvPr id="375" name="Google Shape;375;p48">
            <a:extLst>
              <a:ext uri="{FF2B5EF4-FFF2-40B4-BE49-F238E27FC236}">
                <a16:creationId xmlns:a16="http://schemas.microsoft.com/office/drawing/2014/main" id="{E154592D-A01C-A036-6997-EA3555BDE7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F00F31-2920-D28C-C803-A2B314B85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8847" y="2713835"/>
            <a:ext cx="3969381" cy="39693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7279606-4292-2FCC-BEC9-DE1AF58B35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0322"/>
            <a:ext cx="12192000" cy="6507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728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7D295FB3-F529-B752-311D-22273AA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8">
            <a:extLst>
              <a:ext uri="{FF2B5EF4-FFF2-40B4-BE49-F238E27FC236}">
                <a16:creationId xmlns:a16="http://schemas.microsoft.com/office/drawing/2014/main" id="{5679EF4F-0751-AA79-EE23-A7305B9839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dirty="0"/>
              <a:t>Look </a:t>
            </a:r>
            <a:r>
              <a:rPr lang="fr-FR" dirty="0" err="1"/>
              <a:t>inside</a:t>
            </a:r>
            <a:r>
              <a:rPr lang="fr-FR" dirty="0"/>
              <a:t> the CLR  (2/2)</a:t>
            </a:r>
            <a:endParaRPr dirty="0"/>
          </a:p>
        </p:txBody>
      </p:sp>
      <p:sp>
        <p:nvSpPr>
          <p:cNvPr id="374" name="Google Shape;374;p48">
            <a:extLst>
              <a:ext uri="{FF2B5EF4-FFF2-40B4-BE49-F238E27FC236}">
                <a16:creationId xmlns:a16="http://schemas.microsoft.com/office/drawing/2014/main" id="{4D098969-012D-12E1-CF68-790E52340DC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95085" y="2077084"/>
            <a:ext cx="10773016" cy="4431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Other tools</a:t>
            </a:r>
          </a:p>
          <a:p>
            <a:r>
              <a:rPr lang="en-US" b="1" dirty="0"/>
              <a:t>   dotnet-</a:t>
            </a:r>
            <a:r>
              <a:rPr lang="en-US" b="1" dirty="0" err="1"/>
              <a:t>gcmon</a:t>
            </a:r>
            <a:r>
              <a:rPr lang="en-US" dirty="0"/>
              <a:t> — monitor GCs in real-time</a:t>
            </a:r>
          </a:p>
          <a:p>
            <a:r>
              <a:rPr lang="en-US" b="1" dirty="0"/>
              <a:t>   dotnet-</a:t>
            </a:r>
            <a:r>
              <a:rPr lang="en-US" b="1" dirty="0" err="1"/>
              <a:t>gcstats</a:t>
            </a:r>
            <a:r>
              <a:rPr lang="en-US" dirty="0"/>
              <a:t> — monitor GCs in real-time</a:t>
            </a:r>
          </a:p>
          <a:p>
            <a:r>
              <a:rPr lang="en-US" b="1" dirty="0"/>
              <a:t>   </a:t>
            </a:r>
            <a:r>
              <a:rPr lang="en-US" b="1" dirty="0" err="1"/>
              <a:t>GummyCat</a:t>
            </a:r>
            <a:r>
              <a:rPr lang="en-US" dirty="0"/>
              <a:t> — monitor GCs in a GUI</a:t>
            </a:r>
          </a:p>
          <a:p>
            <a:r>
              <a:rPr lang="en-US" b="1" dirty="0"/>
              <a:t>  </a:t>
            </a:r>
          </a:p>
          <a:p>
            <a:r>
              <a:rPr lang="en-US" b="1" dirty="0"/>
              <a:t>   dotnet-</a:t>
            </a:r>
            <a:r>
              <a:rPr lang="en-US" b="1" dirty="0" err="1"/>
              <a:t>dstrings</a:t>
            </a:r>
            <a:r>
              <a:rPr lang="en-US" dirty="0"/>
              <a:t> — look for duplicated strings</a:t>
            </a:r>
          </a:p>
          <a:p>
            <a:r>
              <a:rPr lang="en-US" b="1" dirty="0"/>
              <a:t>   dotnet-</a:t>
            </a:r>
            <a:r>
              <a:rPr lang="en-US" b="1" dirty="0" err="1"/>
              <a:t>pstacks</a:t>
            </a:r>
            <a:r>
              <a:rPr lang="en-US" dirty="0"/>
              <a:t> — show merged call stacks</a:t>
            </a:r>
          </a:p>
          <a:p>
            <a:endParaRPr lang="en-US" dirty="0"/>
          </a:p>
        </p:txBody>
      </p:sp>
      <p:sp>
        <p:nvSpPr>
          <p:cNvPr id="375" name="Google Shape;375;p48">
            <a:extLst>
              <a:ext uri="{FF2B5EF4-FFF2-40B4-BE49-F238E27FC236}">
                <a16:creationId xmlns:a16="http://schemas.microsoft.com/office/drawing/2014/main" id="{E154592D-A01C-A036-6997-EA3555BDE7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F00F31-2920-D28C-C803-A2B314B85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8847" y="2713835"/>
            <a:ext cx="3969381" cy="39693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382C4A6-14A1-45CA-836D-1196012FB2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3654" y="0"/>
            <a:ext cx="103919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257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7D295FB3-F529-B752-311D-22273AA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8">
            <a:extLst>
              <a:ext uri="{FF2B5EF4-FFF2-40B4-BE49-F238E27FC236}">
                <a16:creationId xmlns:a16="http://schemas.microsoft.com/office/drawing/2014/main" id="{5679EF4F-0751-AA79-EE23-A7305B9839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dirty="0"/>
              <a:t>Look </a:t>
            </a:r>
            <a:r>
              <a:rPr lang="fr-FR" dirty="0" err="1"/>
              <a:t>inside</a:t>
            </a:r>
            <a:r>
              <a:rPr lang="fr-FR" dirty="0"/>
              <a:t> the CLR  (2/2)</a:t>
            </a:r>
            <a:endParaRPr dirty="0"/>
          </a:p>
        </p:txBody>
      </p:sp>
      <p:sp>
        <p:nvSpPr>
          <p:cNvPr id="374" name="Google Shape;374;p48">
            <a:extLst>
              <a:ext uri="{FF2B5EF4-FFF2-40B4-BE49-F238E27FC236}">
                <a16:creationId xmlns:a16="http://schemas.microsoft.com/office/drawing/2014/main" id="{4D098969-012D-12E1-CF68-790E52340DC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95085" y="2077084"/>
            <a:ext cx="10773016" cy="4431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Other tools</a:t>
            </a:r>
          </a:p>
          <a:p>
            <a:r>
              <a:rPr lang="en-US" b="1" dirty="0"/>
              <a:t>   dotnet-</a:t>
            </a:r>
            <a:r>
              <a:rPr lang="en-US" b="1" dirty="0" err="1"/>
              <a:t>gcmon</a:t>
            </a:r>
            <a:r>
              <a:rPr lang="en-US" dirty="0"/>
              <a:t> — monitor GCs in real-time</a:t>
            </a:r>
          </a:p>
          <a:p>
            <a:r>
              <a:rPr lang="en-US" b="1" dirty="0"/>
              <a:t>   dotnet-</a:t>
            </a:r>
            <a:r>
              <a:rPr lang="en-US" b="1" dirty="0" err="1"/>
              <a:t>gcstats</a:t>
            </a:r>
            <a:r>
              <a:rPr lang="en-US" dirty="0"/>
              <a:t> — monitor GCs in real-time</a:t>
            </a:r>
          </a:p>
          <a:p>
            <a:r>
              <a:rPr lang="en-US" b="1" dirty="0"/>
              <a:t>   </a:t>
            </a:r>
            <a:r>
              <a:rPr lang="en-US" b="1" dirty="0" err="1"/>
              <a:t>GummyCat</a:t>
            </a:r>
            <a:r>
              <a:rPr lang="en-US" dirty="0"/>
              <a:t> — monitor GCs in a GUI</a:t>
            </a:r>
          </a:p>
          <a:p>
            <a:r>
              <a:rPr lang="en-US" b="1" dirty="0"/>
              <a:t>  </a:t>
            </a:r>
          </a:p>
          <a:p>
            <a:r>
              <a:rPr lang="en-US" b="1" dirty="0"/>
              <a:t>   dotnet-</a:t>
            </a:r>
            <a:r>
              <a:rPr lang="en-US" b="1" dirty="0" err="1"/>
              <a:t>dstrings</a:t>
            </a:r>
            <a:r>
              <a:rPr lang="en-US" dirty="0"/>
              <a:t> — look for duplicated strings</a:t>
            </a:r>
          </a:p>
          <a:p>
            <a:r>
              <a:rPr lang="en-US" b="1" dirty="0"/>
              <a:t>   dotnet-</a:t>
            </a:r>
            <a:r>
              <a:rPr lang="en-US" b="1" dirty="0" err="1"/>
              <a:t>pstacks</a:t>
            </a:r>
            <a:r>
              <a:rPr lang="en-US" dirty="0"/>
              <a:t> — show merged call stacks</a:t>
            </a:r>
          </a:p>
          <a:p>
            <a:r>
              <a:rPr lang="en-US" b="1" dirty="0"/>
              <a:t>   dotnet-http</a:t>
            </a:r>
            <a:r>
              <a:rPr lang="en-US" dirty="0"/>
              <a:t> — monitor outgoing http requests</a:t>
            </a:r>
          </a:p>
          <a:p>
            <a:r>
              <a:rPr lang="en-US" b="1" dirty="0"/>
              <a:t>   dotnet-wait</a:t>
            </a:r>
            <a:r>
              <a:rPr lang="en-US" dirty="0"/>
              <a:t> — list waits such as lock contention</a:t>
            </a:r>
          </a:p>
          <a:p>
            <a:r>
              <a:rPr lang="en-US" b="1" dirty="0"/>
              <a:t>   dotnet-</a:t>
            </a:r>
            <a:r>
              <a:rPr lang="en-US" b="1" dirty="0" err="1"/>
              <a:t>fullgc</a:t>
            </a:r>
            <a:r>
              <a:rPr lang="en-US" dirty="0"/>
              <a:t> — trigger a GC</a:t>
            </a:r>
          </a:p>
          <a:p>
            <a:r>
              <a:rPr lang="en-US" b="1" dirty="0"/>
              <a:t>  </a:t>
            </a:r>
            <a:endParaRPr lang="en-US" dirty="0"/>
          </a:p>
        </p:txBody>
      </p:sp>
      <p:sp>
        <p:nvSpPr>
          <p:cNvPr id="375" name="Google Shape;375;p48">
            <a:extLst>
              <a:ext uri="{FF2B5EF4-FFF2-40B4-BE49-F238E27FC236}">
                <a16:creationId xmlns:a16="http://schemas.microsoft.com/office/drawing/2014/main" id="{E154592D-A01C-A036-6997-EA3555BDE7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F00F31-2920-D28C-C803-A2B314B85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8847" y="2713835"/>
            <a:ext cx="3969381" cy="3969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438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7D295FB3-F529-B752-311D-22273AA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8">
            <a:extLst>
              <a:ext uri="{FF2B5EF4-FFF2-40B4-BE49-F238E27FC236}">
                <a16:creationId xmlns:a16="http://schemas.microsoft.com/office/drawing/2014/main" id="{5679EF4F-0751-AA79-EE23-A7305B9839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</a:pPr>
            <a:r>
              <a:rPr lang="fr-FR" dirty="0"/>
              <a:t>How to look </a:t>
            </a:r>
            <a:r>
              <a:rPr lang="fr-FR" dirty="0" err="1"/>
              <a:t>inside</a:t>
            </a:r>
            <a:r>
              <a:rPr lang="fr-FR" dirty="0"/>
              <a:t> the CLR?</a:t>
            </a:r>
            <a:endParaRPr dirty="0"/>
          </a:p>
        </p:txBody>
      </p:sp>
      <p:sp>
        <p:nvSpPr>
          <p:cNvPr id="374" name="Google Shape;374;p48">
            <a:extLst>
              <a:ext uri="{FF2B5EF4-FFF2-40B4-BE49-F238E27FC236}">
                <a16:creationId xmlns:a16="http://schemas.microsoft.com/office/drawing/2014/main" id="{4D098969-012D-12E1-CF68-790E52340DC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10773016" cy="4313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indent="-457200"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Listen to CLR and BCL events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Look at </a:t>
            </a:r>
            <a:r>
              <a:rPr lang="en-US" sz="2000" dirty="0" err="1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ClrEtwAll.man</a:t>
            </a:r>
            <a:r>
              <a:rPr lang="en-US" sz="1800" dirty="0">
                <a:solidFill>
                  <a:schemeClr val="bg1"/>
                </a:solidFill>
              </a:rPr>
              <a:t> file for CLR events (provider + keyword + verbosity)</a:t>
            </a: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Look for </a:t>
            </a:r>
            <a:r>
              <a:rPr lang="en-US" sz="18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EventSource</a:t>
            </a:r>
            <a:r>
              <a:rPr lang="en-US" sz="1800" dirty="0">
                <a:solidFill>
                  <a:schemeClr val="bg1"/>
                </a:solidFill>
              </a:rPr>
              <a:t> derived class in BCL + </a:t>
            </a:r>
            <a:r>
              <a:rPr lang="en-US" sz="2000" dirty="0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documentation</a:t>
            </a:r>
            <a:r>
              <a:rPr lang="en-US" sz="2000" dirty="0">
                <a:solidFill>
                  <a:schemeClr val="bg1"/>
                </a:solidFill>
              </a:rPr>
              <a:t> + </a:t>
            </a:r>
            <a:r>
              <a:rPr lang="en-US" sz="2000" dirty="0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http-related post</a:t>
            </a:r>
            <a:endParaRPr lang="en-US" sz="2000" dirty="0">
              <a:solidFill>
                <a:schemeClr val="accent5"/>
              </a:solidFill>
            </a:endParaRPr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lvl="0" indent="-457200">
              <a:spcAft>
                <a:spcPts val="600"/>
              </a:spcAft>
              <a:buFont typeface="+mj-lt"/>
              <a:buAutoNum type="arabicPeriod" startAt="2"/>
            </a:pPr>
            <a:r>
              <a:rPr lang="en-US" dirty="0"/>
              <a:t>Data access with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ClrMD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Memory, thread and more</a:t>
            </a: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Reference </a:t>
            </a:r>
            <a:r>
              <a:rPr lang="en-US" sz="18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Microsoft.Diagnostics.Runtime</a:t>
            </a:r>
            <a:r>
              <a:rPr lang="en-US" sz="1800" dirty="0">
                <a:solidFill>
                  <a:schemeClr val="bg1"/>
                </a:solidFill>
              </a:rPr>
              <a:t> package</a:t>
            </a:r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lvl="0" indent="-457200">
              <a:spcAft>
                <a:spcPts val="600"/>
              </a:spcAft>
              <a:buFont typeface="+mj-lt"/>
              <a:buAutoNum type="arabicPeriod" startAt="3"/>
            </a:pPr>
            <a:r>
              <a:rPr lang="en-US" dirty="0"/>
              <a:t>Send commands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Specific commands are available + special case to trigger a garbage collection</a:t>
            </a:r>
          </a:p>
          <a:p>
            <a:pPr marL="0" lvl="0" indent="0">
              <a:spcAft>
                <a:spcPts val="600"/>
              </a:spcAft>
            </a:pPr>
            <a:endParaRPr lang="en-US" dirty="0"/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</a:pPr>
            <a:endParaRPr dirty="0"/>
          </a:p>
        </p:txBody>
      </p:sp>
      <p:sp>
        <p:nvSpPr>
          <p:cNvPr id="375" name="Google Shape;375;p48">
            <a:extLst>
              <a:ext uri="{FF2B5EF4-FFF2-40B4-BE49-F238E27FC236}">
                <a16:creationId xmlns:a16="http://schemas.microsoft.com/office/drawing/2014/main" id="{E154592D-A01C-A036-6997-EA3555BDE7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83354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7D295FB3-F529-B752-311D-22273AA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8">
            <a:extLst>
              <a:ext uri="{FF2B5EF4-FFF2-40B4-BE49-F238E27FC236}">
                <a16:creationId xmlns:a16="http://schemas.microsoft.com/office/drawing/2014/main" id="{5679EF4F-0751-AA79-EE23-A7305B9839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</a:pPr>
            <a:r>
              <a:rPr lang="fr-FR" dirty="0" err="1"/>
              <a:t>Listen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TraceEvent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374" name="Google Shape;374;p48">
            <a:extLst>
              <a:ext uri="{FF2B5EF4-FFF2-40B4-BE49-F238E27FC236}">
                <a16:creationId xmlns:a16="http://schemas.microsoft.com/office/drawing/2014/main" id="{4D098969-012D-12E1-CF68-790E52340DC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10773016" cy="1108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Reference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TraceEvent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Ask for provider + keyword + verbosity</a:t>
            </a:r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</a:pPr>
            <a:endParaRPr dirty="0"/>
          </a:p>
        </p:txBody>
      </p:sp>
      <p:sp>
        <p:nvSpPr>
          <p:cNvPr id="375" name="Google Shape;375;p48">
            <a:extLst>
              <a:ext uri="{FF2B5EF4-FFF2-40B4-BE49-F238E27FC236}">
                <a16:creationId xmlns:a16="http://schemas.microsoft.com/office/drawing/2014/main" id="{E154592D-A01C-A036-6997-EA3555BDE7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9D75B65-90B7-8F03-7088-BB789B1FF0D7}"/>
              </a:ext>
            </a:extLst>
          </p:cNvPr>
          <p:cNvGrpSpPr/>
          <p:nvPr/>
        </p:nvGrpSpPr>
        <p:grpSpPr>
          <a:xfrm>
            <a:off x="604983" y="3274416"/>
            <a:ext cx="10891932" cy="3276309"/>
            <a:chOff x="604983" y="3274416"/>
            <a:chExt cx="10891932" cy="3276309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FDCD5E6E-A78A-16AC-7F2A-14AE409F41DF}"/>
                </a:ext>
              </a:extLst>
            </p:cNvPr>
            <p:cNvGrpSpPr/>
            <p:nvPr/>
          </p:nvGrpSpPr>
          <p:grpSpPr>
            <a:xfrm>
              <a:off x="604983" y="3274416"/>
              <a:ext cx="10891932" cy="3276309"/>
              <a:chOff x="878734" y="2704032"/>
              <a:chExt cx="10891932" cy="3276309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FA3D28B-5A5B-5E71-698E-6DFC39F1D770}"/>
                  </a:ext>
                </a:extLst>
              </p:cNvPr>
              <p:cNvSpPr/>
              <p:nvPr/>
            </p:nvSpPr>
            <p:spPr>
              <a:xfrm>
                <a:off x="965510" y="3081290"/>
                <a:ext cx="5014052" cy="2899051"/>
              </a:xfrm>
              <a:prstGeom prst="rect">
                <a:avLst/>
              </a:prstGeom>
              <a:solidFill>
                <a:srgbClr val="8FE2FF"/>
              </a:solidFill>
              <a:ln w="12700" cap="flat" cmpd="sng" algn="ctr">
                <a:solidFill>
                  <a:srgbClr val="00B0F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buClrTx/>
                  <a:buFontTx/>
                  <a:buNone/>
                  <a:defRPr/>
                </a:pPr>
                <a:endParaRPr lang="en-US" sz="1800" dirty="0">
                  <a:solidFill>
                    <a:prstClr val="white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01797FE-CF7E-DAF0-B66C-B76C029C6BEC}"/>
                  </a:ext>
                </a:extLst>
              </p:cNvPr>
              <p:cNvSpPr txBox="1"/>
              <p:nvPr/>
            </p:nvSpPr>
            <p:spPr>
              <a:xfrm>
                <a:off x="1041987" y="4221005"/>
                <a:ext cx="4602542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buClrTx/>
                  <a:buFontTx/>
                  <a:buNone/>
                </a:pPr>
                <a:r>
                  <a:rPr lang="en-US" sz="1200" kern="1200" dirty="0">
                    <a:solidFill>
                      <a:prstClr val="black"/>
                    </a:solidFill>
                    <a:latin typeface="Consolas" panose="020B0609020204030204" pitchFamily="49" charset="0"/>
                    <a:ea typeface="+mn-ea"/>
                    <a:cs typeface="+mn-cs"/>
                  </a:rPr>
                  <a:t>static DWORD </a:t>
                </a:r>
                <a:r>
                  <a:rPr lang="en-US" sz="1200" kern="1200" dirty="0" err="1">
                    <a:solidFill>
                      <a:prstClr val="black"/>
                    </a:solidFill>
                    <a:latin typeface="Consolas" panose="020B0609020204030204" pitchFamily="49" charset="0"/>
                    <a:ea typeface="+mn-ea"/>
                    <a:cs typeface="+mn-cs"/>
                  </a:rPr>
                  <a:t>DiagnosticsServerThread</a:t>
                </a:r>
                <a:r>
                  <a:rPr lang="en-US" sz="1200" kern="1200" dirty="0">
                    <a:solidFill>
                      <a:prstClr val="black"/>
                    </a:solidFill>
                    <a:latin typeface="Consolas" panose="020B0609020204030204" pitchFamily="49" charset="0"/>
                    <a:ea typeface="+mn-ea"/>
                    <a:cs typeface="+mn-cs"/>
                  </a:rPr>
                  <a:t>(...)</a:t>
                </a:r>
              </a:p>
              <a:p>
                <a:pPr>
                  <a:buClrTx/>
                  <a:buFontTx/>
                  <a:buNone/>
                </a:pPr>
                <a:r>
                  <a:rPr lang="en-US" sz="1200" kern="1200" dirty="0">
                    <a:solidFill>
                      <a:prstClr val="black"/>
                    </a:solidFill>
                    <a:latin typeface="Consolas" panose="020B0609020204030204" pitchFamily="49" charset="0"/>
                    <a:ea typeface="+mn-ea"/>
                    <a:cs typeface="+mn-cs"/>
                  </a:rPr>
                  <a:t>{</a:t>
                </a:r>
              </a:p>
              <a:p>
                <a:pPr>
                  <a:buClrTx/>
                  <a:buFontTx/>
                  <a:buNone/>
                </a:pPr>
                <a:r>
                  <a:rPr lang="en-US" sz="1200" kern="1200" dirty="0">
                    <a:solidFill>
                      <a:prstClr val="black"/>
                    </a:solidFill>
                    <a:latin typeface="Consolas" panose="020B0609020204030204" pitchFamily="49" charset="0"/>
                    <a:ea typeface="+mn-ea"/>
                    <a:cs typeface="+mn-cs"/>
                  </a:rPr>
                  <a:t>   switch(message)</a:t>
                </a:r>
              </a:p>
              <a:p>
                <a:pPr>
                  <a:buClrTx/>
                  <a:buFontTx/>
                  <a:buNone/>
                </a:pPr>
                <a:r>
                  <a:rPr lang="en-US" sz="1200" kern="1200" dirty="0">
                    <a:solidFill>
                      <a:prstClr val="black"/>
                    </a:solidFill>
                    <a:latin typeface="Consolas" panose="020B0609020204030204" pitchFamily="49" charset="0"/>
                    <a:ea typeface="+mn-ea"/>
                    <a:cs typeface="+mn-cs"/>
                  </a:rPr>
                  <a:t>   {</a:t>
                </a:r>
              </a:p>
              <a:p>
                <a:pPr>
                  <a:buClrTx/>
                  <a:buFontTx/>
                  <a:buNone/>
                </a:pPr>
                <a:r>
                  <a:rPr lang="en-US" sz="1200" kern="1200" dirty="0">
                    <a:solidFill>
                      <a:prstClr val="black"/>
                    </a:solidFill>
                    <a:latin typeface="Consolas" panose="020B0609020204030204" pitchFamily="49" charset="0"/>
                    <a:ea typeface="+mn-ea"/>
                    <a:cs typeface="+mn-cs"/>
                  </a:rPr>
                  <a:t>      case </a:t>
                </a:r>
                <a:r>
                  <a:rPr lang="en-US" sz="1200" kern="1200" dirty="0" err="1">
                    <a:solidFill>
                      <a:prstClr val="black"/>
                    </a:solidFill>
                    <a:latin typeface="Consolas" panose="020B0609020204030204" pitchFamily="49" charset="0"/>
                    <a:ea typeface="+mn-ea"/>
                    <a:cs typeface="+mn-cs"/>
                  </a:rPr>
                  <a:t>EventPipe</a:t>
                </a:r>
                <a:r>
                  <a:rPr lang="en-US" sz="1200" kern="1200" dirty="0">
                    <a:solidFill>
                      <a:prstClr val="black"/>
                    </a:solidFill>
                    <a:latin typeface="Consolas" panose="020B0609020204030204" pitchFamily="49" charset="0"/>
                    <a:ea typeface="+mn-ea"/>
                    <a:cs typeface="+mn-cs"/>
                  </a:rPr>
                  <a:t>: </a:t>
                </a:r>
              </a:p>
              <a:p>
                <a:pPr>
                  <a:buClrTx/>
                  <a:buFontTx/>
                  <a:buNone/>
                </a:pPr>
                <a:r>
                  <a:rPr lang="en-US" sz="1200" kern="1200" dirty="0">
                    <a:solidFill>
                      <a:prstClr val="black"/>
                    </a:solidFill>
                    <a:latin typeface="Consolas" panose="020B0609020204030204" pitchFamily="49" charset="0"/>
                    <a:ea typeface="+mn-ea"/>
                    <a:cs typeface="+mn-cs"/>
                  </a:rPr>
                  <a:t>         </a:t>
                </a:r>
                <a:r>
                  <a:rPr lang="en-US" sz="1200" kern="1200" dirty="0" err="1">
                    <a:solidFill>
                      <a:prstClr val="black"/>
                    </a:solidFill>
                    <a:latin typeface="Consolas" panose="020B0609020204030204" pitchFamily="49" charset="0"/>
                    <a:ea typeface="+mn-ea"/>
                    <a:cs typeface="+mn-cs"/>
                  </a:rPr>
                  <a:t>EventPipeProtocolHelper</a:t>
                </a:r>
                <a:r>
                  <a:rPr lang="en-US" sz="1200" kern="1200" dirty="0">
                    <a:solidFill>
                      <a:prstClr val="black"/>
                    </a:solidFill>
                    <a:latin typeface="Consolas" panose="020B0609020204030204" pitchFamily="49" charset="0"/>
                    <a:ea typeface="+mn-ea"/>
                    <a:cs typeface="+mn-cs"/>
                  </a:rPr>
                  <a:t>::</a:t>
                </a:r>
                <a:r>
                  <a:rPr lang="en-US" sz="1200" kern="1200" dirty="0" err="1">
                    <a:solidFill>
                      <a:prstClr val="black"/>
                    </a:solidFill>
                    <a:latin typeface="Consolas" panose="020B0609020204030204" pitchFamily="49" charset="0"/>
                    <a:ea typeface="+mn-ea"/>
                    <a:cs typeface="+mn-cs"/>
                  </a:rPr>
                  <a:t>HandleIpcMessage</a:t>
                </a:r>
                <a:r>
                  <a:rPr lang="en-US" sz="1200" kern="1200" dirty="0">
                    <a:solidFill>
                      <a:prstClr val="black"/>
                    </a:solidFill>
                    <a:latin typeface="Consolas" panose="020B0609020204030204" pitchFamily="49" charset="0"/>
                    <a:ea typeface="+mn-ea"/>
                    <a:cs typeface="+mn-cs"/>
                  </a:rPr>
                  <a:t>()</a:t>
                </a:r>
              </a:p>
              <a:p>
                <a:pPr>
                  <a:buClrTx/>
                  <a:buFontTx/>
                  <a:buNone/>
                </a:pPr>
                <a:r>
                  <a:rPr lang="en-US" sz="1200" kern="1200" dirty="0">
                    <a:solidFill>
                      <a:prstClr val="black"/>
                    </a:solidFill>
                    <a:latin typeface="Consolas" panose="020B0609020204030204" pitchFamily="49" charset="0"/>
                    <a:ea typeface="+mn-ea"/>
                    <a:cs typeface="+mn-cs"/>
                  </a:rPr>
                  <a:t>      case ...:</a:t>
                </a:r>
              </a:p>
              <a:p>
                <a:pPr>
                  <a:buClrTx/>
                  <a:buFontTx/>
                  <a:buNone/>
                </a:pPr>
                <a:r>
                  <a:rPr lang="en-US" sz="1200" kern="1200" dirty="0">
                    <a:solidFill>
                      <a:prstClr val="black"/>
                    </a:solidFill>
                    <a:latin typeface="Consolas" panose="020B0609020204030204" pitchFamily="49" charset="0"/>
                    <a:ea typeface="+mn-ea"/>
                    <a:cs typeface="+mn-cs"/>
                  </a:rPr>
                  <a:t>   }</a:t>
                </a:r>
              </a:p>
              <a:p>
                <a:pPr>
                  <a:buClrTx/>
                  <a:buFontTx/>
                  <a:buNone/>
                </a:pPr>
                <a:r>
                  <a:rPr lang="en-US" sz="1200" kern="1200" dirty="0">
                    <a:solidFill>
                      <a:prstClr val="black"/>
                    </a:solidFill>
                    <a:latin typeface="Consolas" panose="020B0609020204030204" pitchFamily="49" charset="0"/>
                    <a:ea typeface="+mn-ea"/>
                    <a:cs typeface="+mn-cs"/>
                  </a:rPr>
                  <a:t>}</a:t>
                </a:r>
              </a:p>
            </p:txBody>
          </p: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DCDC77B3-25DB-1FCA-142C-1FB008CD6ED9}"/>
                  </a:ext>
                </a:extLst>
              </p:cNvPr>
              <p:cNvGrpSpPr/>
              <p:nvPr/>
            </p:nvGrpSpPr>
            <p:grpSpPr>
              <a:xfrm>
                <a:off x="1821623" y="3585932"/>
                <a:ext cx="680188" cy="484452"/>
                <a:chOff x="1162681" y="4317664"/>
                <a:chExt cx="680188" cy="484452"/>
              </a:xfrm>
            </p:grpSpPr>
            <p:sp>
              <p:nvSpPr>
                <p:cNvPr id="36" name="Arrow: Curved Left 35">
                  <a:extLst>
                    <a:ext uri="{FF2B5EF4-FFF2-40B4-BE49-F238E27FC236}">
                      <a16:creationId xmlns:a16="http://schemas.microsoft.com/office/drawing/2014/main" id="{C1729F92-1AA8-1721-32E9-C2D9175C1C8A}"/>
                    </a:ext>
                  </a:extLst>
                </p:cNvPr>
                <p:cNvSpPr/>
                <p:nvPr/>
              </p:nvSpPr>
              <p:spPr>
                <a:xfrm>
                  <a:off x="1531891" y="4347944"/>
                  <a:ext cx="310978" cy="454172"/>
                </a:xfrm>
                <a:prstGeom prst="curvedLeftArrow">
                  <a:avLst/>
                </a:prstGeom>
                <a:solidFill>
                  <a:srgbClr val="4472C4"/>
                </a:solidFill>
                <a:ln w="12700" cap="flat" cmpd="sng" algn="ctr">
                  <a:solidFill>
                    <a:srgbClr val="4472C4">
                      <a:shade val="50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buClrTx/>
                    <a:buFontTx/>
                    <a:buNone/>
                    <a:defRPr/>
                  </a:pPr>
                  <a:endParaRPr lang="en-US" sz="1800">
                    <a:solidFill>
                      <a:prstClr val="black"/>
                    </a:solidFill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7" name="Arrow: Curved Left 36">
                  <a:extLst>
                    <a:ext uri="{FF2B5EF4-FFF2-40B4-BE49-F238E27FC236}">
                      <a16:creationId xmlns:a16="http://schemas.microsoft.com/office/drawing/2014/main" id="{15F87308-76FC-FCF1-7221-5E537F9FB9F8}"/>
                    </a:ext>
                  </a:extLst>
                </p:cNvPr>
                <p:cNvSpPr/>
                <p:nvPr/>
              </p:nvSpPr>
              <p:spPr>
                <a:xfrm rot="10800000">
                  <a:off x="1162681" y="4317664"/>
                  <a:ext cx="310978" cy="454172"/>
                </a:xfrm>
                <a:prstGeom prst="curvedLeftArrow">
                  <a:avLst/>
                </a:prstGeom>
                <a:solidFill>
                  <a:srgbClr val="4472C4"/>
                </a:solidFill>
                <a:ln w="12700" cap="flat" cmpd="sng" algn="ctr">
                  <a:solidFill>
                    <a:srgbClr val="4472C4">
                      <a:shade val="50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buClrTx/>
                    <a:buFontTx/>
                    <a:buNone/>
                    <a:defRPr/>
                  </a:pPr>
                  <a:endParaRPr lang="en-US" sz="1800">
                    <a:solidFill>
                      <a:prstClr val="black"/>
                    </a:solidFill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1FA5504-953B-D779-D3B9-014BFCBF39F4}"/>
                  </a:ext>
                </a:extLst>
              </p:cNvPr>
              <p:cNvSpPr txBox="1"/>
              <p:nvPr/>
            </p:nvSpPr>
            <p:spPr>
              <a:xfrm>
                <a:off x="1307560" y="3183687"/>
                <a:ext cx="17593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buClrTx/>
                  <a:buFontTx/>
                  <a:buNone/>
                </a:pPr>
                <a:r>
                  <a:rPr lang="en-US" sz="1800" kern="1200" dirty="0" err="1">
                    <a:solidFill>
                      <a:prstClr val="black"/>
                    </a:solidFill>
                    <a:latin typeface="Calibri" panose="020F0502020204030204"/>
                    <a:ea typeface="+mn-ea"/>
                    <a:cs typeface="+mn-cs"/>
                  </a:rPr>
                  <a:t>DiagnosticServer</a:t>
                </a:r>
                <a:endParaRPr lang="en-US" sz="1800" kern="1200" dirty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06CE7B41-68FB-EF89-FE0B-4052B79BB84A}"/>
                  </a:ext>
                </a:extLst>
              </p:cNvPr>
              <p:cNvSpPr/>
              <p:nvPr/>
            </p:nvSpPr>
            <p:spPr>
              <a:xfrm>
                <a:off x="4817061" y="4639640"/>
                <a:ext cx="111427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buClrTx/>
                  <a:buFontTx/>
                  <a:buNone/>
                </a:pPr>
                <a:r>
                  <a:rPr lang="en-US" sz="1800" kern="1200" dirty="0" err="1">
                    <a:solidFill>
                      <a:prstClr val="black"/>
                    </a:solidFill>
                    <a:latin typeface="Calibri (Body)"/>
                    <a:ea typeface="+mn-ea"/>
                    <a:cs typeface="+mn-cs"/>
                  </a:rPr>
                  <a:t>EventPipe</a:t>
                </a:r>
                <a:endParaRPr lang="en-US" sz="1800" kern="1200" dirty="0">
                  <a:solidFill>
                    <a:prstClr val="black"/>
                  </a:solidFill>
                  <a:latin typeface="Calibri (Body)"/>
                  <a:ea typeface="+mn-ea"/>
                  <a:cs typeface="+mn-cs"/>
                </a:endParaRPr>
              </a:p>
            </p:txBody>
          </p:sp>
          <p:sp>
            <p:nvSpPr>
              <p:cNvPr id="26" name="Arrow: Right 25">
                <a:extLst>
                  <a:ext uri="{FF2B5EF4-FFF2-40B4-BE49-F238E27FC236}">
                    <a16:creationId xmlns:a16="http://schemas.microsoft.com/office/drawing/2014/main" id="{BED052CA-1A10-49AE-BD04-A4713CA5D1E5}"/>
                  </a:ext>
                </a:extLst>
              </p:cNvPr>
              <p:cNvSpPr/>
              <p:nvPr/>
            </p:nvSpPr>
            <p:spPr>
              <a:xfrm rot="20795493">
                <a:off x="4070254" y="4878744"/>
                <a:ext cx="739978" cy="197747"/>
              </a:xfrm>
              <a:prstGeom prst="rightArrow">
                <a:avLst/>
              </a:prstGeom>
              <a:solidFill>
                <a:srgbClr val="5B9BD5"/>
              </a:solidFill>
              <a:ln w="12700" cap="flat" cmpd="sng" algn="ctr">
                <a:solidFill>
                  <a:srgbClr val="5B9BD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buClrTx/>
                  <a:buFontTx/>
                  <a:buNone/>
                  <a:defRPr/>
                </a:pPr>
                <a:endParaRPr lang="en-US" sz="1800">
                  <a:solidFill>
                    <a:prstClr val="white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3306D6C-F7B9-A75C-F9EB-B42234E6A45E}"/>
                  </a:ext>
                </a:extLst>
              </p:cNvPr>
              <p:cNvSpPr txBox="1"/>
              <p:nvPr/>
            </p:nvSpPr>
            <p:spPr>
              <a:xfrm>
                <a:off x="878734" y="2704032"/>
                <a:ext cx="23025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buClrTx/>
                  <a:buFontTx/>
                  <a:buNone/>
                </a:pPr>
                <a:r>
                  <a:rPr lang="en-US" sz="1800" kern="12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libri" panose="020F0502020204030204"/>
                    <a:ea typeface="+mn-ea"/>
                    <a:cs typeface="+mn-cs"/>
                  </a:rPr>
                  <a:t>Monitored Application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C3344E2-778D-B6E7-458F-E0AC0A9EE0C8}"/>
                  </a:ext>
                </a:extLst>
              </p:cNvPr>
              <p:cNvSpPr txBox="1"/>
              <p:nvPr/>
            </p:nvSpPr>
            <p:spPr>
              <a:xfrm>
                <a:off x="9381015" y="3547322"/>
                <a:ext cx="17527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buClrTx/>
                  <a:buFontTx/>
                  <a:buNone/>
                </a:pPr>
                <a:r>
                  <a:rPr lang="en-US" sz="1800" kern="12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libri" panose="020F0502020204030204"/>
                    <a:ea typeface="+mn-ea"/>
                    <a:cs typeface="+mn-cs"/>
                  </a:rPr>
                  <a:t>Monitoring</a:t>
                </a:r>
                <a:r>
                  <a:rPr lang="en-US" sz="1800" kern="1200" dirty="0"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libri" panose="020F0502020204030204"/>
                    <a:ea typeface="+mn-ea"/>
                    <a:cs typeface="+mn-cs"/>
                  </a:rPr>
                  <a:t> </a:t>
                </a:r>
                <a:r>
                  <a:rPr lang="en-US" sz="1800" kern="12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libri" panose="020F0502020204030204"/>
                    <a:ea typeface="+mn-ea"/>
                    <a:cs typeface="+mn-cs"/>
                  </a:rPr>
                  <a:t>tools</a:t>
                </a:r>
              </a:p>
            </p:txBody>
          </p: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8E40D99A-AF05-F3B7-E382-F1E84DBD66DC}"/>
                  </a:ext>
                </a:extLst>
              </p:cNvPr>
              <p:cNvGrpSpPr/>
              <p:nvPr/>
            </p:nvGrpSpPr>
            <p:grpSpPr>
              <a:xfrm>
                <a:off x="6056039" y="4429470"/>
                <a:ext cx="2777065" cy="995364"/>
                <a:chOff x="7415784" y="4113061"/>
                <a:chExt cx="2935224" cy="995364"/>
              </a:xfrm>
            </p:grpSpPr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1A635A21-76A9-BA9D-824D-CF170B3072A1}"/>
                    </a:ext>
                  </a:extLst>
                </p:cNvPr>
                <p:cNvSpPr txBox="1"/>
                <p:nvPr/>
              </p:nvSpPr>
              <p:spPr>
                <a:xfrm>
                  <a:off x="7790125" y="4769871"/>
                  <a:ext cx="230032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buClrTx/>
                    <a:defRPr/>
                  </a:pPr>
                  <a:r>
                    <a:rPr lang="en-US" sz="1600" dirty="0">
                      <a:solidFill>
                        <a:prstClr val="black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alibri" panose="020F0502020204030204"/>
                      <a:ea typeface="+mn-ea"/>
                      <a:cs typeface="+mn-cs"/>
                    </a:rPr>
                    <a:t>Domain Socket (Linux)</a:t>
                  </a:r>
                </a:p>
              </p:txBody>
            </p:sp>
            <p:sp>
              <p:nvSpPr>
                <p:cNvPr id="34" name="Arrow: Left-Right 33">
                  <a:extLst>
                    <a:ext uri="{FF2B5EF4-FFF2-40B4-BE49-F238E27FC236}">
                      <a16:creationId xmlns:a16="http://schemas.microsoft.com/office/drawing/2014/main" id="{4D93FD15-5848-B507-D9C1-E1ABA45E5E06}"/>
                    </a:ext>
                  </a:extLst>
                </p:cNvPr>
                <p:cNvSpPr/>
                <p:nvPr/>
              </p:nvSpPr>
              <p:spPr>
                <a:xfrm>
                  <a:off x="7415784" y="4323341"/>
                  <a:ext cx="2935224" cy="615807"/>
                </a:xfrm>
                <a:prstGeom prst="leftRightArrow">
                  <a:avLst/>
                </a:prstGeom>
                <a:solidFill>
                  <a:srgbClr val="00B0F0"/>
                </a:solidFill>
                <a:ln w="12700" cap="flat" cmpd="sng" algn="ctr">
                  <a:solidFill>
                    <a:sysClr val="window" lastClr="FFFFFF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buClrTx/>
                    <a:buFontTx/>
                    <a:buNone/>
                    <a:defRPr/>
                  </a:pPr>
                  <a:endParaRPr lang="en-US" sz="1800">
                    <a:solidFill>
                      <a:prstClr val="white"/>
                    </a:solidFill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CB42E4DD-3A5C-D57A-7178-DFC4D0BB2BA8}"/>
                    </a:ext>
                  </a:extLst>
                </p:cNvPr>
                <p:cNvSpPr txBox="1"/>
                <p:nvPr/>
              </p:nvSpPr>
              <p:spPr>
                <a:xfrm>
                  <a:off x="7733230" y="4113061"/>
                  <a:ext cx="230032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buClrTx/>
                    <a:buFontTx/>
                    <a:buNone/>
                    <a:defRPr/>
                  </a:pPr>
                  <a:r>
                    <a:rPr lang="en-US" sz="1600" dirty="0">
                      <a:solidFill>
                        <a:prstClr val="black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alibri" panose="020F0502020204030204"/>
                      <a:ea typeface="+mn-ea"/>
                      <a:cs typeface="+mn-cs"/>
                    </a:rPr>
                    <a:t>Named Pipe (Windows)</a:t>
                  </a:r>
                </a:p>
              </p:txBody>
            </p:sp>
          </p:grpSp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AA47CD20-AFD1-6D24-06D2-D0D3C4500E90}"/>
                  </a:ext>
                </a:extLst>
              </p:cNvPr>
              <p:cNvSpPr/>
              <p:nvPr/>
            </p:nvSpPr>
            <p:spPr>
              <a:xfrm>
                <a:off x="8993601" y="3925922"/>
                <a:ext cx="2777065" cy="1669409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p:spPr>
            <p:txBody>
              <a:bodyPr rtlCol="0" anchor="ctr"/>
              <a:lstStyle/>
              <a:p>
                <a:pPr algn="ctr">
                  <a:buClrTx/>
                  <a:buFontTx/>
                  <a:buNone/>
                  <a:defRPr/>
                </a:pPr>
                <a:endParaRPr lang="en-US" sz="1800">
                  <a:solidFill>
                    <a:prstClr val="white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98697319-C615-49E4-B368-AA65EA78183D}"/>
                  </a:ext>
                </a:extLst>
              </p:cNvPr>
              <p:cNvSpPr/>
              <p:nvPr/>
            </p:nvSpPr>
            <p:spPr>
              <a:xfrm>
                <a:off x="9007162" y="4091968"/>
                <a:ext cx="2126577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ClrTx/>
                  <a:buFontTx/>
                  <a:buNone/>
                </a:pPr>
                <a:r>
                  <a:rPr lang="en-US" sz="1800" kern="1200" dirty="0" err="1">
                    <a:solidFill>
                      <a:prstClr val="black"/>
                    </a:solidFill>
                    <a:latin typeface="Calibri (Body)"/>
                    <a:ea typeface="+mn-ea"/>
                    <a:cs typeface="+mn-cs"/>
                  </a:rPr>
                  <a:t>DiagnosticsClient</a:t>
                </a:r>
                <a:endParaRPr lang="en-US" sz="1800" kern="1200" dirty="0">
                  <a:solidFill>
                    <a:prstClr val="black"/>
                  </a:solidFill>
                  <a:latin typeface="Calibri (Body)"/>
                  <a:ea typeface="+mn-ea"/>
                  <a:cs typeface="+mn-cs"/>
                </a:endParaRPr>
              </a:p>
              <a:p>
                <a:pPr>
                  <a:buClrTx/>
                  <a:buFontTx/>
                  <a:buNone/>
                </a:pPr>
                <a:r>
                  <a:rPr lang="en-US" sz="1800" kern="1200" dirty="0" err="1">
                    <a:solidFill>
                      <a:prstClr val="black"/>
                    </a:solidFill>
                    <a:latin typeface="Calibri (Body)"/>
                    <a:ea typeface="+mn-ea"/>
                    <a:cs typeface="+mn-cs"/>
                  </a:rPr>
                  <a:t>EventPipeSession</a:t>
                </a:r>
                <a:endParaRPr lang="en-US" sz="1800" kern="1200" dirty="0">
                  <a:solidFill>
                    <a:prstClr val="black"/>
                  </a:solidFill>
                  <a:latin typeface="Calibri (Body)"/>
                  <a:ea typeface="+mn-ea"/>
                  <a:cs typeface="+mn-cs"/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0EE91F5-BA48-83BD-42E2-09A9DBE45980}"/>
                  </a:ext>
                </a:extLst>
              </p:cNvPr>
              <p:cNvSpPr/>
              <p:nvPr/>
            </p:nvSpPr>
            <p:spPr>
              <a:xfrm>
                <a:off x="9122349" y="4950320"/>
                <a:ext cx="2569934" cy="6001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buClrTx/>
                  <a:buFontTx/>
                  <a:buNone/>
                </a:pPr>
                <a:r>
                  <a:rPr lang="en-US" sz="1100" kern="1200" dirty="0" err="1">
                    <a:solidFill>
                      <a:prstClr val="black"/>
                    </a:solidFill>
                    <a:latin typeface="Consolas" panose="020B0609020204030204" pitchFamily="49" charset="0"/>
                    <a:ea typeface="+mn-ea"/>
                    <a:cs typeface="+mn-cs"/>
                  </a:rPr>
                  <a:t>EventPipeEventSource.All</a:t>
                </a:r>
                <a:r>
                  <a:rPr lang="en-US" sz="1100" kern="1200" dirty="0">
                    <a:solidFill>
                      <a:prstClr val="black"/>
                    </a:solidFill>
                    <a:latin typeface="Consolas" panose="020B0609020204030204" pitchFamily="49" charset="0"/>
                    <a:ea typeface="+mn-ea"/>
                    <a:cs typeface="+mn-cs"/>
                  </a:rPr>
                  <a:t> += ...</a:t>
                </a:r>
              </a:p>
              <a:p>
                <a:pPr>
                  <a:buClrTx/>
                  <a:buFontTx/>
                  <a:buNone/>
                </a:pPr>
                <a:r>
                  <a:rPr lang="en-US" sz="1100" kern="1200" dirty="0">
                    <a:solidFill>
                      <a:prstClr val="black"/>
                    </a:solidFill>
                    <a:latin typeface="Consolas" panose="020B0609020204030204" pitchFamily="49" charset="0"/>
                    <a:ea typeface="+mn-ea"/>
                    <a:cs typeface="+mn-cs"/>
                  </a:rPr>
                  <a:t>or </a:t>
                </a:r>
              </a:p>
              <a:p>
                <a:pPr>
                  <a:buClrTx/>
                  <a:buFontTx/>
                  <a:buNone/>
                </a:pPr>
                <a:r>
                  <a:rPr lang="en-US" sz="1100" kern="1200" dirty="0" err="1">
                    <a:solidFill>
                      <a:prstClr val="black"/>
                    </a:solidFill>
                    <a:latin typeface="Consolas" panose="020B0609020204030204" pitchFamily="49" charset="0"/>
                    <a:ea typeface="+mn-ea"/>
                    <a:cs typeface="+mn-cs"/>
                  </a:rPr>
                  <a:t>ClrTraceEventParser</a:t>
                </a:r>
                <a:r>
                  <a:rPr lang="en-US" sz="1100" kern="1200" dirty="0">
                    <a:solidFill>
                      <a:prstClr val="black"/>
                    </a:solidFill>
                    <a:latin typeface="Consolas" panose="020B0609020204030204" pitchFamily="49" charset="0"/>
                    <a:ea typeface="+mn-ea"/>
                    <a:cs typeface="+mn-cs"/>
                  </a:rPr>
                  <a:t> C# events</a:t>
                </a:r>
              </a:p>
            </p:txBody>
          </p:sp>
        </p:grpSp>
        <p:sp>
          <p:nvSpPr>
            <p:cNvPr id="38" name="Arrow: Curved Left 37">
              <a:extLst>
                <a:ext uri="{FF2B5EF4-FFF2-40B4-BE49-F238E27FC236}">
                  <a16:creationId xmlns:a16="http://schemas.microsoft.com/office/drawing/2014/main" id="{4386E35A-03BE-86DE-FDE6-2A33A7006163}"/>
                </a:ext>
              </a:extLst>
            </p:cNvPr>
            <p:cNvSpPr/>
            <p:nvPr/>
          </p:nvSpPr>
          <p:spPr>
            <a:xfrm>
              <a:off x="10485120" y="4800600"/>
              <a:ext cx="233680" cy="416560"/>
            </a:xfrm>
            <a:prstGeom prst="curvedLef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9" name="Arrow: Down 38">
              <a:extLst>
                <a:ext uri="{FF2B5EF4-FFF2-40B4-BE49-F238E27FC236}">
                  <a16:creationId xmlns:a16="http://schemas.microsoft.com/office/drawing/2014/main" id="{84D4FFFA-5BC5-5823-9E1B-DF100F287589}"/>
                </a:ext>
              </a:extLst>
            </p:cNvPr>
            <p:cNvSpPr/>
            <p:nvPr/>
          </p:nvSpPr>
          <p:spPr>
            <a:xfrm>
              <a:off x="9570720" y="5257800"/>
              <a:ext cx="187960" cy="280326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0066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7D295FB3-F529-B752-311D-22273AA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8">
            <a:extLst>
              <a:ext uri="{FF2B5EF4-FFF2-40B4-BE49-F238E27FC236}">
                <a16:creationId xmlns:a16="http://schemas.microsoft.com/office/drawing/2014/main" id="{5679EF4F-0751-AA79-EE23-A7305B9839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469101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</a:pPr>
            <a:r>
              <a:rPr lang="fr-FR" dirty="0" err="1"/>
              <a:t>Counters</a:t>
            </a:r>
            <a:r>
              <a:rPr lang="fr-FR" dirty="0"/>
              <a:t>/</a:t>
            </a:r>
            <a:r>
              <a:rPr lang="fr-FR" dirty="0" err="1"/>
              <a:t>Metrics</a:t>
            </a:r>
            <a:r>
              <a:rPr lang="fr-FR" dirty="0"/>
              <a:t> case</a:t>
            </a:r>
            <a:endParaRPr dirty="0"/>
          </a:p>
        </p:txBody>
      </p:sp>
      <p:sp>
        <p:nvSpPr>
          <p:cNvPr id="374" name="Google Shape;374;p48">
            <a:extLst>
              <a:ext uri="{FF2B5EF4-FFF2-40B4-BE49-F238E27FC236}">
                <a16:creationId xmlns:a16="http://schemas.microsoft.com/office/drawing/2014/main" id="{4D098969-012D-12E1-CF68-790E52340DC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10773016" cy="4313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CLR and BCL are emitting Open Telemetry compatible metrics (.NET 8+)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Look at </a:t>
            </a: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dotnet-counters</a:t>
            </a:r>
            <a:endParaRPr lang="en-US" sz="2000" dirty="0"/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Deprecated CLR and ASP.NET Core counters</a:t>
            </a:r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Build your own!</a:t>
            </a:r>
            <a:endParaRPr lang="en-US" sz="1400" dirty="0">
              <a:solidFill>
                <a:schemeClr val="dk1"/>
              </a:solidFill>
            </a:endParaRP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Read Andrew Lock </a:t>
            </a:r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blog series</a:t>
            </a:r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800" dirty="0">
                <a:solidFill>
                  <a:schemeClr val="bg1"/>
                </a:solidFill>
              </a:rPr>
              <a:t>about metrics</a:t>
            </a:r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</a:pPr>
            <a:endParaRPr dirty="0"/>
          </a:p>
        </p:txBody>
      </p:sp>
      <p:sp>
        <p:nvSpPr>
          <p:cNvPr id="375" name="Google Shape;375;p48">
            <a:extLst>
              <a:ext uri="{FF2B5EF4-FFF2-40B4-BE49-F238E27FC236}">
                <a16:creationId xmlns:a16="http://schemas.microsoft.com/office/drawing/2014/main" id="{E154592D-A01C-A036-6997-EA3555BDE7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593D9A-B22C-72AD-F970-FD3F67B957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0502" y="2668914"/>
            <a:ext cx="4104026" cy="4104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256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7D295FB3-F529-B752-311D-22273AA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8">
            <a:extLst>
              <a:ext uri="{FF2B5EF4-FFF2-40B4-BE49-F238E27FC236}">
                <a16:creationId xmlns:a16="http://schemas.microsoft.com/office/drawing/2014/main" id="{5679EF4F-0751-AA79-EE23-A7305B9839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</a:pPr>
            <a:r>
              <a:rPr lang="fr-FR" dirty="0"/>
              <a:t>Use </a:t>
            </a:r>
            <a:r>
              <a:rPr lang="fr-FR" dirty="0" err="1"/>
              <a:t>ClrMD</a:t>
            </a:r>
            <a:r>
              <a:rPr lang="fr-FR" dirty="0"/>
              <a:t> Luke!</a:t>
            </a:r>
            <a:endParaRPr dirty="0"/>
          </a:p>
        </p:txBody>
      </p:sp>
      <p:sp>
        <p:nvSpPr>
          <p:cNvPr id="374" name="Google Shape;374;p48">
            <a:extLst>
              <a:ext uri="{FF2B5EF4-FFF2-40B4-BE49-F238E27FC236}">
                <a16:creationId xmlns:a16="http://schemas.microsoft.com/office/drawing/2014/main" id="{4D098969-012D-12E1-CF68-790E52340DC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10773016" cy="1973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Allow access to live processes and memory dump: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DataTarget</a:t>
            </a:r>
            <a:endParaRPr lang="en-US" dirty="0">
              <a:solidFill>
                <a:schemeClr val="accent5"/>
              </a:solidFill>
            </a:endParaRP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</a:endParaRPr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Get a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ClrRuntime</a:t>
            </a:r>
            <a:r>
              <a:rPr lang="en-US" dirty="0"/>
              <a:t> from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ClrInfo.CreateRuntime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()</a:t>
            </a:r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</a:pPr>
            <a:endParaRPr dirty="0"/>
          </a:p>
        </p:txBody>
      </p:sp>
      <p:sp>
        <p:nvSpPr>
          <p:cNvPr id="375" name="Google Shape;375;p48">
            <a:extLst>
              <a:ext uri="{FF2B5EF4-FFF2-40B4-BE49-F238E27FC236}">
                <a16:creationId xmlns:a16="http://schemas.microsoft.com/office/drawing/2014/main" id="{E154592D-A01C-A036-6997-EA3555BDE7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8F81BA-0729-114C-AFCD-D1F9122ED5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0118" y="3429000"/>
            <a:ext cx="5779936" cy="32518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5134208-C863-7E8E-2AD1-85AF97306F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2429" y="631421"/>
            <a:ext cx="4898440" cy="13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816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7D295FB3-F529-B752-311D-22273AA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8">
            <a:extLst>
              <a:ext uri="{FF2B5EF4-FFF2-40B4-BE49-F238E27FC236}">
                <a16:creationId xmlns:a16="http://schemas.microsoft.com/office/drawing/2014/main" id="{5679EF4F-0751-AA79-EE23-A7305B9839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</a:pPr>
            <a:r>
              <a:rPr lang="fr-FR" dirty="0"/>
              <a:t>Zoom in the </a:t>
            </a:r>
            <a:r>
              <a:rPr lang="fr-FR" dirty="0" err="1"/>
              <a:t>Managed</a:t>
            </a:r>
            <a:r>
              <a:rPr lang="fr-FR" dirty="0"/>
              <a:t> </a:t>
            </a:r>
            <a:r>
              <a:rPr lang="fr-FR" dirty="0" err="1"/>
              <a:t>Heap</a:t>
            </a:r>
            <a:endParaRPr dirty="0"/>
          </a:p>
        </p:txBody>
      </p:sp>
      <p:sp>
        <p:nvSpPr>
          <p:cNvPr id="374" name="Google Shape;374;p48">
            <a:extLst>
              <a:ext uri="{FF2B5EF4-FFF2-40B4-BE49-F238E27FC236}">
                <a16:creationId xmlns:a16="http://schemas.microsoft.com/office/drawing/2014/main" id="{4D098969-012D-12E1-CF68-790E52340DC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10773016" cy="1973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Everything starts from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ClrHeap</a:t>
            </a:r>
            <a:endParaRPr lang="en-US" dirty="0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</a:endParaRPr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</a:pPr>
            <a:endParaRPr dirty="0"/>
          </a:p>
        </p:txBody>
      </p:sp>
      <p:sp>
        <p:nvSpPr>
          <p:cNvPr id="375" name="Google Shape;375;p48">
            <a:extLst>
              <a:ext uri="{FF2B5EF4-FFF2-40B4-BE49-F238E27FC236}">
                <a16:creationId xmlns:a16="http://schemas.microsoft.com/office/drawing/2014/main" id="{E154592D-A01C-A036-6997-EA3555BDE7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1278CE-7190-3C5B-C9A7-C3459DB59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3537" y="1658525"/>
            <a:ext cx="6023377" cy="469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246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7D295FB3-F529-B752-311D-22273AA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8">
            <a:extLst>
              <a:ext uri="{FF2B5EF4-FFF2-40B4-BE49-F238E27FC236}">
                <a16:creationId xmlns:a16="http://schemas.microsoft.com/office/drawing/2014/main" id="{5679EF4F-0751-AA79-EE23-A7305B9839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</a:pPr>
            <a:r>
              <a:rPr lang="fr-FR" dirty="0"/>
              <a:t>Send a direct command</a:t>
            </a:r>
            <a:endParaRPr dirty="0"/>
          </a:p>
        </p:txBody>
      </p:sp>
      <p:sp>
        <p:nvSpPr>
          <p:cNvPr id="374" name="Google Shape;374;p48">
            <a:extLst>
              <a:ext uri="{FF2B5EF4-FFF2-40B4-BE49-F238E27FC236}">
                <a16:creationId xmlns:a16="http://schemas.microsoft.com/office/drawing/2014/main" id="{4D098969-012D-12E1-CF68-790E52340DC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10773016" cy="1973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Use (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Microsoft.Diagnostics.NETCore.Client</a:t>
            </a:r>
            <a:r>
              <a:rPr lang="en-US" dirty="0"/>
              <a:t>)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DiagnosticsClient</a:t>
            </a:r>
            <a:r>
              <a:rPr lang="en-US" dirty="0"/>
              <a:t>    </a:t>
            </a:r>
            <a:r>
              <a:rPr lang="en-US" dirty="0">
                <a:solidFill>
                  <a:schemeClr val="accent5"/>
                </a:solidFill>
              </a:rPr>
              <a:t>DEMO</a:t>
            </a:r>
            <a:endParaRPr lang="en-US" dirty="0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</a:endParaRPr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</a:pPr>
            <a:endParaRPr dirty="0"/>
          </a:p>
        </p:txBody>
      </p:sp>
      <p:sp>
        <p:nvSpPr>
          <p:cNvPr id="375" name="Google Shape;375;p48">
            <a:extLst>
              <a:ext uri="{FF2B5EF4-FFF2-40B4-BE49-F238E27FC236}">
                <a16:creationId xmlns:a16="http://schemas.microsoft.com/office/drawing/2014/main" id="{E154592D-A01C-A036-6997-EA3555BDE7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738AE20-C119-72AC-8B91-5D5AAAE65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404" y="2672200"/>
            <a:ext cx="10491825" cy="3577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278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7D295FB3-F529-B752-311D-22273AA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8">
            <a:extLst>
              <a:ext uri="{FF2B5EF4-FFF2-40B4-BE49-F238E27FC236}">
                <a16:creationId xmlns:a16="http://schemas.microsoft.com/office/drawing/2014/main" id="{5679EF4F-0751-AA79-EE23-A7305B9839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085" y="1004168"/>
            <a:ext cx="5482431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</a:pPr>
            <a:r>
              <a:rPr lang="fr-FR" dirty="0"/>
              <a:t>AI &amp; CLI </a:t>
            </a:r>
            <a:r>
              <a:rPr lang="fr-FR" dirty="0" err="1"/>
              <a:t>tools</a:t>
            </a:r>
            <a:endParaRPr dirty="0"/>
          </a:p>
        </p:txBody>
      </p:sp>
      <p:sp>
        <p:nvSpPr>
          <p:cNvPr id="375" name="Google Shape;375;p48">
            <a:extLst>
              <a:ext uri="{FF2B5EF4-FFF2-40B4-BE49-F238E27FC236}">
                <a16:creationId xmlns:a16="http://schemas.microsoft.com/office/drawing/2014/main" id="{E154592D-A01C-A036-6997-EA3555BDE7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934149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FAE6BAB-4B06-A576-4FA2-984EA216F62C}"/>
              </a:ext>
            </a:extLst>
          </p:cNvPr>
          <p:cNvGrpSpPr/>
          <p:nvPr/>
        </p:nvGrpSpPr>
        <p:grpSpPr>
          <a:xfrm>
            <a:off x="6815470" y="1812708"/>
            <a:ext cx="5029058" cy="3351122"/>
            <a:chOff x="6815470" y="1503865"/>
            <a:chExt cx="5029058" cy="3351122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B02019B-A184-DF64-907C-3FBB6A51A054}"/>
                </a:ext>
              </a:extLst>
            </p:cNvPr>
            <p:cNvSpPr/>
            <p:nvPr/>
          </p:nvSpPr>
          <p:spPr>
            <a:xfrm>
              <a:off x="6815470" y="1503865"/>
              <a:ext cx="5029058" cy="3351122"/>
            </a:xfrm>
            <a:prstGeom prst="roundRect">
              <a:avLst>
                <a:gd name="adj" fmla="val 5992"/>
              </a:avLst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6EDE07EC-A0C6-0085-836F-6E6D6BDB1CB8}"/>
                </a:ext>
              </a:extLst>
            </p:cNvPr>
            <p:cNvSpPr/>
            <p:nvPr/>
          </p:nvSpPr>
          <p:spPr>
            <a:xfrm>
              <a:off x="7099286" y="2240196"/>
              <a:ext cx="3045474" cy="797883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Context Assembler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049AAE77-3E9A-A2FB-78A8-AD463D4111B3}"/>
                </a:ext>
              </a:extLst>
            </p:cNvPr>
            <p:cNvSpPr/>
            <p:nvPr/>
          </p:nvSpPr>
          <p:spPr>
            <a:xfrm>
              <a:off x="7099286" y="3715428"/>
              <a:ext cx="3045474" cy="797883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Tool Dispatcher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EAA0F68-C122-DE2F-EB53-6FDBA48C8C38}"/>
                </a:ext>
              </a:extLst>
            </p:cNvPr>
            <p:cNvSpPr txBox="1"/>
            <p:nvPr/>
          </p:nvSpPr>
          <p:spPr>
            <a:xfrm>
              <a:off x="7882326" y="1563988"/>
              <a:ext cx="2895344" cy="584775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sz="3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Agent Harness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F1507A7-10AA-B9DD-3AF6-B47D82681CFA}"/>
                </a:ext>
              </a:extLst>
            </p:cNvPr>
            <p:cNvSpPr txBox="1"/>
            <p:nvPr/>
          </p:nvSpPr>
          <p:spPr>
            <a:xfrm>
              <a:off x="8289032" y="2925313"/>
              <a:ext cx="595035" cy="5847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sz="3200" dirty="0"/>
                <a:t>…</a:t>
              </a: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AECB0D5F-F2D4-60B7-D298-3A58FDF90B47}"/>
              </a:ext>
            </a:extLst>
          </p:cNvPr>
          <p:cNvSpPr/>
          <p:nvPr/>
        </p:nvSpPr>
        <p:spPr>
          <a:xfrm>
            <a:off x="379369" y="2174222"/>
            <a:ext cx="3019646" cy="454172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Models (LLM)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82A4F2-5D33-05D3-941B-8141171DD90C}"/>
              </a:ext>
            </a:extLst>
          </p:cNvPr>
          <p:cNvSpPr txBox="1"/>
          <p:nvPr/>
        </p:nvSpPr>
        <p:spPr>
          <a:xfrm>
            <a:off x="8289033" y="382576"/>
            <a:ext cx="1450676" cy="58477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D340D8-3A61-90D1-4B2B-5184634C02E1}"/>
              </a:ext>
            </a:extLst>
          </p:cNvPr>
          <p:cNvSpPr/>
          <p:nvPr/>
        </p:nvSpPr>
        <p:spPr>
          <a:xfrm>
            <a:off x="6815470" y="6103637"/>
            <a:ext cx="5029058" cy="61231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Environment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71F9DCC-0853-1625-0AAF-506B2AE66C95}"/>
              </a:ext>
            </a:extLst>
          </p:cNvPr>
          <p:cNvGrpSpPr/>
          <p:nvPr/>
        </p:nvGrpSpPr>
        <p:grpSpPr>
          <a:xfrm>
            <a:off x="7215478" y="5299736"/>
            <a:ext cx="1715871" cy="667995"/>
            <a:chOff x="7215478" y="4874053"/>
            <a:chExt cx="1715871" cy="667995"/>
          </a:xfrm>
        </p:grpSpPr>
        <p:sp>
          <p:nvSpPr>
            <p:cNvPr id="25" name="Arrow: Down 24">
              <a:extLst>
                <a:ext uri="{FF2B5EF4-FFF2-40B4-BE49-F238E27FC236}">
                  <a16:creationId xmlns:a16="http://schemas.microsoft.com/office/drawing/2014/main" id="{15961677-E58D-A364-A393-F6F4A0C90057}"/>
                </a:ext>
              </a:extLst>
            </p:cNvPr>
            <p:cNvSpPr/>
            <p:nvPr/>
          </p:nvSpPr>
          <p:spPr>
            <a:xfrm>
              <a:off x="8506046" y="4919203"/>
              <a:ext cx="425303" cy="622845"/>
            </a:xfrm>
            <a:prstGeom prst="downArrow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202744E-FA11-D08E-EC4E-A1D80F15D57B}"/>
                </a:ext>
              </a:extLst>
            </p:cNvPr>
            <p:cNvSpPr txBox="1"/>
            <p:nvPr/>
          </p:nvSpPr>
          <p:spPr>
            <a:xfrm>
              <a:off x="7215478" y="4874053"/>
              <a:ext cx="138371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</a:rPr>
                <a:t>tools call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BB154D6-FA23-452F-598A-D658E7290001}"/>
              </a:ext>
            </a:extLst>
          </p:cNvPr>
          <p:cNvGrpSpPr/>
          <p:nvPr/>
        </p:nvGrpSpPr>
        <p:grpSpPr>
          <a:xfrm>
            <a:off x="9091118" y="5344885"/>
            <a:ext cx="2560558" cy="728837"/>
            <a:chOff x="9091118" y="4919202"/>
            <a:chExt cx="2560558" cy="728837"/>
          </a:xfrm>
        </p:grpSpPr>
        <p:sp>
          <p:nvSpPr>
            <p:cNvPr id="26" name="Arrow: Down 25">
              <a:extLst>
                <a:ext uri="{FF2B5EF4-FFF2-40B4-BE49-F238E27FC236}">
                  <a16:creationId xmlns:a16="http://schemas.microsoft.com/office/drawing/2014/main" id="{E1023945-889C-F960-74B4-A97D0F8C61AC}"/>
                </a:ext>
              </a:extLst>
            </p:cNvPr>
            <p:cNvSpPr/>
            <p:nvPr/>
          </p:nvSpPr>
          <p:spPr>
            <a:xfrm rot="10800000">
              <a:off x="9091118" y="4919202"/>
              <a:ext cx="425303" cy="622845"/>
            </a:xfrm>
            <a:prstGeom prst="downArrow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C0B5A50-7A5B-0455-F0E7-9182C7AB5DEE}"/>
                </a:ext>
              </a:extLst>
            </p:cNvPr>
            <p:cNvSpPr txBox="1"/>
            <p:nvPr/>
          </p:nvSpPr>
          <p:spPr>
            <a:xfrm>
              <a:off x="9463256" y="5186374"/>
              <a:ext cx="21884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</a:rPr>
                <a:t>tools response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74B67D5-0661-5511-4AF9-75F770274B27}"/>
              </a:ext>
            </a:extLst>
          </p:cNvPr>
          <p:cNvGrpSpPr/>
          <p:nvPr/>
        </p:nvGrpSpPr>
        <p:grpSpPr>
          <a:xfrm>
            <a:off x="7241821" y="940363"/>
            <a:ext cx="1476877" cy="724850"/>
            <a:chOff x="7241821" y="514680"/>
            <a:chExt cx="1476877" cy="724850"/>
          </a:xfrm>
        </p:grpSpPr>
        <p:sp>
          <p:nvSpPr>
            <p:cNvPr id="16" name="Arrow: Down 15">
              <a:extLst>
                <a:ext uri="{FF2B5EF4-FFF2-40B4-BE49-F238E27FC236}">
                  <a16:creationId xmlns:a16="http://schemas.microsoft.com/office/drawing/2014/main" id="{14D4B078-8328-918F-8DB0-7299CCF2289F}"/>
                </a:ext>
              </a:extLst>
            </p:cNvPr>
            <p:cNvSpPr/>
            <p:nvPr/>
          </p:nvSpPr>
          <p:spPr>
            <a:xfrm>
              <a:off x="8293395" y="616685"/>
              <a:ext cx="425303" cy="622845"/>
            </a:xfrm>
            <a:prstGeom prst="downArrow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8C79D23-73CF-399F-61CE-CE61D6157E76}"/>
                </a:ext>
              </a:extLst>
            </p:cNvPr>
            <p:cNvSpPr txBox="1"/>
            <p:nvPr/>
          </p:nvSpPr>
          <p:spPr>
            <a:xfrm>
              <a:off x="7241821" y="514680"/>
              <a:ext cx="11432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</a:rPr>
                <a:t>prompt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BFE14F6-4FD9-CA34-F9D8-06A757271CBA}"/>
              </a:ext>
            </a:extLst>
          </p:cNvPr>
          <p:cNvGrpSpPr/>
          <p:nvPr/>
        </p:nvGrpSpPr>
        <p:grpSpPr>
          <a:xfrm>
            <a:off x="9314406" y="1042367"/>
            <a:ext cx="2493027" cy="709564"/>
            <a:chOff x="9314406" y="616684"/>
            <a:chExt cx="2493027" cy="709564"/>
          </a:xfrm>
        </p:grpSpPr>
        <p:sp>
          <p:nvSpPr>
            <p:cNvPr id="17" name="Arrow: Down 16">
              <a:extLst>
                <a:ext uri="{FF2B5EF4-FFF2-40B4-BE49-F238E27FC236}">
                  <a16:creationId xmlns:a16="http://schemas.microsoft.com/office/drawing/2014/main" id="{A0161E4E-0792-92C2-71B5-32118AE44895}"/>
                </a:ext>
              </a:extLst>
            </p:cNvPr>
            <p:cNvSpPr/>
            <p:nvPr/>
          </p:nvSpPr>
          <p:spPr>
            <a:xfrm rot="10800000">
              <a:off x="9314406" y="616684"/>
              <a:ext cx="425303" cy="622845"/>
            </a:xfrm>
            <a:prstGeom prst="downArrow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D8990BE-A758-CAA0-DBA8-FA0DE6D4FA45}"/>
                </a:ext>
              </a:extLst>
            </p:cNvPr>
            <p:cNvSpPr txBox="1"/>
            <p:nvPr/>
          </p:nvSpPr>
          <p:spPr>
            <a:xfrm>
              <a:off x="9703972" y="864583"/>
              <a:ext cx="210346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</a:rPr>
                <a:t>final response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1A0B05F-EC32-8F99-B6DB-B1808BED5FB8}"/>
              </a:ext>
            </a:extLst>
          </p:cNvPr>
          <p:cNvGrpSpPr/>
          <p:nvPr/>
        </p:nvGrpSpPr>
        <p:grpSpPr>
          <a:xfrm>
            <a:off x="3551274" y="1967791"/>
            <a:ext cx="3158394" cy="674935"/>
            <a:chOff x="3551274" y="1542108"/>
            <a:chExt cx="3158394" cy="674935"/>
          </a:xfrm>
        </p:grpSpPr>
        <p:sp>
          <p:nvSpPr>
            <p:cNvPr id="18" name="Arrow: Down 17">
              <a:extLst>
                <a:ext uri="{FF2B5EF4-FFF2-40B4-BE49-F238E27FC236}">
                  <a16:creationId xmlns:a16="http://schemas.microsoft.com/office/drawing/2014/main" id="{8D4C49AE-CA7D-8EAB-F643-0F1D41E0E64B}"/>
                </a:ext>
              </a:extLst>
            </p:cNvPr>
            <p:cNvSpPr/>
            <p:nvPr/>
          </p:nvSpPr>
          <p:spPr>
            <a:xfrm rot="5400000">
              <a:off x="4894752" y="540876"/>
              <a:ext cx="332689" cy="3019646"/>
            </a:xfrm>
            <a:prstGeom prst="downArrow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804792E-FF89-B443-27B0-14C391E5DC37}"/>
                </a:ext>
              </a:extLst>
            </p:cNvPr>
            <p:cNvSpPr txBox="1"/>
            <p:nvPr/>
          </p:nvSpPr>
          <p:spPr>
            <a:xfrm>
              <a:off x="3973021" y="1542108"/>
              <a:ext cx="273664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</a:rPr>
                <a:t>enriched message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BA8EEEE-C6BE-B48E-2B8D-14F5DFAE336A}"/>
              </a:ext>
            </a:extLst>
          </p:cNvPr>
          <p:cNvGrpSpPr/>
          <p:nvPr/>
        </p:nvGrpSpPr>
        <p:grpSpPr>
          <a:xfrm>
            <a:off x="3508419" y="2793607"/>
            <a:ext cx="3123268" cy="654129"/>
            <a:chOff x="3508419" y="2367924"/>
            <a:chExt cx="3123268" cy="654129"/>
          </a:xfrm>
        </p:grpSpPr>
        <p:sp>
          <p:nvSpPr>
            <p:cNvPr id="19" name="Arrow: Down 18">
              <a:extLst>
                <a:ext uri="{FF2B5EF4-FFF2-40B4-BE49-F238E27FC236}">
                  <a16:creationId xmlns:a16="http://schemas.microsoft.com/office/drawing/2014/main" id="{38D0CACD-9116-672F-445D-DFE6A67B88E0}"/>
                </a:ext>
              </a:extLst>
            </p:cNvPr>
            <p:cNvSpPr/>
            <p:nvPr/>
          </p:nvSpPr>
          <p:spPr>
            <a:xfrm rot="16200000">
              <a:off x="4955521" y="1345888"/>
              <a:ext cx="332685" cy="3019646"/>
            </a:xfrm>
            <a:prstGeom prst="downArrow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3128643-4F8E-518B-D38B-1CCEC2961188}"/>
                </a:ext>
              </a:extLst>
            </p:cNvPr>
            <p:cNvSpPr txBox="1"/>
            <p:nvPr/>
          </p:nvSpPr>
          <p:spPr>
            <a:xfrm>
              <a:off x="3508419" y="2367924"/>
              <a:ext cx="138371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</a:rPr>
                <a:t>tool calls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54A78747-D679-6920-79EF-C280DE926148}"/>
              </a:ext>
            </a:extLst>
          </p:cNvPr>
          <p:cNvSpPr txBox="1"/>
          <p:nvPr/>
        </p:nvSpPr>
        <p:spPr>
          <a:xfrm rot="3750595">
            <a:off x="4638668" y="3450148"/>
            <a:ext cx="9663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ingdings 3" panose="05040102010807070707" pitchFamily="18" charset="2"/>
              </a:rPr>
              <a:t>P</a:t>
            </a:r>
            <a:endParaRPr lang="en-US" sz="3600" dirty="0">
              <a:solidFill>
                <a:schemeClr val="accent6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12BAFC0-D0DD-E0DE-1828-FBB4BC87F0D8}"/>
              </a:ext>
            </a:extLst>
          </p:cNvPr>
          <p:cNvGrpSpPr/>
          <p:nvPr/>
        </p:nvGrpSpPr>
        <p:grpSpPr>
          <a:xfrm>
            <a:off x="3643565" y="3780158"/>
            <a:ext cx="3110514" cy="656123"/>
            <a:chOff x="3643565" y="3354475"/>
            <a:chExt cx="3110514" cy="656123"/>
          </a:xfrm>
        </p:grpSpPr>
        <p:sp>
          <p:nvSpPr>
            <p:cNvPr id="21" name="Arrow: Down 20">
              <a:extLst>
                <a:ext uri="{FF2B5EF4-FFF2-40B4-BE49-F238E27FC236}">
                  <a16:creationId xmlns:a16="http://schemas.microsoft.com/office/drawing/2014/main" id="{C305531C-B873-F982-4EC7-21D2988E7FCF}"/>
                </a:ext>
              </a:extLst>
            </p:cNvPr>
            <p:cNvSpPr/>
            <p:nvPr/>
          </p:nvSpPr>
          <p:spPr>
            <a:xfrm rot="5400000">
              <a:off x="4987044" y="2010996"/>
              <a:ext cx="332688" cy="3019646"/>
            </a:xfrm>
            <a:prstGeom prst="downArrow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54668C3-6881-3915-3C99-F6A4B832252D}"/>
                </a:ext>
              </a:extLst>
            </p:cNvPr>
            <p:cNvSpPr txBox="1"/>
            <p:nvPr/>
          </p:nvSpPr>
          <p:spPr>
            <a:xfrm>
              <a:off x="5080223" y="3548933"/>
              <a:ext cx="167385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</a:rPr>
                <a:t>tool results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169CB55-43CC-7FEE-468E-E2D4E13D108A}"/>
              </a:ext>
            </a:extLst>
          </p:cNvPr>
          <p:cNvGrpSpPr/>
          <p:nvPr/>
        </p:nvGrpSpPr>
        <p:grpSpPr>
          <a:xfrm>
            <a:off x="3593244" y="4570215"/>
            <a:ext cx="3123268" cy="654129"/>
            <a:chOff x="3593244" y="4144532"/>
            <a:chExt cx="3123268" cy="654129"/>
          </a:xfrm>
        </p:grpSpPr>
        <p:sp>
          <p:nvSpPr>
            <p:cNvPr id="38" name="Arrow: Down 37">
              <a:extLst>
                <a:ext uri="{FF2B5EF4-FFF2-40B4-BE49-F238E27FC236}">
                  <a16:creationId xmlns:a16="http://schemas.microsoft.com/office/drawing/2014/main" id="{68D5C928-123D-DE51-C194-B78553C10F14}"/>
                </a:ext>
              </a:extLst>
            </p:cNvPr>
            <p:cNvSpPr/>
            <p:nvPr/>
          </p:nvSpPr>
          <p:spPr>
            <a:xfrm rot="16200000">
              <a:off x="5040346" y="3122496"/>
              <a:ext cx="332685" cy="3019646"/>
            </a:xfrm>
            <a:prstGeom prst="downArrow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277C2FF-B611-56B6-D17C-5C8388173E88}"/>
                </a:ext>
              </a:extLst>
            </p:cNvPr>
            <p:cNvSpPr txBox="1"/>
            <p:nvPr/>
          </p:nvSpPr>
          <p:spPr>
            <a:xfrm>
              <a:off x="3593244" y="4144532"/>
              <a:ext cx="23775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</a:rPr>
                <a:t>model response</a:t>
              </a: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FD915758-C61C-B3EF-AEB6-C68F76C77498}"/>
              </a:ext>
            </a:extLst>
          </p:cNvPr>
          <p:cNvSpPr txBox="1"/>
          <p:nvPr/>
        </p:nvSpPr>
        <p:spPr>
          <a:xfrm>
            <a:off x="10320719" y="2670497"/>
            <a:ext cx="11432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>
                <a:solidFill>
                  <a:schemeClr val="accent4">
                    <a:lumMod val="75000"/>
                  </a:schemeClr>
                </a:solidFill>
              </a:rPr>
              <a:t>Skills</a:t>
            </a:r>
            <a:endParaRPr lang="en-US" sz="3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7D92F5F-D31D-9AC4-75CA-514E1C1F8949}"/>
              </a:ext>
            </a:extLst>
          </p:cNvPr>
          <p:cNvSpPr txBox="1"/>
          <p:nvPr/>
        </p:nvSpPr>
        <p:spPr>
          <a:xfrm>
            <a:off x="10206151" y="3906476"/>
            <a:ext cx="152798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200" dirty="0">
                <a:solidFill>
                  <a:schemeClr val="accent4">
                    <a:lumMod val="75000"/>
                  </a:schemeClr>
                </a:solidFill>
              </a:rPr>
              <a:t>MCP </a:t>
            </a:r>
          </a:p>
          <a:p>
            <a:pPr algn="ctr"/>
            <a:r>
              <a:rPr lang="fr-FR" sz="3200" dirty="0">
                <a:solidFill>
                  <a:schemeClr val="accent4">
                    <a:lumMod val="75000"/>
                  </a:schemeClr>
                </a:solidFill>
              </a:rPr>
              <a:t>servers</a:t>
            </a:r>
            <a:endParaRPr lang="en-US" sz="3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93B0D6D-EE43-5C92-4F5E-0BFB11754FF7}"/>
              </a:ext>
            </a:extLst>
          </p:cNvPr>
          <p:cNvSpPr txBox="1"/>
          <p:nvPr/>
        </p:nvSpPr>
        <p:spPr>
          <a:xfrm>
            <a:off x="7682518" y="1272222"/>
            <a:ext cx="4496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Wingdings" panose="05000000000000000000" pitchFamily="2" charset="2"/>
              </a:rPr>
              <a:t>Œ</a:t>
            </a:r>
            <a:endParaRPr lang="en-US" sz="2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B5483E9-1F6F-8FE9-3495-FD2747ED8623}"/>
              </a:ext>
            </a:extLst>
          </p:cNvPr>
          <p:cNvSpPr txBox="1"/>
          <p:nvPr/>
        </p:nvSpPr>
        <p:spPr>
          <a:xfrm>
            <a:off x="10669761" y="3364761"/>
            <a:ext cx="4451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Wingdings" panose="05000000000000000000" pitchFamily="2" charset="2"/>
              </a:rPr>
              <a:t></a:t>
            </a:r>
            <a:endParaRPr lang="en-US" sz="24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BA2F2A0-A804-F2DC-A455-32125F774EF8}"/>
              </a:ext>
            </a:extLst>
          </p:cNvPr>
          <p:cNvSpPr txBox="1"/>
          <p:nvPr/>
        </p:nvSpPr>
        <p:spPr>
          <a:xfrm>
            <a:off x="3606064" y="1927426"/>
            <a:ext cx="5223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Wingdings" panose="05000000000000000000" pitchFamily="2" charset="2"/>
              </a:rPr>
              <a:t>Ž</a:t>
            </a:r>
            <a:endParaRPr lang="en-US" sz="28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45EA5B0-6BBE-ADA4-9508-9F066D77331A}"/>
              </a:ext>
            </a:extLst>
          </p:cNvPr>
          <p:cNvSpPr txBox="1"/>
          <p:nvPr/>
        </p:nvSpPr>
        <p:spPr>
          <a:xfrm>
            <a:off x="4730933" y="2748723"/>
            <a:ext cx="4451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Wingdings" panose="05000000000000000000" pitchFamily="2" charset="2"/>
              </a:rPr>
              <a:t></a:t>
            </a:r>
            <a:endParaRPr lang="en-US" sz="2800" dirty="0"/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FBD65A4E-D202-CB43-A967-C873D2D82FF5}"/>
              </a:ext>
            </a:extLst>
          </p:cNvPr>
          <p:cNvSpPr txBox="1"/>
          <p:nvPr/>
        </p:nvSpPr>
        <p:spPr>
          <a:xfrm>
            <a:off x="8753216" y="4735922"/>
            <a:ext cx="5223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Wingdings" panose="05000000000000000000" pitchFamily="2" charset="2"/>
              </a:rPr>
              <a:t></a:t>
            </a:r>
            <a:endParaRPr lang="en-US" sz="2800" dirty="0"/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0CC5A81F-B0B3-0A50-A4EC-7290B2CD261F}"/>
              </a:ext>
            </a:extLst>
          </p:cNvPr>
          <p:cNvSpPr txBox="1"/>
          <p:nvPr/>
        </p:nvSpPr>
        <p:spPr>
          <a:xfrm>
            <a:off x="4689980" y="3961837"/>
            <a:ext cx="4535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Wingdings" panose="05000000000000000000" pitchFamily="2" charset="2"/>
              </a:rPr>
              <a:t>‘</a:t>
            </a:r>
            <a:endParaRPr lang="en-US" sz="2800" dirty="0"/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937EE997-888C-BD52-3482-F6356D968A0D}"/>
              </a:ext>
            </a:extLst>
          </p:cNvPr>
          <p:cNvSpPr txBox="1"/>
          <p:nvPr/>
        </p:nvSpPr>
        <p:spPr>
          <a:xfrm>
            <a:off x="5844366" y="4536829"/>
            <a:ext cx="5487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Wingdings" panose="05000000000000000000" pitchFamily="2" charset="2"/>
              </a:rPr>
              <a:t>’</a:t>
            </a:r>
            <a:endParaRPr lang="en-US" sz="2800" dirty="0"/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3A991ABA-0221-A66A-28B6-33339C628497}"/>
              </a:ext>
            </a:extLst>
          </p:cNvPr>
          <p:cNvSpPr txBox="1"/>
          <p:nvPr/>
        </p:nvSpPr>
        <p:spPr>
          <a:xfrm>
            <a:off x="9784160" y="963886"/>
            <a:ext cx="5068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Wingdings" panose="05000000000000000000" pitchFamily="2" charset="2"/>
              </a:rPr>
              <a:t>“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53308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3" grpId="0" animBg="1"/>
      <p:bldP spid="36" grpId="0"/>
      <p:bldP spid="49" grpId="0"/>
      <p:bldP spid="50" grpId="0"/>
      <p:bldP spid="56" grpId="0"/>
      <p:bldP spid="58" grpId="0"/>
      <p:bldP spid="60" grpId="0"/>
      <p:bldP spid="62" grpId="0"/>
      <p:bldP spid="320" grpId="0"/>
      <p:bldP spid="322" grpId="0"/>
      <p:bldP spid="324" grpId="0"/>
      <p:bldP spid="32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7D295FB3-F529-B752-311D-22273AA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8">
            <a:extLst>
              <a:ext uri="{FF2B5EF4-FFF2-40B4-BE49-F238E27FC236}">
                <a16:creationId xmlns:a16="http://schemas.microsoft.com/office/drawing/2014/main" id="{5679EF4F-0751-AA79-EE23-A7305B9839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1827382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</a:pPr>
            <a:r>
              <a:rPr lang="fr-FR" dirty="0"/>
              <a:t>AI: CLI </a:t>
            </a:r>
            <a:r>
              <a:rPr lang="fr-FR" dirty="0" err="1"/>
              <a:t>tool</a:t>
            </a:r>
            <a:r>
              <a:rPr lang="fr-FR" dirty="0"/>
              <a:t> </a:t>
            </a:r>
            <a:r>
              <a:rPr lang="fr-FR" dirty="0">
                <a:sym typeface="Wingdings" panose="05000000000000000000" pitchFamily="2" charset="2"/>
              </a:rPr>
              <a:t></a:t>
            </a:r>
            <a:r>
              <a:rPr lang="fr-FR" dirty="0"/>
              <a:t> MCP server!</a:t>
            </a:r>
            <a:endParaRPr dirty="0"/>
          </a:p>
        </p:txBody>
      </p:sp>
      <p:sp>
        <p:nvSpPr>
          <p:cNvPr id="374" name="Google Shape;374;p48">
            <a:extLst>
              <a:ext uri="{FF2B5EF4-FFF2-40B4-BE49-F238E27FC236}">
                <a16:creationId xmlns:a16="http://schemas.microsoft.com/office/drawing/2014/main" id="{4D098969-012D-12E1-CF68-790E52340DC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10773016" cy="4313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Agents (~models) could simply know how to use CLI tools</a:t>
            </a: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--?</a:t>
            </a:r>
            <a:r>
              <a:rPr lang="en-US" sz="1800" dirty="0">
                <a:solidFill>
                  <a:schemeClr val="bg1"/>
                </a:solidFill>
              </a:rPr>
              <a:t> could be used by agents to know how to use them</a:t>
            </a:r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… but better to make it explicit = MCP Server</a:t>
            </a:r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MCP Server = tools + prompts + resources via a transport (</a:t>
            </a:r>
            <a:r>
              <a:rPr lang="en-US" dirty="0" err="1"/>
              <a:t>stdio</a:t>
            </a:r>
            <a:r>
              <a:rPr lang="en-US" dirty="0"/>
              <a:t>, </a:t>
            </a:r>
            <a:r>
              <a:rPr lang="en-US" dirty="0" err="1"/>
              <a:t>websockets</a:t>
            </a:r>
            <a:r>
              <a:rPr lang="en-US" dirty="0"/>
              <a:t>, …)</a:t>
            </a:r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Discoverable from agentic tools (Cursor, Copilot, Claude,…)</a:t>
            </a:r>
            <a:br>
              <a:rPr lang="en-US" dirty="0"/>
            </a:br>
            <a:endParaRPr lang="en-US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</a:pPr>
            <a:endParaRPr dirty="0"/>
          </a:p>
        </p:txBody>
      </p:sp>
      <p:sp>
        <p:nvSpPr>
          <p:cNvPr id="375" name="Google Shape;375;p48">
            <a:extLst>
              <a:ext uri="{FF2B5EF4-FFF2-40B4-BE49-F238E27FC236}">
                <a16:creationId xmlns:a16="http://schemas.microsoft.com/office/drawing/2014/main" id="{E154592D-A01C-A036-6997-EA3555BDE7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33107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7D295FB3-F529-B752-311D-22273AA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8">
            <a:extLst>
              <a:ext uri="{FF2B5EF4-FFF2-40B4-BE49-F238E27FC236}">
                <a16:creationId xmlns:a16="http://schemas.microsoft.com/office/drawing/2014/main" id="{5679EF4F-0751-AA79-EE23-A7305B9839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</a:pPr>
            <a:r>
              <a:rPr lang="fr-FR" dirty="0"/>
              <a:t>CLI as an C# MCP Server</a:t>
            </a:r>
            <a:endParaRPr dirty="0"/>
          </a:p>
        </p:txBody>
      </p:sp>
      <p:sp>
        <p:nvSpPr>
          <p:cNvPr id="374" name="Google Shape;374;p48">
            <a:extLst>
              <a:ext uri="{FF2B5EF4-FFF2-40B4-BE49-F238E27FC236}">
                <a16:creationId xmlns:a16="http://schemas.microsoft.com/office/drawing/2014/main" id="{4D098969-012D-12E1-CF68-790E52340DC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10773016" cy="894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dotnet-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dstrings</a:t>
            </a:r>
            <a:r>
              <a:rPr lang="en-US" dirty="0"/>
              <a:t> use case   </a:t>
            </a:r>
            <a:r>
              <a:rPr lang="en-US" dirty="0">
                <a:solidFill>
                  <a:schemeClr val="accent5"/>
                </a:solidFill>
              </a:rPr>
              <a:t>DEMO</a:t>
            </a:r>
            <a:endParaRPr lang="en-US" dirty="0"/>
          </a:p>
        </p:txBody>
      </p:sp>
      <p:sp>
        <p:nvSpPr>
          <p:cNvPr id="375" name="Google Shape;375;p48">
            <a:extLst>
              <a:ext uri="{FF2B5EF4-FFF2-40B4-BE49-F238E27FC236}">
                <a16:creationId xmlns:a16="http://schemas.microsoft.com/office/drawing/2014/main" id="{E154592D-A01C-A036-6997-EA3555BDE7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836804-3936-6CCF-6578-BE6BFF979CB4}"/>
              </a:ext>
            </a:extLst>
          </p:cNvPr>
          <p:cNvSpPr txBox="1"/>
          <p:nvPr/>
        </p:nvSpPr>
        <p:spPr>
          <a:xfrm>
            <a:off x="1329267" y="2750473"/>
            <a:ext cx="9246442" cy="38423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FFFFF"/>
              </a:buClr>
              <a:buSzPts val="2400"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Add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nsolas" panose="020B0609020204030204" pitchFamily="49" charset="0"/>
                <a:ea typeface="Roboto"/>
                <a:cs typeface="Roboto"/>
                <a:sym typeface="Roboto"/>
              </a:rPr>
              <a:t>ModelContextProtocol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nsolas" panose="020B0609020204030204" pitchFamily="49" charset="0"/>
                <a:ea typeface="Roboto"/>
                <a:cs typeface="Roboto"/>
                <a:sym typeface="Roboto"/>
              </a:rPr>
              <a:t>Microsoft.Extensions.Hosting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nsolas" panose="020B0609020204030204" pitchFamily="49" charset="0"/>
                <a:ea typeface="Roboto"/>
                <a:cs typeface="Roboto"/>
                <a:sym typeface="Roboto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references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FFFFF"/>
              </a:buClr>
              <a:buSzPts val="2400"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Support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boto"/>
                <a:ea typeface="Roboto"/>
                <a:cs typeface="Roboto"/>
                <a:sym typeface="Roboto"/>
              </a:rPr>
              <a:t>--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boto"/>
                <a:ea typeface="Roboto"/>
                <a:cs typeface="Roboto"/>
                <a:sym typeface="Roboto"/>
              </a:rPr>
              <a:t>mcp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 command line parameter</a:t>
            </a:r>
          </a:p>
          <a:p>
            <a:pPr marL="342900" marR="0" lvl="0" indent="-34290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FFFFF"/>
              </a:buClr>
              <a:buSzPts val="2400"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Add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boto"/>
                <a:ea typeface="Roboto"/>
                <a:cs typeface="Roboto"/>
                <a:sym typeface="Roboto"/>
              </a:rPr>
              <a:t>tools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 = static classes decorated with </a:t>
            </a:r>
            <a:r>
              <a:rPr lang="en-US" sz="1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Roboto"/>
                <a:cs typeface="Roboto"/>
                <a:sym typeface="Roboto"/>
              </a:rPr>
              <a:t>[</a:t>
            </a:r>
            <a:r>
              <a:rPr lang="en-US" sz="18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Roboto"/>
                <a:cs typeface="Roboto"/>
                <a:sym typeface="Roboto"/>
              </a:rPr>
              <a:t>McpServerToolType</a:t>
            </a:r>
            <a:r>
              <a:rPr lang="en-US" sz="1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Roboto"/>
                <a:cs typeface="Roboto"/>
                <a:sym typeface="Roboto"/>
              </a:rPr>
              <a:t>]</a:t>
            </a:r>
          </a:p>
          <a:p>
            <a:pPr lvl="6">
              <a:lnSpc>
                <a:spcPct val="114000"/>
              </a:lnSpc>
              <a:spcAft>
                <a:spcPts val="600"/>
              </a:spcAft>
              <a:buClr>
                <a:srgbClr val="FFFFFF"/>
              </a:buClr>
              <a:buSzPts val="2400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	Decorate static method with </a:t>
            </a:r>
            <a:r>
              <a:rPr lang="en-US" sz="1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Roboto"/>
                <a:cs typeface="Roboto"/>
                <a:sym typeface="Roboto"/>
              </a:rPr>
              <a:t>[</a:t>
            </a:r>
            <a:r>
              <a:rPr lang="en-US" sz="18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Roboto"/>
                <a:cs typeface="Roboto"/>
                <a:sym typeface="Roboto"/>
              </a:rPr>
              <a:t>McpServerTool</a:t>
            </a:r>
            <a:r>
              <a:rPr lang="en-US" sz="1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Roboto"/>
                <a:cs typeface="Roboto"/>
                <a:sym typeface="Roboto"/>
              </a:rPr>
              <a:t>, Description(…)]</a:t>
            </a:r>
          </a:p>
          <a:p>
            <a:pPr lvl="6">
              <a:lnSpc>
                <a:spcPct val="114000"/>
              </a:lnSpc>
              <a:spcAft>
                <a:spcPts val="600"/>
              </a:spcAft>
              <a:buClr>
                <a:srgbClr val="FFFFFF"/>
              </a:buClr>
              <a:buSzPts val="2400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	Decorate each parameter with </a:t>
            </a:r>
            <a:r>
              <a:rPr lang="en-US" sz="1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Roboto"/>
                <a:cs typeface="Roboto"/>
                <a:sym typeface="Roboto"/>
              </a:rPr>
              <a:t>[Description(…)]</a:t>
            </a:r>
          </a:p>
          <a:p>
            <a:pPr marL="342900" marR="0" lvl="0" indent="-34290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FFFFF"/>
              </a:buClr>
              <a:buSzPts val="2400"/>
              <a:buFont typeface="+mj-lt"/>
              <a:buAutoNum type="arabicPeriod"/>
              <a:tabLst/>
              <a:defRPr/>
            </a:pPr>
            <a:r>
              <a:rPr lang="en-US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Add </a:t>
            </a:r>
            <a:r>
              <a:rPr lang="en-US" sz="1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/>
                <a:ea typeface="Roboto"/>
                <a:cs typeface="Roboto"/>
                <a:sym typeface="Roboto"/>
              </a:rPr>
              <a:t>prompts</a:t>
            </a:r>
            <a:r>
              <a:rPr lang="en-US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= static classes decorated with [</a:t>
            </a:r>
            <a:r>
              <a:rPr lang="en-US" sz="18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McpServerPromptType</a:t>
            </a:r>
            <a:r>
              <a:rPr lang="en-US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]</a:t>
            </a:r>
          </a:p>
          <a:p>
            <a:pPr lvl="6">
              <a:lnSpc>
                <a:spcPct val="114000"/>
              </a:lnSpc>
              <a:spcAft>
                <a:spcPts val="600"/>
              </a:spcAft>
              <a:buClr>
                <a:srgbClr val="FFFFFF"/>
              </a:buClr>
              <a:buSzPts val="2400"/>
              <a:defRPr/>
            </a:pPr>
            <a:r>
              <a:rPr lang="en-US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	Decorate static method with </a:t>
            </a:r>
            <a:r>
              <a:rPr lang="en-US" sz="1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Roboto"/>
                <a:cs typeface="Roboto"/>
                <a:sym typeface="Roboto"/>
              </a:rPr>
              <a:t>[</a:t>
            </a:r>
            <a:r>
              <a:rPr lang="en-US" sz="18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Roboto"/>
                <a:cs typeface="Roboto"/>
                <a:sym typeface="Roboto"/>
              </a:rPr>
              <a:t>McpServerPrompt</a:t>
            </a:r>
            <a:r>
              <a:rPr lang="en-US" sz="1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Roboto"/>
                <a:cs typeface="Roboto"/>
                <a:sym typeface="Roboto"/>
              </a:rPr>
              <a:t>(Name=…), Description(…)]</a:t>
            </a:r>
          </a:p>
          <a:p>
            <a:pPr lvl="6">
              <a:lnSpc>
                <a:spcPct val="114000"/>
              </a:lnSpc>
              <a:spcAft>
                <a:spcPts val="600"/>
              </a:spcAft>
              <a:buClr>
                <a:srgbClr val="FFFFFF"/>
              </a:buClr>
              <a:buSzPts val="2400"/>
              <a:defRPr/>
            </a:pPr>
            <a:r>
              <a:rPr lang="en-US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	Decorate each parameter with </a:t>
            </a:r>
            <a:r>
              <a:rPr lang="en-US" sz="1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Roboto"/>
                <a:cs typeface="Roboto"/>
                <a:sym typeface="Roboto"/>
              </a:rPr>
              <a:t>[Description(…)]</a:t>
            </a:r>
          </a:p>
          <a:p>
            <a:pPr marL="342900" marR="0" lvl="0" indent="-34290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FFFFF"/>
              </a:buClr>
              <a:buSzPts val="2400"/>
              <a:buFont typeface="+mj-lt"/>
              <a:buAutoNum type="arabicPeriod" startAt="5"/>
              <a:tabLst/>
              <a:defRPr/>
            </a:pPr>
            <a:r>
              <a:rPr lang="en-US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Add </a:t>
            </a:r>
            <a:r>
              <a:rPr lang="en-US" sz="18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/>
                <a:ea typeface="Roboto"/>
                <a:cs typeface="Roboto"/>
                <a:sym typeface="Roboto"/>
              </a:rPr>
              <a:t>server.json</a:t>
            </a:r>
            <a:r>
              <a:rPr lang="en-US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for easier usage by agentic clients and discovery in nuget.org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784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7D295FB3-F529-B752-311D-22273AA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8">
            <a:extLst>
              <a:ext uri="{FF2B5EF4-FFF2-40B4-BE49-F238E27FC236}">
                <a16:creationId xmlns:a16="http://schemas.microsoft.com/office/drawing/2014/main" id="{5679EF4F-0751-AA79-EE23-A7305B9839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</a:pPr>
            <a:r>
              <a:rPr lang="fr-FR" dirty="0" err="1"/>
              <a:t>Build</a:t>
            </a:r>
            <a:r>
              <a:rPr lang="fr-FR" dirty="0"/>
              <a:t> a new C# MCP Server</a:t>
            </a:r>
            <a:endParaRPr dirty="0"/>
          </a:p>
        </p:txBody>
      </p:sp>
      <p:sp>
        <p:nvSpPr>
          <p:cNvPr id="374" name="Google Shape;374;p48">
            <a:extLst>
              <a:ext uri="{FF2B5EF4-FFF2-40B4-BE49-F238E27FC236}">
                <a16:creationId xmlns:a16="http://schemas.microsoft.com/office/drawing/2014/main" id="{4D098969-012D-12E1-CF68-790E52340DC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10773016" cy="4313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Install the Visual Studio project template</a:t>
            </a: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dotnet new install </a:t>
            </a:r>
            <a:r>
              <a:rPr lang="en-US" sz="16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Microsoft.McpServer.ProjectTemplates</a:t>
            </a:r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Generate a </a:t>
            </a:r>
            <a:r>
              <a:rPr lang="en-US" dirty="0" err="1"/>
              <a:t>nuget</a:t>
            </a:r>
            <a:r>
              <a:rPr lang="en-US" dirty="0"/>
              <a:t> package</a:t>
            </a: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&lt;</a:t>
            </a:r>
            <a:r>
              <a:rPr lang="en-US" sz="18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PackAsTool</a:t>
            </a:r>
            <a:r>
              <a:rPr lang="en-US" sz="1800" dirty="0">
                <a:solidFill>
                  <a:schemeClr val="bg1"/>
                </a:solidFill>
              </a:rPr>
              <a:t>&gt;true&lt;/</a:t>
            </a:r>
            <a:r>
              <a:rPr lang="en-US" sz="18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PackAsTool</a:t>
            </a:r>
            <a:r>
              <a:rPr lang="en-US" sz="1800" dirty="0">
                <a:solidFill>
                  <a:schemeClr val="bg1"/>
                </a:solidFill>
              </a:rPr>
              <a:t>&gt;</a:t>
            </a: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&lt;</a:t>
            </a:r>
            <a:r>
              <a:rPr lang="en-US" sz="18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PackageType</a:t>
            </a:r>
            <a:r>
              <a:rPr lang="en-US" sz="1800" dirty="0">
                <a:solidFill>
                  <a:schemeClr val="bg1"/>
                </a:solidFill>
              </a:rPr>
              <a:t>&gt;</a:t>
            </a:r>
            <a:r>
              <a:rPr lang="en-US" sz="1800" dirty="0" err="1">
                <a:solidFill>
                  <a:schemeClr val="bg1"/>
                </a:solidFill>
              </a:rPr>
              <a:t>McpServer</a:t>
            </a:r>
            <a:r>
              <a:rPr lang="en-US" sz="1800" dirty="0">
                <a:solidFill>
                  <a:schemeClr val="bg1"/>
                </a:solidFill>
              </a:rPr>
              <a:t>&lt;/</a:t>
            </a:r>
            <a:r>
              <a:rPr lang="en-US" sz="18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PackageType</a:t>
            </a:r>
            <a:r>
              <a:rPr lang="en-US" sz="1800" dirty="0">
                <a:solidFill>
                  <a:schemeClr val="bg1"/>
                </a:solidFill>
              </a:rPr>
              <a:t>&gt;   </a:t>
            </a:r>
            <a:r>
              <a:rPr lang="en-US" sz="1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!!! WARNING !!!</a:t>
            </a: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Add .</a:t>
            </a:r>
            <a:r>
              <a:rPr lang="en-US" dirty="0" err="1"/>
              <a:t>mcp</a:t>
            </a:r>
            <a:r>
              <a:rPr lang="en-US" dirty="0"/>
              <a:t>\</a:t>
            </a:r>
            <a:r>
              <a:rPr lang="en-US" dirty="0" err="1"/>
              <a:t>server.json</a:t>
            </a:r>
            <a:endParaRPr lang="en-US" dirty="0"/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Used by clients to know how to start the server</a:t>
            </a:r>
            <a:endParaRPr lang="en-US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</a:endParaRPr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</a:pPr>
            <a:endParaRPr dirty="0"/>
          </a:p>
        </p:txBody>
      </p:sp>
      <p:sp>
        <p:nvSpPr>
          <p:cNvPr id="375" name="Google Shape;375;p48">
            <a:extLst>
              <a:ext uri="{FF2B5EF4-FFF2-40B4-BE49-F238E27FC236}">
                <a16:creationId xmlns:a16="http://schemas.microsoft.com/office/drawing/2014/main" id="{E154592D-A01C-A036-6997-EA3555BDE7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7A30E8-4CC6-B36F-0519-AA747196D8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8454" y="2583712"/>
            <a:ext cx="4099504" cy="4099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6570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7D295FB3-F529-B752-311D-22273AA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8">
            <a:extLst>
              <a:ext uri="{FF2B5EF4-FFF2-40B4-BE49-F238E27FC236}">
                <a16:creationId xmlns:a16="http://schemas.microsoft.com/office/drawing/2014/main" id="{5679EF4F-0751-AA79-EE23-A7305B9839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</a:pPr>
            <a:r>
              <a:rPr lang="fr-FR" dirty="0"/>
              <a:t>Use MCP Server in VS</a:t>
            </a:r>
            <a:endParaRPr dirty="0"/>
          </a:p>
        </p:txBody>
      </p:sp>
      <p:sp>
        <p:nvSpPr>
          <p:cNvPr id="374" name="Google Shape;374;p48">
            <a:extLst>
              <a:ext uri="{FF2B5EF4-FFF2-40B4-BE49-F238E27FC236}">
                <a16:creationId xmlns:a16="http://schemas.microsoft.com/office/drawing/2014/main" id="{4D098969-012D-12E1-CF68-790E52340DC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7161982" cy="4313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1" indent="0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</a:pPr>
            <a:endParaRPr lang="en-US" sz="1800" dirty="0">
              <a:solidFill>
                <a:schemeClr val="bg1"/>
              </a:solidFill>
            </a:endParaRPr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</a:pPr>
            <a:endParaRPr dirty="0"/>
          </a:p>
        </p:txBody>
      </p:sp>
      <p:sp>
        <p:nvSpPr>
          <p:cNvPr id="375" name="Google Shape;375;p48">
            <a:extLst>
              <a:ext uri="{FF2B5EF4-FFF2-40B4-BE49-F238E27FC236}">
                <a16:creationId xmlns:a16="http://schemas.microsoft.com/office/drawing/2014/main" id="{E154592D-A01C-A036-6997-EA3555BDE7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B6ACAC9-BD49-B8E9-921B-677732834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85" y="2267619"/>
            <a:ext cx="11080637" cy="3507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6237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7D295FB3-F529-B752-311D-22273AA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9F980AD-8BDB-DFCB-5C6B-33B95417C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933" y="2327014"/>
            <a:ext cx="6906683" cy="4626235"/>
          </a:xfrm>
          <a:prstGeom prst="rect">
            <a:avLst/>
          </a:prstGeom>
        </p:spPr>
      </p:pic>
      <p:sp>
        <p:nvSpPr>
          <p:cNvPr id="373" name="Google Shape;373;p48">
            <a:extLst>
              <a:ext uri="{FF2B5EF4-FFF2-40B4-BE49-F238E27FC236}">
                <a16:creationId xmlns:a16="http://schemas.microsoft.com/office/drawing/2014/main" id="{5679EF4F-0751-AA79-EE23-A7305B9839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</a:pPr>
            <a:r>
              <a:rPr lang="fr-FR" dirty="0"/>
              <a:t>Use MCP Server in VS</a:t>
            </a:r>
            <a:endParaRPr dirty="0"/>
          </a:p>
        </p:txBody>
      </p:sp>
      <p:sp>
        <p:nvSpPr>
          <p:cNvPr id="374" name="Google Shape;374;p48">
            <a:extLst>
              <a:ext uri="{FF2B5EF4-FFF2-40B4-BE49-F238E27FC236}">
                <a16:creationId xmlns:a16="http://schemas.microsoft.com/office/drawing/2014/main" id="{4D098969-012D-12E1-CF68-790E52340DC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7161982" cy="4313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1" indent="0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</a:pPr>
            <a:endParaRPr lang="en-US" sz="1800" dirty="0">
              <a:solidFill>
                <a:schemeClr val="bg1"/>
              </a:solidFill>
            </a:endParaRPr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</a:pPr>
            <a:endParaRPr dirty="0"/>
          </a:p>
        </p:txBody>
      </p:sp>
      <p:sp>
        <p:nvSpPr>
          <p:cNvPr id="375" name="Google Shape;375;p48">
            <a:extLst>
              <a:ext uri="{FF2B5EF4-FFF2-40B4-BE49-F238E27FC236}">
                <a16:creationId xmlns:a16="http://schemas.microsoft.com/office/drawing/2014/main" id="{E154592D-A01C-A036-6997-EA3555BDE7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70B4AC1B-AAC5-9BB8-3348-1E317FFED4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2631" y="5446496"/>
          <a:ext cx="4405298" cy="1417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7231632" imgH="2327343" progId="Paint.Picture">
                  <p:embed/>
                </p:oleObj>
              </mc:Choice>
              <mc:Fallback>
                <p:oleObj name="Bitmap Image" r:id="rId4" imgW="7231632" imgH="2327343" progId="Paint.Picture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70B4AC1B-AAC5-9BB8-3348-1E317FFED4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2631" y="5446496"/>
                        <a:ext cx="4405298" cy="14178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6B422FAD-52F2-B3BE-84C9-6AE8366EC7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4787" y="1532931"/>
            <a:ext cx="4787213" cy="5325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430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7D295FB3-F529-B752-311D-22273AA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8">
            <a:extLst>
              <a:ext uri="{FF2B5EF4-FFF2-40B4-BE49-F238E27FC236}">
                <a16:creationId xmlns:a16="http://schemas.microsoft.com/office/drawing/2014/main" id="{5679EF4F-0751-AA79-EE23-A7305B9839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</a:pPr>
            <a:r>
              <a:rPr lang="fr-FR" dirty="0"/>
              <a:t>Use MCP Server in VS</a:t>
            </a:r>
            <a:endParaRPr dirty="0"/>
          </a:p>
        </p:txBody>
      </p:sp>
      <p:sp>
        <p:nvSpPr>
          <p:cNvPr id="374" name="Google Shape;374;p48">
            <a:extLst>
              <a:ext uri="{FF2B5EF4-FFF2-40B4-BE49-F238E27FC236}">
                <a16:creationId xmlns:a16="http://schemas.microsoft.com/office/drawing/2014/main" id="{4D098969-012D-12E1-CF68-790E52340DC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7161982" cy="4313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1" indent="0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</a:pPr>
            <a:endParaRPr lang="en-US" sz="1800" dirty="0">
              <a:solidFill>
                <a:schemeClr val="bg1"/>
              </a:solidFill>
            </a:endParaRPr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</a:pPr>
            <a:endParaRPr dirty="0"/>
          </a:p>
        </p:txBody>
      </p:sp>
      <p:sp>
        <p:nvSpPr>
          <p:cNvPr id="375" name="Google Shape;375;p48">
            <a:extLst>
              <a:ext uri="{FF2B5EF4-FFF2-40B4-BE49-F238E27FC236}">
                <a16:creationId xmlns:a16="http://schemas.microsoft.com/office/drawing/2014/main" id="{E154592D-A01C-A036-6997-EA3555BDE7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8ACCE3-BBA6-220D-9F64-AEB17413C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29916"/>
            <a:ext cx="4881532" cy="53280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6DE36A-737C-6D43-BBD3-E8731CC390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9094" y="-34"/>
            <a:ext cx="48028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764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7D295FB3-F529-B752-311D-22273AA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8">
            <a:extLst>
              <a:ext uri="{FF2B5EF4-FFF2-40B4-BE49-F238E27FC236}">
                <a16:creationId xmlns:a16="http://schemas.microsoft.com/office/drawing/2014/main" id="{5679EF4F-0751-AA79-EE23-A7305B9839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</a:pPr>
            <a:r>
              <a:rPr lang="fr-FR" dirty="0"/>
              <a:t>Use MCP Server in VS Code</a:t>
            </a:r>
            <a:endParaRPr dirty="0"/>
          </a:p>
        </p:txBody>
      </p:sp>
      <p:sp>
        <p:nvSpPr>
          <p:cNvPr id="374" name="Google Shape;374;p48">
            <a:extLst>
              <a:ext uri="{FF2B5EF4-FFF2-40B4-BE49-F238E27FC236}">
                <a16:creationId xmlns:a16="http://schemas.microsoft.com/office/drawing/2014/main" id="{4D098969-012D-12E1-CF68-790E52340DC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10773016" cy="4313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In </a:t>
            </a:r>
            <a:r>
              <a:rPr lang="en-US" dirty="0" err="1"/>
              <a:t>Powershell</a:t>
            </a:r>
            <a:endParaRPr lang="en-US" dirty="0"/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code --% --add-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mcp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"{\"name\":\"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dstrings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\",\"type\":\"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stdio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\",\"command\":\"dotnet-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dstrings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\",\"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args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\":[\"--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mcp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\"]}"</a:t>
            </a:r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</a:pPr>
            <a:endParaRPr dirty="0"/>
          </a:p>
        </p:txBody>
      </p:sp>
      <p:sp>
        <p:nvSpPr>
          <p:cNvPr id="375" name="Google Shape;375;p48">
            <a:extLst>
              <a:ext uri="{FF2B5EF4-FFF2-40B4-BE49-F238E27FC236}">
                <a16:creationId xmlns:a16="http://schemas.microsoft.com/office/drawing/2014/main" id="{E154592D-A01C-A036-6997-EA3555BDE7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27472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7D295FB3-F529-B752-311D-22273AA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8">
            <a:extLst>
              <a:ext uri="{FF2B5EF4-FFF2-40B4-BE49-F238E27FC236}">
                <a16:creationId xmlns:a16="http://schemas.microsoft.com/office/drawing/2014/main" id="{5679EF4F-0751-AA79-EE23-A7305B9839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</a:pPr>
            <a:r>
              <a:rPr lang="fr-FR" dirty="0"/>
              <a:t>Use MCP Server in VS Code</a:t>
            </a:r>
            <a:endParaRPr dirty="0"/>
          </a:p>
        </p:txBody>
      </p:sp>
      <p:sp>
        <p:nvSpPr>
          <p:cNvPr id="374" name="Google Shape;374;p48">
            <a:extLst>
              <a:ext uri="{FF2B5EF4-FFF2-40B4-BE49-F238E27FC236}">
                <a16:creationId xmlns:a16="http://schemas.microsoft.com/office/drawing/2014/main" id="{4D098969-012D-12E1-CF68-790E52340DC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10773016" cy="4313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spcAft>
                <a:spcPts val="600"/>
              </a:spcAft>
            </a:pPr>
            <a:endParaRPr lang="en-US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</a:pPr>
            <a:endParaRPr dirty="0"/>
          </a:p>
        </p:txBody>
      </p:sp>
      <p:sp>
        <p:nvSpPr>
          <p:cNvPr id="375" name="Google Shape;375;p48">
            <a:extLst>
              <a:ext uri="{FF2B5EF4-FFF2-40B4-BE49-F238E27FC236}">
                <a16:creationId xmlns:a16="http://schemas.microsoft.com/office/drawing/2014/main" id="{E154592D-A01C-A036-6997-EA3555BDE7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2A32D5-D4FE-508F-E87E-6EA551F15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574104"/>
            <a:ext cx="7209322" cy="23869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EEF0C8-9A1E-A792-6141-3180DF0E1E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15" y="3201076"/>
            <a:ext cx="7209322" cy="12042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080B7A-AAAC-8F2B-B711-6410ED178B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3916" y="3940343"/>
            <a:ext cx="8659433" cy="14480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D1A750-D837-7E2E-4C98-EE4B9D437D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9653" y="5095595"/>
            <a:ext cx="8602275" cy="176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604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7D295FB3-F529-B752-311D-22273AA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8">
            <a:extLst>
              <a:ext uri="{FF2B5EF4-FFF2-40B4-BE49-F238E27FC236}">
                <a16:creationId xmlns:a16="http://schemas.microsoft.com/office/drawing/2014/main" id="{5679EF4F-0751-AA79-EE23-A7305B9839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1429182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</a:pPr>
            <a:r>
              <a:rPr lang="fr-FR" dirty="0"/>
              <a:t>Use MCP Server in </a:t>
            </a:r>
            <a:r>
              <a:rPr lang="fr-FR" dirty="0" err="1"/>
              <a:t>Copilot</a:t>
            </a:r>
            <a:r>
              <a:rPr lang="fr-FR" dirty="0"/>
              <a:t> CLI</a:t>
            </a:r>
            <a:endParaRPr dirty="0"/>
          </a:p>
        </p:txBody>
      </p:sp>
      <p:sp>
        <p:nvSpPr>
          <p:cNvPr id="374" name="Google Shape;374;p48">
            <a:extLst>
              <a:ext uri="{FF2B5EF4-FFF2-40B4-BE49-F238E27FC236}">
                <a16:creationId xmlns:a16="http://schemas.microsoft.com/office/drawing/2014/main" id="{4D098969-012D-12E1-CF68-790E52340DC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95085" y="2077084"/>
            <a:ext cx="9180435" cy="4431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C:\Users\&lt;user&gt;\.copilot\mcp-config.json</a:t>
            </a:r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</a:pPr>
            <a:endParaRPr lang="en-US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/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mcp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add</a:t>
            </a:r>
            <a:endParaRPr lang="en-US" dirty="0"/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</a:pPr>
            <a:endParaRPr dirty="0"/>
          </a:p>
        </p:txBody>
      </p:sp>
      <p:sp>
        <p:nvSpPr>
          <p:cNvPr id="375" name="Google Shape;375;p48">
            <a:extLst>
              <a:ext uri="{FF2B5EF4-FFF2-40B4-BE49-F238E27FC236}">
                <a16:creationId xmlns:a16="http://schemas.microsoft.com/office/drawing/2014/main" id="{E154592D-A01C-A036-6997-EA3555BDE7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AE705A-9BBA-D435-DB04-3A3190900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5666" y="1630404"/>
            <a:ext cx="6646333" cy="5227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704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7D295FB3-F529-B752-311D-22273AA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8">
            <a:extLst>
              <a:ext uri="{FF2B5EF4-FFF2-40B4-BE49-F238E27FC236}">
                <a16:creationId xmlns:a16="http://schemas.microsoft.com/office/drawing/2014/main" id="{5679EF4F-0751-AA79-EE23-A7305B9839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1429182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</a:pPr>
            <a:r>
              <a:rPr lang="fr-FR" dirty="0"/>
              <a:t>Use MCP Server in </a:t>
            </a:r>
            <a:r>
              <a:rPr lang="fr-FR" dirty="0" err="1"/>
              <a:t>Copilot</a:t>
            </a:r>
            <a:r>
              <a:rPr lang="fr-FR" dirty="0"/>
              <a:t> CLI</a:t>
            </a:r>
            <a:endParaRPr dirty="0"/>
          </a:p>
        </p:txBody>
      </p:sp>
      <p:sp>
        <p:nvSpPr>
          <p:cNvPr id="375" name="Google Shape;375;p48">
            <a:extLst>
              <a:ext uri="{FF2B5EF4-FFF2-40B4-BE49-F238E27FC236}">
                <a16:creationId xmlns:a16="http://schemas.microsoft.com/office/drawing/2014/main" id="{E154592D-A01C-A036-6997-EA3555BDE7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2009C8-F3DE-4AE9-5B60-726F1A830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66227"/>
            <a:ext cx="5186747" cy="51917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0A3F02-57BA-C68D-7CE2-A8B4E36CDC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8698" y="1664477"/>
            <a:ext cx="4617435" cy="5193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285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7D295FB3-F529-B752-311D-22273AA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8">
            <a:extLst>
              <a:ext uri="{FF2B5EF4-FFF2-40B4-BE49-F238E27FC236}">
                <a16:creationId xmlns:a16="http://schemas.microsoft.com/office/drawing/2014/main" id="{5679EF4F-0751-AA79-EE23-A7305B9839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</a:pPr>
            <a:r>
              <a:rPr lang="fr-FR" dirty="0"/>
              <a:t>Use MCP Server in </a:t>
            </a:r>
            <a:r>
              <a:rPr lang="fr-FR" dirty="0" err="1"/>
              <a:t>Cursor</a:t>
            </a:r>
            <a:endParaRPr dirty="0"/>
          </a:p>
        </p:txBody>
      </p:sp>
      <p:sp>
        <p:nvSpPr>
          <p:cNvPr id="374" name="Google Shape;374;p48">
            <a:extLst>
              <a:ext uri="{FF2B5EF4-FFF2-40B4-BE49-F238E27FC236}">
                <a16:creationId xmlns:a16="http://schemas.microsoft.com/office/drawing/2014/main" id="{4D098969-012D-12E1-CF68-790E52340DC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10773016" cy="4313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C:\Users\&lt;user&gt;\.cursor\mcp.json</a:t>
            </a:r>
          </a:p>
          <a:p>
            <a:pPr marL="0" indent="0">
              <a:spcAft>
                <a:spcPts val="600"/>
              </a:spcAft>
            </a:pPr>
            <a:endParaRPr lang="en-US" dirty="0"/>
          </a:p>
          <a:p>
            <a:pPr marL="228600" indent="0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{</a:t>
            </a:r>
          </a:p>
          <a:p>
            <a:pPr marL="228600" indent="0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   "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mcpServers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": {</a:t>
            </a:r>
          </a:p>
          <a:p>
            <a:pPr marL="228600" indent="0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     "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dstrings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": {</a:t>
            </a:r>
          </a:p>
          <a:p>
            <a:pPr marL="228600" indent="0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       "command": "dotnet-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dstrings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",</a:t>
            </a:r>
          </a:p>
          <a:p>
            <a:pPr marL="228600" indent="0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       "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args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": ["--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mcp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"]</a:t>
            </a:r>
          </a:p>
          <a:p>
            <a:pPr marL="228600" indent="0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     }</a:t>
            </a:r>
          </a:p>
          <a:p>
            <a:pPr marL="228600" indent="0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   }</a:t>
            </a:r>
          </a:p>
          <a:p>
            <a:pPr marL="228600" indent="0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 }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375" name="Google Shape;375;p48">
            <a:extLst>
              <a:ext uri="{FF2B5EF4-FFF2-40B4-BE49-F238E27FC236}">
                <a16:creationId xmlns:a16="http://schemas.microsoft.com/office/drawing/2014/main" id="{E154592D-A01C-A036-6997-EA3555BDE7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977726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7D295FB3-F529-B752-311D-22273AA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8">
            <a:extLst>
              <a:ext uri="{FF2B5EF4-FFF2-40B4-BE49-F238E27FC236}">
                <a16:creationId xmlns:a16="http://schemas.microsoft.com/office/drawing/2014/main" id="{5679EF4F-0751-AA79-EE23-A7305B9839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</a:pPr>
            <a:r>
              <a:rPr lang="fr-FR" dirty="0"/>
              <a:t>Use MCP Server in </a:t>
            </a:r>
            <a:r>
              <a:rPr lang="fr-FR" dirty="0" err="1"/>
              <a:t>Cursor</a:t>
            </a:r>
            <a:endParaRPr dirty="0"/>
          </a:p>
        </p:txBody>
      </p:sp>
      <p:sp>
        <p:nvSpPr>
          <p:cNvPr id="374" name="Google Shape;374;p48">
            <a:extLst>
              <a:ext uri="{FF2B5EF4-FFF2-40B4-BE49-F238E27FC236}">
                <a16:creationId xmlns:a16="http://schemas.microsoft.com/office/drawing/2014/main" id="{4D098969-012D-12E1-CF68-790E52340DC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10773016" cy="4313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In Cursor Settings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</a:endParaRPr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</a:pPr>
            <a:endParaRPr dirty="0"/>
          </a:p>
        </p:txBody>
      </p:sp>
      <p:sp>
        <p:nvSpPr>
          <p:cNvPr id="375" name="Google Shape;375;p48">
            <a:extLst>
              <a:ext uri="{FF2B5EF4-FFF2-40B4-BE49-F238E27FC236}">
                <a16:creationId xmlns:a16="http://schemas.microsoft.com/office/drawing/2014/main" id="{E154592D-A01C-A036-6997-EA3555BDE7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679584-EF86-7956-0D1C-8E2BA3FB1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064" y="2627697"/>
            <a:ext cx="11180864" cy="335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7566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7D295FB3-F529-B752-311D-22273AA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8">
            <a:extLst>
              <a:ext uri="{FF2B5EF4-FFF2-40B4-BE49-F238E27FC236}">
                <a16:creationId xmlns:a16="http://schemas.microsoft.com/office/drawing/2014/main" id="{5679EF4F-0751-AA79-EE23-A7305B9839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</a:pPr>
            <a:r>
              <a:rPr lang="fr-FR" dirty="0"/>
              <a:t>Use MCP Server in </a:t>
            </a:r>
            <a:r>
              <a:rPr lang="fr-FR" dirty="0" err="1"/>
              <a:t>Cursor</a:t>
            </a:r>
            <a:endParaRPr dirty="0"/>
          </a:p>
        </p:txBody>
      </p:sp>
      <p:sp>
        <p:nvSpPr>
          <p:cNvPr id="374" name="Google Shape;374;p48">
            <a:extLst>
              <a:ext uri="{FF2B5EF4-FFF2-40B4-BE49-F238E27FC236}">
                <a16:creationId xmlns:a16="http://schemas.microsoft.com/office/drawing/2014/main" id="{4D098969-012D-12E1-CF68-790E52340DC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10773016" cy="4313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Hint: find the prompts with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</a:endParaRPr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</a:pPr>
            <a:endParaRPr dirty="0"/>
          </a:p>
        </p:txBody>
      </p:sp>
      <p:sp>
        <p:nvSpPr>
          <p:cNvPr id="375" name="Google Shape;375;p48">
            <a:extLst>
              <a:ext uri="{FF2B5EF4-FFF2-40B4-BE49-F238E27FC236}">
                <a16:creationId xmlns:a16="http://schemas.microsoft.com/office/drawing/2014/main" id="{E154592D-A01C-A036-6997-EA3555BDE7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F30920-2265-76D6-E206-BD1ECBDB3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014" y="1511135"/>
            <a:ext cx="5092161" cy="5172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4762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7D295FB3-F529-B752-311D-22273AA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8">
            <a:extLst>
              <a:ext uri="{FF2B5EF4-FFF2-40B4-BE49-F238E27FC236}">
                <a16:creationId xmlns:a16="http://schemas.microsoft.com/office/drawing/2014/main" id="{5679EF4F-0751-AA79-EE23-A7305B9839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</a:pPr>
            <a:r>
              <a:rPr lang="fr-FR" dirty="0"/>
              <a:t>Use MCP Server in Claude</a:t>
            </a:r>
            <a:endParaRPr dirty="0"/>
          </a:p>
        </p:txBody>
      </p:sp>
      <p:sp>
        <p:nvSpPr>
          <p:cNvPr id="374" name="Google Shape;374;p48">
            <a:extLst>
              <a:ext uri="{FF2B5EF4-FFF2-40B4-BE49-F238E27FC236}">
                <a16:creationId xmlns:a16="http://schemas.microsoft.com/office/drawing/2014/main" id="{4D098969-012D-12E1-CF68-790E52340DC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95085" y="2077084"/>
            <a:ext cx="10773016" cy="4612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claude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mcp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add -s user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dstrings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-- dotnet-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dstrings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--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mcp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C:\Users\&lt;user&gt;\.claude.json</a:t>
            </a: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  "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mcpServers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": {</a:t>
            </a: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    "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dstrings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": {</a:t>
            </a: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      "type": "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stdio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",</a:t>
            </a: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      "command": "dotnet-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dstrings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",</a:t>
            </a: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      "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args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": ["--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mcp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"],</a:t>
            </a: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      "env": {}</a:t>
            </a: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    }</a:t>
            </a: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  }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75" name="Google Shape;375;p48">
            <a:extLst>
              <a:ext uri="{FF2B5EF4-FFF2-40B4-BE49-F238E27FC236}">
                <a16:creationId xmlns:a16="http://schemas.microsoft.com/office/drawing/2014/main" id="{E154592D-A01C-A036-6997-EA3555BDE7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515745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7D295FB3-F529-B752-311D-22273AA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8">
            <a:extLst>
              <a:ext uri="{FF2B5EF4-FFF2-40B4-BE49-F238E27FC236}">
                <a16:creationId xmlns:a16="http://schemas.microsoft.com/office/drawing/2014/main" id="{5679EF4F-0751-AA79-EE23-A7305B9839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</a:pPr>
            <a:r>
              <a:rPr lang="fr-FR" dirty="0"/>
              <a:t>Use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skills</a:t>
            </a:r>
            <a:r>
              <a:rPr lang="fr-FR" dirty="0"/>
              <a:t> Luke!</a:t>
            </a:r>
            <a:endParaRPr dirty="0"/>
          </a:p>
        </p:txBody>
      </p:sp>
      <p:sp>
        <p:nvSpPr>
          <p:cNvPr id="374" name="Google Shape;374;p48">
            <a:extLst>
              <a:ext uri="{FF2B5EF4-FFF2-40B4-BE49-F238E27FC236}">
                <a16:creationId xmlns:a16="http://schemas.microsoft.com/office/drawing/2014/main" id="{4D098969-012D-12E1-CF68-790E52340DC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95084" y="2077085"/>
            <a:ext cx="10851873" cy="4313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What if you can’t change the .NET CLI tool?</a:t>
            </a: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Microsoft ones</a:t>
            </a: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Third-party ones</a:t>
            </a: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Keep your own as CLI tool: </a:t>
            </a: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&lt;</a:t>
            </a:r>
            <a:r>
              <a:rPr lang="en-US" sz="16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PackageType</a:t>
            </a: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&gt;</a:t>
            </a:r>
            <a:r>
              <a:rPr lang="en-US" sz="16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McpServer</a:t>
            </a:r>
            <a:r>
              <a:rPr lang="en-US" sz="1800" dirty="0">
                <a:solidFill>
                  <a:schemeClr val="bg1"/>
                </a:solidFill>
              </a:rPr>
              <a:t> issue</a:t>
            </a: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</a:endParaRPr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Create a skill to orchestrate tools usage    </a:t>
            </a:r>
            <a:r>
              <a:rPr lang="en-US" dirty="0">
                <a:solidFill>
                  <a:schemeClr val="accent5"/>
                </a:solidFill>
              </a:rPr>
              <a:t>DEMO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---</a:t>
            </a:r>
          </a:p>
          <a:p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</a:rPr>
              <a:t>name</a:t>
            </a:r>
            <a:r>
              <a:rPr lang="en-US" sz="2000" dirty="0">
                <a:latin typeface="Consolas" panose="020B0609020204030204" pitchFamily="49" charset="0"/>
              </a:rPr>
              <a:t>: dotnet-memory-analysis</a:t>
            </a:r>
          </a:p>
          <a:p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</a:rPr>
              <a:t>description</a:t>
            </a:r>
            <a:r>
              <a:rPr lang="en-US" sz="2000" dirty="0">
                <a:latin typeface="Consolas" panose="020B0609020204030204" pitchFamily="49" charset="0"/>
              </a:rPr>
              <a:t>: &gt;-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  Analyze .NET application memory issues using CLI diagnostic tools…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---</a:t>
            </a:r>
          </a:p>
          <a:p>
            <a:pPr marL="0" lvl="0" indent="0">
              <a:spcAft>
                <a:spcPts val="600"/>
              </a:spcAft>
            </a:pPr>
            <a:endParaRPr lang="en-US" dirty="0"/>
          </a:p>
        </p:txBody>
      </p:sp>
      <p:sp>
        <p:nvSpPr>
          <p:cNvPr id="375" name="Google Shape;375;p48">
            <a:extLst>
              <a:ext uri="{FF2B5EF4-FFF2-40B4-BE49-F238E27FC236}">
                <a16:creationId xmlns:a16="http://schemas.microsoft.com/office/drawing/2014/main" id="{E154592D-A01C-A036-6997-EA3555BDE7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9ADDEA-5FFC-6081-7488-DC73422DD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9242" y="399239"/>
            <a:ext cx="4518837" cy="4518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16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7D295FB3-F529-B752-311D-22273AA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8">
            <a:extLst>
              <a:ext uri="{FF2B5EF4-FFF2-40B4-BE49-F238E27FC236}">
                <a16:creationId xmlns:a16="http://schemas.microsoft.com/office/drawing/2014/main" id="{5679EF4F-0751-AA79-EE23-A7305B9839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</a:pPr>
            <a:r>
              <a:rPr lang="fr-FR" dirty="0"/>
              <a:t>Install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skill</a:t>
            </a:r>
            <a:endParaRPr dirty="0"/>
          </a:p>
        </p:txBody>
      </p:sp>
      <p:sp>
        <p:nvSpPr>
          <p:cNvPr id="375" name="Google Shape;375;p48">
            <a:extLst>
              <a:ext uri="{FF2B5EF4-FFF2-40B4-BE49-F238E27FC236}">
                <a16:creationId xmlns:a16="http://schemas.microsoft.com/office/drawing/2014/main" id="{E154592D-A01C-A036-6997-EA3555BDE7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  <p:sp>
        <p:nvSpPr>
          <p:cNvPr id="4" name="Google Shape;374;p48">
            <a:extLst>
              <a:ext uri="{FF2B5EF4-FFF2-40B4-BE49-F238E27FC236}">
                <a16:creationId xmlns:a16="http://schemas.microsoft.com/office/drawing/2014/main" id="{E9CAF601-A19B-E538-A7D3-A814D5C6089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10773016" cy="4313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SKILL.md</a:t>
            </a:r>
            <a:r>
              <a:rPr lang="fr-FR" dirty="0"/>
              <a:t>  l</a:t>
            </a:r>
            <a:r>
              <a:rPr lang="en-US" dirty="0" err="1"/>
              <a:t>ocation</a:t>
            </a:r>
            <a:r>
              <a:rPr lang="en-US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B1FBB9-9B69-091F-023A-DEE81C57F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070" y="2978312"/>
            <a:ext cx="11584505" cy="2934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789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7D295FB3-F529-B752-311D-22273AA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74;p48">
            <a:extLst>
              <a:ext uri="{FF2B5EF4-FFF2-40B4-BE49-F238E27FC236}">
                <a16:creationId xmlns:a16="http://schemas.microsoft.com/office/drawing/2014/main" id="{E9CAF601-A19B-E538-A7D3-A814D5C6089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10773016" cy="4313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spcAft>
                <a:spcPts val="600"/>
              </a:spcAft>
            </a:pPr>
            <a:r>
              <a:rPr lang="en-US" sz="3600" i="1" dirty="0"/>
              <a:t>The </a:t>
            </a:r>
            <a:r>
              <a:rPr lang="en-US" sz="3600" i="1" dirty="0" err="1"/>
              <a:t>leakyApp</a:t>
            </a:r>
            <a:r>
              <a:rPr lang="en-US" sz="3600" i="1" dirty="0"/>
              <a:t> seems to consume too much memory. </a:t>
            </a:r>
            <a:br>
              <a:rPr lang="en-US" sz="3600" i="1" dirty="0"/>
            </a:br>
            <a:r>
              <a:rPr lang="en-US" sz="3600" i="1" dirty="0"/>
              <a:t>Analyze the problem and provide guidance to fix it.</a:t>
            </a:r>
          </a:p>
        </p:txBody>
      </p:sp>
      <p:sp>
        <p:nvSpPr>
          <p:cNvPr id="373" name="Google Shape;373;p48">
            <a:extLst>
              <a:ext uri="{FF2B5EF4-FFF2-40B4-BE49-F238E27FC236}">
                <a16:creationId xmlns:a16="http://schemas.microsoft.com/office/drawing/2014/main" id="{5679EF4F-0751-AA79-EE23-A7305B9839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</a:pPr>
            <a:r>
              <a:rPr lang="fr-FR" dirty="0"/>
              <a:t>It is </a:t>
            </a:r>
            <a:r>
              <a:rPr lang="fr-FR" dirty="0" err="1"/>
              <a:t>working</a:t>
            </a:r>
            <a:r>
              <a:rPr lang="fr-FR" dirty="0"/>
              <a:t>  :^)</a:t>
            </a:r>
            <a:endParaRPr dirty="0"/>
          </a:p>
        </p:txBody>
      </p:sp>
      <p:sp>
        <p:nvSpPr>
          <p:cNvPr id="375" name="Google Shape;375;p48">
            <a:extLst>
              <a:ext uri="{FF2B5EF4-FFF2-40B4-BE49-F238E27FC236}">
                <a16:creationId xmlns:a16="http://schemas.microsoft.com/office/drawing/2014/main" id="{E154592D-A01C-A036-6997-EA3555BDE7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D3DE93-7C3E-7E73-2B9F-F7F857546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52" y="6858000"/>
            <a:ext cx="11943095" cy="11215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524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59259E-6 L 0 -0.4502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5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7D295FB3-F529-B752-311D-22273AA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74;p48">
            <a:extLst>
              <a:ext uri="{FF2B5EF4-FFF2-40B4-BE49-F238E27FC236}">
                <a16:creationId xmlns:a16="http://schemas.microsoft.com/office/drawing/2014/main" id="{E9CAF601-A19B-E538-A7D3-A814D5C6089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10773016" cy="4313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spcAft>
                <a:spcPts val="600"/>
              </a:spcAft>
            </a:pPr>
            <a:r>
              <a:rPr lang="en-US" sz="3600" i="1" dirty="0"/>
              <a:t>The </a:t>
            </a:r>
            <a:r>
              <a:rPr lang="en-US" sz="3600" i="1" dirty="0" err="1"/>
              <a:t>leakyApp</a:t>
            </a:r>
            <a:r>
              <a:rPr lang="en-US" sz="3600" i="1" dirty="0"/>
              <a:t> seems to consume too much memory. </a:t>
            </a:r>
            <a:br>
              <a:rPr lang="en-US" sz="3600" i="1" dirty="0"/>
            </a:br>
            <a:r>
              <a:rPr lang="en-US" sz="3600" i="1" dirty="0"/>
              <a:t>Analyze the problem and provide guidance to fix it.</a:t>
            </a:r>
          </a:p>
        </p:txBody>
      </p:sp>
      <p:sp>
        <p:nvSpPr>
          <p:cNvPr id="373" name="Google Shape;373;p48">
            <a:extLst>
              <a:ext uri="{FF2B5EF4-FFF2-40B4-BE49-F238E27FC236}">
                <a16:creationId xmlns:a16="http://schemas.microsoft.com/office/drawing/2014/main" id="{5679EF4F-0751-AA79-EE23-A7305B9839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</a:pPr>
            <a:r>
              <a:rPr lang="fr-FR" dirty="0"/>
              <a:t>It is </a:t>
            </a:r>
            <a:r>
              <a:rPr lang="fr-FR" dirty="0" err="1"/>
              <a:t>working</a:t>
            </a:r>
            <a:r>
              <a:rPr lang="fr-FR" dirty="0"/>
              <a:t>  :^)</a:t>
            </a:r>
            <a:endParaRPr dirty="0"/>
          </a:p>
        </p:txBody>
      </p:sp>
      <p:sp>
        <p:nvSpPr>
          <p:cNvPr id="375" name="Google Shape;375;p48">
            <a:extLst>
              <a:ext uri="{FF2B5EF4-FFF2-40B4-BE49-F238E27FC236}">
                <a16:creationId xmlns:a16="http://schemas.microsoft.com/office/drawing/2014/main" id="{E154592D-A01C-A036-6997-EA3555BDE7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D3DE93-7C3E-7E73-2B9F-F7F857546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52" y="3764604"/>
            <a:ext cx="11943095" cy="11215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977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4.81481E-6 L 0 -1.0203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1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7D295FB3-F529-B752-311D-22273AA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74;p48">
            <a:extLst>
              <a:ext uri="{FF2B5EF4-FFF2-40B4-BE49-F238E27FC236}">
                <a16:creationId xmlns:a16="http://schemas.microsoft.com/office/drawing/2014/main" id="{E9CAF601-A19B-E538-A7D3-A814D5C6089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10773016" cy="4313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spcAft>
                <a:spcPts val="600"/>
              </a:spcAft>
            </a:pPr>
            <a:r>
              <a:rPr lang="en-US" sz="3600" i="1" dirty="0"/>
              <a:t>The </a:t>
            </a:r>
            <a:r>
              <a:rPr lang="en-US" sz="3600" i="1" dirty="0" err="1"/>
              <a:t>leakyApp</a:t>
            </a:r>
            <a:r>
              <a:rPr lang="en-US" sz="3600" i="1" dirty="0"/>
              <a:t> seems to consume too much memory. </a:t>
            </a:r>
            <a:br>
              <a:rPr lang="en-US" sz="3600" i="1" dirty="0"/>
            </a:br>
            <a:r>
              <a:rPr lang="en-US" sz="3600" i="1" dirty="0"/>
              <a:t>Analyze the problem and provide guidance to fix it.</a:t>
            </a:r>
          </a:p>
        </p:txBody>
      </p:sp>
      <p:sp>
        <p:nvSpPr>
          <p:cNvPr id="373" name="Google Shape;373;p48">
            <a:extLst>
              <a:ext uri="{FF2B5EF4-FFF2-40B4-BE49-F238E27FC236}">
                <a16:creationId xmlns:a16="http://schemas.microsoft.com/office/drawing/2014/main" id="{5679EF4F-0751-AA79-EE23-A7305B9839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</a:pPr>
            <a:r>
              <a:rPr lang="fr-FR" dirty="0"/>
              <a:t>It is </a:t>
            </a:r>
            <a:r>
              <a:rPr lang="fr-FR" dirty="0" err="1"/>
              <a:t>working</a:t>
            </a:r>
            <a:r>
              <a:rPr lang="fr-FR" dirty="0"/>
              <a:t>  :^)</a:t>
            </a:r>
            <a:endParaRPr dirty="0"/>
          </a:p>
        </p:txBody>
      </p:sp>
      <p:sp>
        <p:nvSpPr>
          <p:cNvPr id="375" name="Google Shape;375;p48">
            <a:extLst>
              <a:ext uri="{FF2B5EF4-FFF2-40B4-BE49-F238E27FC236}">
                <a16:creationId xmlns:a16="http://schemas.microsoft.com/office/drawing/2014/main" id="{E154592D-A01C-A036-6997-EA3555BDE7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D3DE93-7C3E-7E73-2B9F-F7F857546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52" y="-3278223"/>
            <a:ext cx="11943095" cy="11215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698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33333E-6 L 0 -0.1523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6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7D295FB3-F529-B752-311D-22273AA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8">
            <a:extLst>
              <a:ext uri="{FF2B5EF4-FFF2-40B4-BE49-F238E27FC236}">
                <a16:creationId xmlns:a16="http://schemas.microsoft.com/office/drawing/2014/main" id="{5679EF4F-0751-AA79-EE23-A7305B9839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</a:pPr>
            <a:r>
              <a:rPr lang="fr-FR" dirty="0"/>
              <a:t>How to </a:t>
            </a:r>
            <a:r>
              <a:rPr lang="fr-FR" dirty="0" err="1"/>
              <a:t>interact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GUI?</a:t>
            </a:r>
            <a:endParaRPr dirty="0"/>
          </a:p>
        </p:txBody>
      </p:sp>
      <p:sp>
        <p:nvSpPr>
          <p:cNvPr id="374" name="Google Shape;374;p48">
            <a:extLst>
              <a:ext uri="{FF2B5EF4-FFF2-40B4-BE49-F238E27FC236}">
                <a16:creationId xmlns:a16="http://schemas.microsoft.com/office/drawing/2014/main" id="{4D098969-012D-12E1-CF68-790E52340DC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10773016" cy="4313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accent5">
                    <a:lumMod val="60000"/>
                    <a:lumOff val="4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Windbg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-bridge</a:t>
            </a:r>
            <a:endParaRPr lang="en-US" dirty="0"/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Provide a SKILL.md to “drive” the agent</a:t>
            </a: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WinDBG</a:t>
            </a:r>
            <a:r>
              <a:rPr lang="en-US" sz="2400" dirty="0">
                <a:solidFill>
                  <a:schemeClr val="bg1"/>
                </a:solidFill>
              </a:rPr>
              <a:t> extension to create a named pipe</a:t>
            </a: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CLI tool to connect the named pipe</a:t>
            </a: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75" name="Google Shape;375;p48">
            <a:extLst>
              <a:ext uri="{FF2B5EF4-FFF2-40B4-BE49-F238E27FC236}">
                <a16:creationId xmlns:a16="http://schemas.microsoft.com/office/drawing/2014/main" id="{E154592D-A01C-A036-6997-EA3555BDE7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B826F0-618E-1ED7-3E89-F2B380FD79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670" y="1771048"/>
            <a:ext cx="5231330" cy="5231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844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46AC96D0-2EAA-4D74-847D-5D4051C49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8">
            <a:extLst>
              <a:ext uri="{FF2B5EF4-FFF2-40B4-BE49-F238E27FC236}">
                <a16:creationId xmlns:a16="http://schemas.microsoft.com/office/drawing/2014/main" id="{44CE8A90-54BD-DABB-4320-1CA32B44C4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</a:pPr>
            <a:r>
              <a:rPr lang="en-US" dirty="0"/>
              <a:t>Resources</a:t>
            </a:r>
            <a:endParaRPr dirty="0"/>
          </a:p>
        </p:txBody>
      </p:sp>
      <p:sp>
        <p:nvSpPr>
          <p:cNvPr id="374" name="Google Shape;374;p48">
            <a:extLst>
              <a:ext uri="{FF2B5EF4-FFF2-40B4-BE49-F238E27FC236}">
                <a16:creationId xmlns:a16="http://schemas.microsoft.com/office/drawing/2014/main" id="{E1875BD9-604A-DDAF-3D38-F5D59FEF5B9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2425" y="2077084"/>
            <a:ext cx="11275828" cy="4431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800100" lvl="1" indent="-342900"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Microsoft documentation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https://learn.microsoft.com/en-us/dotnet/core/tools/global-tools</a:t>
            </a:r>
            <a:br>
              <a:rPr lang="en-US" sz="2200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en-US" sz="22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https://learn.microsoft.com/en-us/dotnet/core/tools/global-tools-how-to-create </a:t>
            </a:r>
          </a:p>
          <a:p>
            <a:pPr marL="800100" lvl="1" indent="-342900"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Andrew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Lock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blog</a:t>
            </a:r>
            <a:r>
              <a:rPr lang="en-US" sz="3200" dirty="0">
                <a:solidFill>
                  <a:schemeClr val="bg1"/>
                </a:solidFill>
              </a:rPr>
              <a:t> series</a:t>
            </a:r>
            <a:br>
              <a:rPr lang="en-US" sz="2400" dirty="0">
                <a:solidFill>
                  <a:schemeClr val="bg1"/>
                </a:solidFill>
              </a:rPr>
            </a:br>
            <a:endParaRPr lang="en-US" sz="800" dirty="0">
              <a:solidFill>
                <a:schemeClr val="bg1"/>
              </a:solidFill>
            </a:endParaRPr>
          </a:p>
          <a:p>
            <a:pPr marL="800100" lvl="1" indent="-342900"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My Blog 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https://chrisnas.github.io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  </a:t>
            </a:r>
          </a:p>
          <a:p>
            <a:pPr marL="800100" lvl="1" indent="-342900"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This content (code + slides)</a:t>
            </a:r>
            <a:b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Roboto"/>
                <a:cs typeface="Roboto"/>
                <a:sym typeface="Roboto"/>
              </a:rPr>
            </a:b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https://github.com/chrisnas/TechoramaNetherland2026</a:t>
            </a:r>
          </a:p>
        </p:txBody>
      </p:sp>
      <p:sp>
        <p:nvSpPr>
          <p:cNvPr id="375" name="Google Shape;375;p48">
            <a:extLst>
              <a:ext uri="{FF2B5EF4-FFF2-40B4-BE49-F238E27FC236}">
                <a16:creationId xmlns:a16="http://schemas.microsoft.com/office/drawing/2014/main" id="{EF624169-78A7-4271-0845-FBDD4407A21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9D3239-9014-3B40-330B-522CADF932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3498" y="-8467"/>
            <a:ext cx="3429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614163"/>
      </p:ext>
    </p:extLst>
  </p:cSld>
  <p:clrMapOvr>
    <a:masterClrMapping/>
  </p:clrMapOvr>
</p:sld>
</file>

<file path=ppt/theme/theme1.xml><?xml version="1.0" encoding="utf-8"?>
<a:theme xmlns:a="http://schemas.openxmlformats.org/drawingml/2006/main" name="2025 template">
  <a:themeElements>
    <a:clrScheme name="2025_DD_v1">
      <a:dk1>
        <a:srgbClr val="000000"/>
      </a:dk1>
      <a:lt1>
        <a:srgbClr val="FFFFFF"/>
      </a:lt1>
      <a:dk2>
        <a:srgbClr val="8000FF"/>
      </a:dk2>
      <a:lt2>
        <a:srgbClr val="C7C7C7"/>
      </a:lt2>
      <a:accent1>
        <a:srgbClr val="00E37D"/>
      </a:accent1>
      <a:accent2>
        <a:srgbClr val="0060FF"/>
      </a:accent2>
      <a:accent3>
        <a:srgbClr val="FF5E00"/>
      </a:accent3>
      <a:accent4>
        <a:srgbClr val="00CAFF"/>
      </a:accent4>
      <a:accent5>
        <a:srgbClr val="FF9B00"/>
      </a:accent5>
      <a:accent6>
        <a:srgbClr val="FF0080"/>
      </a:accent6>
      <a:hlink>
        <a:srgbClr val="8000FF"/>
      </a:hlink>
      <a:folHlink>
        <a:srgbClr val="5C00E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7" id="{F25F3079-1AB4-224B-B687-C8B3492E77B3}" vid="{08E19B72-3914-E242-9C54-738B4A7D24D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61907</TotalTime>
  <Words>2430</Words>
  <Application>Microsoft Office PowerPoint</Application>
  <PresentationFormat>Widescreen</PresentationFormat>
  <Paragraphs>432</Paragraphs>
  <Slides>48</Slides>
  <Notes>46</Notes>
  <HiddenSlides>0</HiddenSlides>
  <MMClips>0</MMClips>
  <ScaleCrop>false</ScaleCrop>
  <HeadingPairs>
    <vt:vector size="8" baseType="variant">
      <vt:variant>
        <vt:lpstr>Fonts Used</vt:lpstr>
      </vt:variant>
      <vt:variant>
        <vt:i4>15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66" baseType="lpstr">
      <vt:lpstr>Consolas</vt:lpstr>
      <vt:lpstr>Calibri</vt:lpstr>
      <vt:lpstr>Segoe UI</vt:lpstr>
      <vt:lpstr>Open Sans</vt:lpstr>
      <vt:lpstr>Alegreya Medium</vt:lpstr>
      <vt:lpstr>TwitterChirp</vt:lpstr>
      <vt:lpstr>Wingdings 3</vt:lpstr>
      <vt:lpstr>Roboto</vt:lpstr>
      <vt:lpstr>Alegreya Black</vt:lpstr>
      <vt:lpstr>Wingdings</vt:lpstr>
      <vt:lpstr>DS Wallau</vt:lpstr>
      <vt:lpstr>Calibri (Body)</vt:lpstr>
      <vt:lpstr>Aptos</vt:lpstr>
      <vt:lpstr>InterVariable</vt:lpstr>
      <vt:lpstr>Arial</vt:lpstr>
      <vt:lpstr>2025 template</vt:lpstr>
      <vt:lpstr>Office Theme</vt:lpstr>
      <vt:lpstr>Bitmap Image</vt:lpstr>
      <vt:lpstr>PowerPoint Presentation</vt:lpstr>
      <vt:lpstr>PowerPoint Presentation</vt:lpstr>
      <vt:lpstr>.NET CLI tools in the AI fury</vt:lpstr>
      <vt:lpstr>Agenda</vt:lpstr>
      <vt:lpstr>What are .NET CLI tools?</vt:lpstr>
      <vt:lpstr>Run my CLI tool</vt:lpstr>
      <vt:lpstr>Run my CLI tool (please)</vt:lpstr>
      <vt:lpstr>Authoring a .NET CLI tool</vt:lpstr>
      <vt:lpstr>Authoring a .NET CLI tool</vt:lpstr>
      <vt:lpstr>Authoring a .NET CLI tool</vt:lpstr>
      <vt:lpstr>Testing a .NET CLI tool</vt:lpstr>
      <vt:lpstr>Look inside the CLR  (1/2)</vt:lpstr>
      <vt:lpstr>Look inside the CLR  (1/2)</vt:lpstr>
      <vt:lpstr>Look inside the CLR  (1/2)</vt:lpstr>
      <vt:lpstr>Look inside the CLR  (1/2)</vt:lpstr>
      <vt:lpstr>Look inside the CLR  (2/2)</vt:lpstr>
      <vt:lpstr>Look inside the CLR  (2/2)</vt:lpstr>
      <vt:lpstr>Look inside the CLR  (2/2)</vt:lpstr>
      <vt:lpstr>Look inside the CLR  (2/2)</vt:lpstr>
      <vt:lpstr>Look inside the CLR  (2/2)</vt:lpstr>
      <vt:lpstr>How to look inside the CLR?</vt:lpstr>
      <vt:lpstr>Listen with TraceEvent</vt:lpstr>
      <vt:lpstr>Counters/Metrics case</vt:lpstr>
      <vt:lpstr>Use ClrMD Luke!</vt:lpstr>
      <vt:lpstr>Zoom in the Managed Heap</vt:lpstr>
      <vt:lpstr>Send a direct command</vt:lpstr>
      <vt:lpstr>AI &amp; CLI tools</vt:lpstr>
      <vt:lpstr>AI: CLI tool  MCP server!</vt:lpstr>
      <vt:lpstr>CLI as an C# MCP Server</vt:lpstr>
      <vt:lpstr>Build a new C# MCP Server</vt:lpstr>
      <vt:lpstr>Use MCP Server in VS</vt:lpstr>
      <vt:lpstr>Use MCP Server in VS</vt:lpstr>
      <vt:lpstr>Use MCP Server in VS</vt:lpstr>
      <vt:lpstr>Use MCP Server in VS Code</vt:lpstr>
      <vt:lpstr>Use MCP Server in VS Code</vt:lpstr>
      <vt:lpstr>Use MCP Server in Copilot CLI</vt:lpstr>
      <vt:lpstr>Use MCP Server in Copilot CLI</vt:lpstr>
      <vt:lpstr>Use MCP Server in Cursor</vt:lpstr>
      <vt:lpstr>Use MCP Server in Cursor</vt:lpstr>
      <vt:lpstr>Use MCP Server in Cursor</vt:lpstr>
      <vt:lpstr>Use MCP Server in Claude</vt:lpstr>
      <vt:lpstr>Use your skills Luke!</vt:lpstr>
      <vt:lpstr>Install your skill</vt:lpstr>
      <vt:lpstr>It is working  :^)</vt:lpstr>
      <vt:lpstr>It is working  :^)</vt:lpstr>
      <vt:lpstr>It is working  :^)</vt:lpstr>
      <vt:lpstr>How to interact with GUI?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Christophe Nasarre</cp:lastModifiedBy>
  <cp:revision>206</cp:revision>
  <dcterms:modified xsi:type="dcterms:W3CDTF">2026-10-23T12:15:36Z</dcterms:modified>
</cp:coreProperties>
</file>